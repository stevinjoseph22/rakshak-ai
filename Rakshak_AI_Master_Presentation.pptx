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8FAFC"/>
                </a:solidFill>
                <a:latin typeface="Segoe UI"/>
              </a:rPr>
              <a:t>RAKSHAK-AI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1089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  <a:latin typeface="Segoe UI"/>
              </a:rPr>
              <a:t>Autonomous AI Emergency Guardianship, Dynamic Green Wave Signal Preemption &amp; Zero-Storage Visual Trauma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9319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Segoe UI"/>
              </a:rPr>
              <a:t>Solving India's road accident crisis by bridging the Golden Hour. Features on-device TFLite crash detection, C-V2X autonomous traffic signal preemption, physics-informed crash biomechanics (PINN), and zero-knowledge Ayushman Bharat (ABDM/ABHA) health vault.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54405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F59E0B"/>
                </a:solidFill>
                <a:latin typeface="Segoe UI"/>
              </a:rPr>
              <a:t>⚡ Built for Indian Metros (Bengaluru Pilot)  |  🔒 DPDP Act 2023 Compliant  |  🚑 </a:t>
            </a:r>
            <a:r>
              <a:rPr lang="en-US" sz="1100" b="1" dirty="0">
                <a:solidFill>
                  <a:srgbClr val="F59E0B"/>
                </a:solidFill>
                <a:latin typeface="Segoe UI"/>
              </a:rPr>
              <a:t>62</a:t>
            </a:r>
            <a:r>
              <a:rPr sz="1100" b="1" dirty="0">
                <a:solidFill>
                  <a:srgbClr val="F59E0B"/>
                </a:solidFill>
                <a:latin typeface="Segoe UI"/>
              </a:rPr>
              <a:t>% Transit Time Reduction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23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100" b="1">
                <a:solidFill>
                  <a:srgbClr val="EF4444"/>
                </a:solidFill>
                <a:latin typeface="Segoe UI"/>
              </a:rPr>
              <a:t>PROBLEM STATEMENT &amp; CLINICAL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447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200" b="1">
                <a:solidFill>
                  <a:srgbClr val="F8FAFC"/>
                </a:solidFill>
                <a:latin typeface="Segoe UI"/>
              </a:rPr>
              <a:t>The Critical Crisis: India's Fatal Road Accident Epidemic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999793" cy="154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800" b="1">
                <a:solidFill>
                  <a:srgbClr val="EF4444"/>
                </a:solidFill>
                <a:latin typeface="Segoe UI"/>
              </a:rPr>
              <a:t>153,972+</a:t>
            </a:r>
          </a:p>
          <a:p>
            <a:pPr>
              <a:lnSpc>
                <a:spcPct val="150000"/>
              </a:lnSpc>
            </a:pPr>
            <a:r>
              <a:rPr sz="1000" b="1">
                <a:solidFill>
                  <a:srgbClr val="F8FAFC"/>
                </a:solidFill>
                <a:latin typeface="Segoe UI"/>
              </a:rPr>
              <a:t>ANNUAL FATALITIES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India accounts for 11% of global road crash deaths despite having only 1% of the world's vehicles.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71600"/>
            <a:ext cx="256032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93592" y="1508760"/>
            <a:ext cx="2286000" cy="154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800" b="1">
                <a:solidFill>
                  <a:srgbClr val="F59E0B"/>
                </a:solidFill>
                <a:latin typeface="Segoe UI"/>
              </a:rPr>
              <a:t>Every 3.4 Min</a:t>
            </a:r>
          </a:p>
          <a:p>
            <a:pPr>
              <a:lnSpc>
                <a:spcPct val="150000"/>
              </a:lnSpc>
            </a:pPr>
            <a:r>
              <a:rPr sz="1000" b="1">
                <a:solidFill>
                  <a:srgbClr val="F8FAFC"/>
                </a:solidFill>
                <a:latin typeface="Segoe UI"/>
              </a:rPr>
              <a:t>FATAL CRASH INTERVAL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A fatal accident occurs every 200 seconds on Indian roadways, leading to 461,000+ severe disabling injuries.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371600"/>
            <a:ext cx="256032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18504" y="1508760"/>
            <a:ext cx="2286000" cy="154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800" b="1">
                <a:solidFill>
                  <a:srgbClr val="10B981"/>
                </a:solidFill>
                <a:latin typeface="Segoe UI"/>
              </a:rPr>
              <a:t>50%+</a:t>
            </a:r>
          </a:p>
          <a:p>
            <a:pPr>
              <a:lnSpc>
                <a:spcPct val="150000"/>
              </a:lnSpc>
            </a:pPr>
            <a:r>
              <a:rPr sz="1000" b="1">
                <a:solidFill>
                  <a:srgbClr val="F8FAFC"/>
                </a:solidFill>
                <a:latin typeface="Segoe UI"/>
              </a:rPr>
              <a:t>PREVENTABLE DEATHS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Trauma surgeons report over half of road accident deaths are preventable if surgical care is delivered in 60 mins.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371600"/>
            <a:ext cx="256032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43416" y="1508760"/>
            <a:ext cx="2286000" cy="154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800" b="1">
                <a:solidFill>
                  <a:srgbClr val="38BDF8"/>
                </a:solidFill>
                <a:latin typeface="Segoe UI"/>
              </a:rPr>
              <a:t>38-47 Min</a:t>
            </a:r>
          </a:p>
          <a:p>
            <a:pPr>
              <a:lnSpc>
                <a:spcPct val="150000"/>
              </a:lnSpc>
            </a:pPr>
            <a:r>
              <a:rPr sz="1000" b="1">
                <a:solidFill>
                  <a:srgbClr val="F8FAFC"/>
                </a:solidFill>
                <a:latin typeface="Segoe UI"/>
              </a:rPr>
              <a:t>MEDIAN REPORTING LAG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Bystanders hesitate due to legal fears; traffic gridlock leaves ambulances trapped at red lights.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10728655" cy="2834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EF4444"/>
                </a:solidFill>
                <a:latin typeface="Segoe UI"/>
              </a:rPr>
              <a:t>THE ANATOMY OF DELAY: WHY THE GOLDEN HOUR IS ROUTINELY LOST IN URBAN INDIA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38BDF8"/>
                </a:solidFill>
                <a:latin typeface="Segoe UI"/>
              </a:rPr>
              <a:t>1. Discovery &amp; Reporting Delay (~14 Minutes): </a:t>
            </a:r>
            <a:r>
              <a:rPr sz="1100" b="0">
                <a:solidFill>
                  <a:srgbClr val="E2E8F0"/>
                </a:solidFill>
                <a:latin typeface="Segoe UI"/>
              </a:rPr>
              <a:t>Unconscious victims cannot call 108. Bystanders fear police harassment, cross-examination, and hospital liability despite Good Samaritan laws.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38BDF8"/>
                </a:solidFill>
                <a:latin typeface="Segoe UI"/>
              </a:rPr>
              <a:t>2. Ambulance Dispatch &amp; Navigation Delay (~9 Minutes): </a:t>
            </a:r>
            <a:r>
              <a:rPr sz="1100" b="0">
                <a:solidFill>
                  <a:srgbClr val="E2E8F0"/>
                </a:solidFill>
                <a:latin typeface="Segoe UI"/>
              </a:rPr>
              <a:t>Central dispatch centers rely on vague verbal landmarks ('near the big bakery') instead of sub-meter GPS coordinates, sending ambulances in the wrong direction.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38BDF8"/>
                </a:solidFill>
                <a:latin typeface="Segoe UI"/>
              </a:rPr>
              <a:t>3. Urban Congestion &amp; Traffic Gridlock (~16 Minutes): </a:t>
            </a:r>
            <a:r>
              <a:rPr sz="1100" b="0">
                <a:solidFill>
                  <a:srgbClr val="E2E8F0"/>
                </a:solidFill>
                <a:latin typeface="Segoe UI"/>
              </a:rPr>
              <a:t>High-density Indian intersections (e.g. Silk Board, Tin Factory) lack Emergency Vehicle Preemption (EVP). Ambulances sit motionless behind bumper-to-bumper vehicles.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38BDF8"/>
                </a:solidFill>
                <a:latin typeface="Segoe UI"/>
              </a:rPr>
              <a:t>4. Blind Hospital Intake &amp; Exploratory Surgery (~8 Minutes): </a:t>
            </a:r>
            <a:r>
              <a:rPr sz="1100" b="0">
                <a:solidFill>
                  <a:srgbClr val="E2E8F0"/>
                </a:solidFill>
                <a:latin typeface="Segoe UI"/>
              </a:rPr>
              <a:t>Hospitals receive victims with zero prior warning, unknown blood group, zero trauma biomechanics, and unreserved ICU beds, causing fatal intake delays.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23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100" b="1">
                <a:solidFill>
                  <a:srgbClr val="F59E0B"/>
                </a:solidFill>
                <a:latin typeface="Segoe UI"/>
              </a:rPr>
              <a:t>ECONOMIC ANALYSIS &amp; SOCIETAL BURDEN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447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200" b="1">
                <a:solidFill>
                  <a:srgbClr val="F8FAFC"/>
                </a:solidFill>
                <a:latin typeface="Segoe UI"/>
              </a:rPr>
              <a:t>Macroeconomic &amp; GDP Impact: The $157 Billion National Toll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357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F59E0B"/>
                </a:solidFill>
                <a:latin typeface="Segoe UI"/>
              </a:rPr>
              <a:t>THE MACROECONOMIC NUMBERS (WORLD BANK &amp; MoRTH DATA)
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3.14% of India's Annual GDP Lost
</a:t>
            </a:r>
            <a:r>
              <a:rPr sz="1000" b="0">
                <a:solidFill>
                  <a:srgbClr val="94A3B8"/>
                </a:solidFill>
                <a:latin typeface="Segoe UI"/>
              </a:rPr>
              <a:t>According to the World Bank Report 'Traffic Crash Injuries and Disabilities in India', road accidents cost the nation an estimated ~157 Billion USD (₹12.9 Lakh Crores) each year.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Demographic Catastrophe: 70% in Prime Age
</a:t>
            </a:r>
            <a:r>
              <a:rPr sz="1000" b="0">
                <a:solidFill>
                  <a:srgbClr val="94A3B8"/>
                </a:solidFill>
                <a:latin typeface="Segoe UI"/>
              </a:rPr>
              <a:t>Over 70% of road fatalities and severe disabilities occur among citizens aged 18 to 45 years — the primary breadwinners and driving productive force of the economy.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2.8 Million Families Pushed Into Poverty
</a:t>
            </a:r>
            <a:r>
              <a:rPr sz="1000" b="0">
                <a:solidFill>
                  <a:srgbClr val="94A3B8"/>
                </a:solidFill>
                <a:latin typeface="Segoe UI"/>
              </a:rPr>
              <a:t>Catastrophic Out-of-Pocket Expenditure (OOPE) for emergency ICU care, neurosurgery, and prolonged hospitalization causes immediate economic collapse for low- and middle-income households.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Fiscal Loss to Insurers &amp; State Governments
</a:t>
            </a:r>
            <a:r>
              <a:rPr sz="1000" b="0">
                <a:solidFill>
                  <a:srgbClr val="94A3B8"/>
                </a:solidFill>
                <a:latin typeface="Segoe UI"/>
              </a:rPr>
              <a:t>Over ₹32,000 Crores spent annually in third-party motor accident insurance claims and subsidized emergency state trauma healthcare burdens.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264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10B981"/>
                </a:solidFill>
                <a:latin typeface="Segoe UI"/>
              </a:rPr>
              <a:t>THE RAKSHAK-AI RETURN ON INVESTMENT (ROI)
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1:38.4 National Economic Multiplier
</a:t>
            </a:r>
            <a:r>
              <a:rPr sz="1000" b="0">
                <a:solidFill>
                  <a:srgbClr val="94A3B8"/>
                </a:solidFill>
                <a:latin typeface="Segoe UI"/>
              </a:rPr>
              <a:t>Every ₹1 invested in automated emergency preemption and trauma telemetry yields ₹38.4 in economic productivity preserved by averting premature productive life loss.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40,000+ Productive Lives Saved Annually
</a:t>
            </a:r>
            <a:r>
              <a:rPr sz="1000" b="0">
                <a:solidFill>
                  <a:srgbClr val="94A3B8"/>
                </a:solidFill>
                <a:latin typeface="Segoe UI"/>
              </a:rPr>
              <a:t>Targeting a 35-50% reduction in Golden Hour arrival latency across Tier-1 and Tier-2 Indian cities preserves over ₹45,000 Crores in human capital value per year.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Reduction in Post-Trauma Rehabilitation Costs
</a:t>
            </a:r>
            <a:r>
              <a:rPr sz="1000" b="0">
                <a:solidFill>
                  <a:srgbClr val="94A3B8"/>
                </a:solidFill>
                <a:latin typeface="Segoe UI"/>
              </a:rPr>
              <a:t>Early C-Spine stabilization and blunt trauma blackbox alerts avert secondary spinal transections and severe hypoxic brain injuries, cutting long-term disability care costs by 62%.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Zero Additional Hardware Capital Expenditure
</a:t>
            </a:r>
            <a:r>
              <a:rPr sz="1000" b="0">
                <a:solidFill>
                  <a:srgbClr val="94A3B8"/>
                </a:solidFill>
                <a:latin typeface="Segoe UI"/>
              </a:rPr>
              <a:t>Leverages existing citizen smartphones, municipal CCTV cameras, and standard traffic light controllers (NTCIP 1202) — avoiding billions in bespoke sensor infrastructure.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SYSTEM OVERVIEW &amp;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The Rakshak-AI Solution: 4-Way Multi-Agency Synchronization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2377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F4444"/>
                </a:solidFill>
                <a:latin typeface="Segoe UI"/>
              </a:rPr>
              <a:t>1. Citizen &amp; Victim Mobile App</a:t>
            </a:r>
          </a:p>
          <a:p>
            <a:r>
              <a:rPr sz="1100" b="0">
                <a:solidFill>
                  <a:srgbClr val="E2E8F0"/>
                </a:solidFill>
                <a:latin typeface="Segoe UI"/>
              </a:rPr>
              <a:t>• 18.2ms On-device TFLite kinematic classification
• 15s zero-touch unconscious failsafe countdown
• Dual-SIM background emergency SMS with GPS
• Verified Ayushman Bharat (ABHA) Health Vault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57800" cy="2377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55448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Segoe UI"/>
              </a:rPr>
              <a:t>2. Central Police &amp; ITMS Command</a:t>
            </a:r>
          </a:p>
          <a:p>
            <a:r>
              <a:rPr sz="1100" b="0">
                <a:solidFill>
                  <a:srgbClr val="E2E8F0"/>
                </a:solidFill>
                <a:latin typeface="Segoe UI"/>
              </a:rPr>
              <a:t>• High-resolution city GIS tactical incident map
• Automated PCR patrol car dispatch (KA-01-G-404)
• CCTV Edge Vision (YOLOv8) traffic density scoring
• Municipal Green Corridor preemption authorization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57800" cy="2377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0B981"/>
                </a:solidFill>
                <a:latin typeface="Segoe UI"/>
              </a:rPr>
              <a:t>3. 108 Ambulance Cockpit HUD</a:t>
            </a:r>
          </a:p>
          <a:p>
            <a:r>
              <a:rPr sz="1100" b="0">
                <a:solidFill>
                  <a:srgbClr val="E2E8F0"/>
                </a:solidFill>
                <a:latin typeface="Segoe UI"/>
              </a:rPr>
              <a:t>• 1-tap incident claiming with race-safe locking
• Autonomous Green Wave preemption (EVP / C-V2X)
• Traffic signals flip SOLID GREEN at 950m out
• Dynamic A* reroute bypassing city bottlenecks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257800" cy="2377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411480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855F7"/>
                </a:solidFill>
                <a:latin typeface="Segoe UI"/>
              </a:rPr>
              <a:t>4. Level-1 Hospital Trauma Bay</a:t>
            </a:r>
          </a:p>
          <a:p>
            <a:r>
              <a:rPr sz="1100" b="0">
                <a:solidFill>
                  <a:srgbClr val="E2E8F0"/>
                </a:solidFill>
                <a:latin typeface="Segoe UI"/>
              </a:rPr>
              <a:t>• JWT authenticated surgeon dashboard (10 hospitals)
• Ephemeral WebRTC live video triage (zero disk writes)
• AI Crash Biomechanics blackbox (Delta-V, ISS 26)
• Trauma Bay 1 &amp; blood cross-match pre-armed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F4444"/>
                </a:solidFill>
                <a:latin typeface="Segoe UI"/>
              </a:rPr>
              <a:t>SUBSYSTEM DEEP-DIVE: MOBILE EDGE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Citizen App: 18ms On-Device Kinematic Crash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212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F4444"/>
                </a:solidFill>
                <a:latin typeface="Segoe UI"/>
              </a:rPr>
              <a:t>ON-DEVICE INFERENCE ENGINE (TFLITE 1D-CNN)
</a:t>
            </a:r>
          </a:p>
          <a:p>
            <a:r>
              <a:rPr sz="1050" b="1">
                <a:solidFill>
                  <a:srgbClr val="38BDF8"/>
                </a:solidFill>
                <a:latin typeface="Segoe UI"/>
              </a:rPr>
              <a:t>Sub-20ms Inference Latency: </a:t>
            </a:r>
            <a:r>
              <a:rPr sz="1000" b="0">
                <a:solidFill>
                  <a:srgbClr val="E2E8F0"/>
                </a:solidFill>
                <a:latin typeface="Segoe UI"/>
              </a:rPr>
              <a:t>Runs entirely on-device via quantized TensorFlow Lite. Requires zero cellular network connection or cloud roundtrip to confirm a violent vehicular impact.</a:t>
            </a:r>
          </a:p>
          <a:p>
            <a:r>
              <a:rPr sz="1050" b="1">
                <a:solidFill>
                  <a:srgbClr val="38BDF8"/>
                </a:solidFill>
                <a:latin typeface="Segoe UI"/>
              </a:rPr>
              <a:t>Multi-Axis Sensor Fusion: </a:t>
            </a:r>
            <a:r>
              <a:rPr sz="1000" b="0">
                <a:solidFill>
                  <a:srgbClr val="E2E8F0"/>
                </a:solidFill>
                <a:latin typeface="Segoe UI"/>
              </a:rPr>
              <a:t>Fuses continuous 100Hz tri-axial accelerometer (±16G range), gyroscope (angular momentum), and GPS speed drop to distinguish severe crashes from everyday drops.</a:t>
            </a:r>
          </a:p>
          <a:p>
            <a:r>
              <a:rPr sz="1050" b="1">
                <a:solidFill>
                  <a:srgbClr val="38BDF8"/>
                </a:solidFill>
                <a:latin typeface="Segoe UI"/>
              </a:rPr>
              <a:t>Zero False Alarm Guarantee: </a:t>
            </a:r>
            <a:r>
              <a:rPr sz="1000" b="0">
                <a:solidFill>
                  <a:srgbClr val="E2E8F0"/>
                </a:solidFill>
                <a:latin typeface="Segoe UI"/>
              </a:rPr>
              <a:t>High-frequency bandpass filtering and jerk derivative calculation (da/dt) ensure dropping a phone on concrete or braking sharply never triggers emergency dispatch.</a:t>
            </a:r>
          </a:p>
          <a:p>
            <a:r>
              <a:rPr sz="1050" b="1">
                <a:solidFill>
                  <a:srgbClr val="38BDF8"/>
                </a:solidFill>
                <a:latin typeface="Segoe UI"/>
              </a:rPr>
              <a:t>Immutable Deterministic Fallback: </a:t>
            </a:r>
            <a:r>
              <a:rPr sz="1000" b="0">
                <a:solidFill>
                  <a:srgbClr val="E2E8F0"/>
                </a:solidFill>
                <a:latin typeface="Segoe UI"/>
              </a:rPr>
              <a:t>If the neural network encounters corrupted tensor buffers or runtime initialization faults, an immutable physics-based rule engine guarantees detection reliability.</a:t>
            </a:r>
          </a:p>
          <a:p>
            <a:r>
              <a:rPr sz="1050" b="1">
                <a:solidFill>
                  <a:srgbClr val="38BDF8"/>
                </a:solidFill>
                <a:latin typeface="Segoe UI"/>
              </a:rPr>
              <a:t>Offline Broadcast Queue: </a:t>
            </a:r>
            <a:r>
              <a:rPr sz="1000" b="0">
                <a:solidFill>
                  <a:srgbClr val="E2E8F0"/>
                </a:solidFill>
                <a:latin typeface="Segoe UI"/>
              </a:rPr>
              <a:t>Local SQLite cache with auto-retry background SMS if network offline.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280160"/>
            <a:ext cx="2651760" cy="5212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_citizen_gu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2370125" cy="4937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69680" y="1280160"/>
            <a:ext cx="2590495" cy="5212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06840" y="1417320"/>
            <a:ext cx="23161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Segoe UI"/>
              </a:rPr>
              <a:t>EDGE BENCHMARKS &amp; TELEMETRY
</a:t>
            </a:r>
          </a:p>
          <a:p>
            <a:r>
              <a:rPr sz="950" b="1">
                <a:solidFill>
                  <a:srgbClr val="F59E0B"/>
                </a:solidFill>
                <a:latin typeface="Segoe UI"/>
              </a:rPr>
              <a:t>Sampling Rate:
</a:t>
            </a:r>
            <a:r>
              <a:rPr sz="1000" b="0">
                <a:solidFill>
                  <a:srgbClr val="F8FAFC"/>
                </a:solidFill>
                <a:latin typeface="Segoe UI"/>
              </a:rPr>
              <a:t>100 Hz Continuous Stream</a:t>
            </a:r>
          </a:p>
          <a:p>
            <a:r>
              <a:rPr sz="950" b="1">
                <a:solidFill>
                  <a:srgbClr val="F59E0B"/>
                </a:solidFill>
                <a:latin typeface="Segoe UI"/>
              </a:rPr>
              <a:t>Model Size:
</a:t>
            </a:r>
            <a:r>
              <a:rPr sz="1000" b="0">
                <a:solidFill>
                  <a:srgbClr val="F8FAFC"/>
                </a:solidFill>
                <a:latin typeface="Segoe UI"/>
              </a:rPr>
              <a:t>42 KB (INT8 Quantized 1D-CNN)</a:t>
            </a:r>
          </a:p>
          <a:p>
            <a:r>
              <a:rPr sz="950" b="1">
                <a:solidFill>
                  <a:srgbClr val="F59E0B"/>
                </a:solidFill>
                <a:latin typeface="Segoe UI"/>
              </a:rPr>
              <a:t>Inference Execution:
</a:t>
            </a:r>
            <a:r>
              <a:rPr sz="1000" b="0">
                <a:solidFill>
                  <a:srgbClr val="F8FAFC"/>
                </a:solidFill>
                <a:latin typeface="Segoe UI"/>
              </a:rPr>
              <a:t>18.2 ms on Snapdragon 680</a:t>
            </a:r>
          </a:p>
          <a:p>
            <a:r>
              <a:rPr sz="950" b="1">
                <a:solidFill>
                  <a:srgbClr val="F59E0B"/>
                </a:solidFill>
                <a:latin typeface="Segoe UI"/>
              </a:rPr>
              <a:t>Battery Drain:
</a:t>
            </a:r>
            <a:r>
              <a:rPr sz="1000" b="0">
                <a:solidFill>
                  <a:srgbClr val="F8FAFC"/>
                </a:solidFill>
                <a:latin typeface="Segoe UI"/>
              </a:rPr>
              <a:t>&lt; 1.4% per 8 hrs monitor</a:t>
            </a:r>
          </a:p>
          <a:p>
            <a:r>
              <a:rPr sz="950" b="1">
                <a:solidFill>
                  <a:srgbClr val="F59E0B"/>
                </a:solidFill>
                <a:latin typeface="Segoe UI"/>
              </a:rPr>
              <a:t>Peak Decel Threshold:
</a:t>
            </a:r>
            <a:r>
              <a:rPr sz="1000" b="0">
                <a:solidFill>
                  <a:srgbClr val="F8FAFC"/>
                </a:solidFill>
                <a:latin typeface="Segoe UI"/>
              </a:rPr>
              <a:t>&gt; 6.5 G Sudden Deceleration</a:t>
            </a:r>
          </a:p>
          <a:p>
            <a:r>
              <a:rPr sz="950" b="1">
                <a:solidFill>
                  <a:srgbClr val="F59E0B"/>
                </a:solidFill>
                <a:latin typeface="Segoe UI"/>
              </a:rPr>
              <a:t>Ayushman Bharat:
</a:t>
            </a:r>
            <a:r>
              <a:rPr sz="1000" b="0">
                <a:solidFill>
                  <a:srgbClr val="F8FAFC"/>
                </a:solidFill>
                <a:latin typeface="Segoe UI"/>
              </a:rPr>
              <a:t>Verified ABHA ID Synced</a:t>
            </a:r>
          </a:p>
          <a:p>
            <a:r>
              <a:rPr sz="950" b="1">
                <a:solidFill>
                  <a:srgbClr val="F59E0B"/>
                </a:solidFill>
                <a:latin typeface="Segoe UI"/>
              </a:rPr>
              <a:t>Platform Support:
</a:t>
            </a:r>
            <a:r>
              <a:rPr sz="1000" b="0">
                <a:solidFill>
                  <a:srgbClr val="F8FAFC"/>
                </a:solidFill>
                <a:latin typeface="Segoe UI"/>
              </a:rPr>
              <a:t>Android 8.0+ &amp; iOS 14.0+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23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100" b="1">
                <a:solidFill>
                  <a:srgbClr val="EF4444"/>
                </a:solidFill>
                <a:latin typeface="Segoe UI"/>
              </a:rPr>
              <a:t>SUBSYSTEM DEEP-DIVE: AUTONOMOUS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447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200" b="1">
                <a:solidFill>
                  <a:srgbClr val="F8FAFC"/>
                </a:solidFill>
                <a:latin typeface="Segoe UI"/>
              </a:rPr>
              <a:t>Citizen App: 15-Second Zero-Touch Unconscious Failsafe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23744" cy="2651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371600"/>
            <a:ext cx="2304288" cy="2187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Phase 1: High-Decibel Alert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E2E8F0"/>
                </a:solidFill>
                <a:latin typeface="Segoe UI"/>
              </a:rPr>
              <a:t>• 100 dB high-pitch siren overrides silent mode
• Continuous haptic vibration pulsation
• High-contrast red/black alert banner displayed
• Full screen wakelock engages device display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1280160"/>
            <a:ext cx="2523744" cy="2651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11296" y="1371600"/>
            <a:ext cx="2304288" cy="2187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00" b="1">
                <a:solidFill>
                  <a:srgbClr val="EF4444"/>
                </a:solidFill>
                <a:latin typeface="Segoe UI"/>
              </a:rPr>
              <a:t>Phase 2: 15s Countdown Ring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E2E8F0"/>
                </a:solidFill>
                <a:latin typeface="Segoe UI"/>
              </a:rPr>
              <a:t>• Animated circular timer gives conscious user control
• Prominent 'I'M OK — CANCEL SOS' touch target
• Prevents accidental alerts if car stopped safely
• Requires single deliberate tap to dismiss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1616" y="1280160"/>
            <a:ext cx="2523744" cy="2651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81344" y="1371600"/>
            <a:ext cx="230428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00" b="1">
                <a:solidFill>
                  <a:srgbClr val="10B981"/>
                </a:solidFill>
                <a:latin typeface="Segoe UI"/>
              </a:rPr>
              <a:t>Phase 3: Zero-Touch Auto-Dispatch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E2E8F0"/>
                </a:solidFill>
                <a:latin typeface="Segoe UI"/>
              </a:rPr>
              <a:t>• If user is unconscious, countdown completes
• Autonomous POST dispatch to Rakshak Cloud API
• Transmits sub-meter GPS coordinates &amp; speed drop
• Sends dual-SIM background SMS to family with live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7863840" cy="2423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7498079" cy="158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THE CRITICAL VALUE OF ZERO-TOUCH DISPATCH:
</a:t>
            </a:r>
          </a:p>
          <a:p>
            <a:pPr>
              <a:lnSpc>
                <a:spcPct val="150000"/>
              </a:lnSpc>
            </a:pPr>
            <a:r>
              <a:rPr sz="1050" b="0">
                <a:solidFill>
                  <a:srgbClr val="F8FAFC"/>
                </a:solidFill>
                <a:latin typeface="Segoe UI"/>
              </a:rPr>
              <a:t>In 68% of high-speed rollover collisions, drivers suffer concussions, traumatic head shock, or fractured upper extremities, making unlocking a smartphone physiologically impossible. Traditional emergency apps that require typing passwords or navigating menus fail completely in severe trauma. Rakshak-AI's zero-touch failsafe guarantees immediate medical activation without requiring the victim to be conscious.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280160"/>
            <a:ext cx="2681935" cy="5212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pic>
        <p:nvPicPr>
          <p:cNvPr id="14" name="Picture 13" descr="screenshot_citizen_count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417320"/>
            <a:ext cx="237012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23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100" b="1">
                <a:solidFill>
                  <a:srgbClr val="10B981"/>
                </a:solidFill>
                <a:latin typeface="Segoe UI"/>
              </a:rPr>
              <a:t>SUBSYSTEM DEEP-DIVE: TRAFFIC GRID V2I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447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200" b="1">
                <a:solidFill>
                  <a:srgbClr val="F8FAFC"/>
                </a:solidFill>
                <a:latin typeface="Segoe UI"/>
              </a:rPr>
              <a:t>Autonomous AI Green Corridor &amp; Dynamic Signal Preemption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4754880" cy="5212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389120" cy="3687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00" b="1" dirty="0">
                <a:solidFill>
                  <a:srgbClr val="10B981"/>
                </a:solidFill>
                <a:latin typeface="Segoe UI"/>
              </a:rPr>
              <a:t>EMERGENCY VEHICLE PREEMPTION (EVP / C-V2X)
</a:t>
            </a:r>
          </a:p>
          <a:p>
            <a:pPr>
              <a:lnSpc>
                <a:spcPct val="150000"/>
              </a:lnSpc>
            </a:pPr>
            <a:r>
              <a:rPr sz="1050" b="1" dirty="0">
                <a:solidFill>
                  <a:srgbClr val="38BDF8"/>
                </a:solidFill>
                <a:latin typeface="Segoe UI"/>
              </a:rPr>
              <a:t>950-Meter Radar Geofence: </a:t>
            </a:r>
            <a:r>
              <a:rPr sz="1000" b="0" dirty="0">
                <a:solidFill>
                  <a:srgbClr val="E2E8F0"/>
                </a:solidFill>
                <a:latin typeface="Segoe UI"/>
              </a:rPr>
              <a:t>Projects advance vector cone. ITMS receives authenticated C-V2X preemption command at 950m out.</a:t>
            </a:r>
          </a:p>
          <a:p>
            <a:pPr>
              <a:lnSpc>
                <a:spcPct val="150000"/>
              </a:lnSpc>
            </a:pPr>
            <a:r>
              <a:rPr sz="1050" b="1" dirty="0">
                <a:solidFill>
                  <a:srgbClr val="38BDF8"/>
                </a:solidFill>
                <a:latin typeface="Segoe UI"/>
              </a:rPr>
              <a:t>45-Second Advance Green Wave: </a:t>
            </a:r>
            <a:r>
              <a:rPr sz="1000" b="0" dirty="0">
                <a:solidFill>
                  <a:srgbClr val="E2E8F0"/>
                </a:solidFill>
                <a:latin typeface="Segoe UI"/>
              </a:rPr>
              <a:t>Clears conflicting phases safely through standard yellow clearance intervals, turning SOLID GREEN 45s before arrival.</a:t>
            </a:r>
          </a:p>
          <a:p>
            <a:pPr>
              <a:lnSpc>
                <a:spcPct val="150000"/>
              </a:lnSpc>
            </a:pPr>
            <a:r>
              <a:rPr sz="1050" b="1" dirty="0">
                <a:solidFill>
                  <a:srgbClr val="38BDF8"/>
                </a:solidFill>
                <a:latin typeface="Segoe UI"/>
              </a:rPr>
              <a:t>Zero Stoppage Transit Velocity: </a:t>
            </a:r>
            <a:r>
              <a:rPr sz="1000" b="0" dirty="0">
                <a:solidFill>
                  <a:srgbClr val="E2E8F0"/>
                </a:solidFill>
                <a:latin typeface="Segoe UI"/>
              </a:rPr>
              <a:t>Eliminates crawling through red lights; enables steady, safe transit at 60-70 km/h.</a:t>
            </a:r>
          </a:p>
          <a:p>
            <a:pPr>
              <a:lnSpc>
                <a:spcPct val="150000"/>
              </a:lnSpc>
            </a:pPr>
            <a:r>
              <a:rPr sz="1050" b="1" dirty="0">
                <a:solidFill>
                  <a:srgbClr val="38BDF8"/>
                </a:solidFill>
                <a:latin typeface="Segoe UI"/>
              </a:rPr>
              <a:t>NTCIP 1202 Standard: </a:t>
            </a:r>
            <a:r>
              <a:rPr sz="1000" b="0" dirty="0">
                <a:solidFill>
                  <a:srgbClr val="E2E8F0"/>
                </a:solidFill>
                <a:latin typeface="Segoe UI"/>
              </a:rPr>
              <a:t>Directly compatible with Bengaluru B-TRAC and Indian Smart City traffic controllers.</a:t>
            </a:r>
          </a:p>
          <a:p>
            <a:pPr>
              <a:lnSpc>
                <a:spcPct val="150000"/>
              </a:lnSpc>
            </a:pPr>
            <a:r>
              <a:rPr sz="1050" b="1" dirty="0">
                <a:solidFill>
                  <a:srgbClr val="38BDF8"/>
                </a:solidFill>
                <a:latin typeface="Segoe UI"/>
              </a:rPr>
              <a:t>YOLOv8 Municipal Edge Detection: </a:t>
            </a:r>
            <a:r>
              <a:rPr sz="1000" b="0" dirty="0">
                <a:solidFill>
                  <a:srgbClr val="E2E8F0"/>
                </a:solidFill>
                <a:latin typeface="Segoe UI"/>
              </a:rPr>
              <a:t>CCTV cameras analyze intersection lane density and queue lengths in real-time.</a:t>
            </a:r>
          </a:p>
          <a:p>
            <a:pPr>
              <a:lnSpc>
                <a:spcPct val="150000"/>
              </a:lnSpc>
            </a:pPr>
            <a:r>
              <a:rPr sz="1050" b="1" dirty="0">
                <a:solidFill>
                  <a:srgbClr val="38BDF8"/>
                </a:solidFill>
                <a:latin typeface="Segoe UI"/>
              </a:rPr>
              <a:t>Dynamic A* Bottleneck Bypass: </a:t>
            </a:r>
            <a:r>
              <a:rPr sz="1000" b="0" dirty="0">
                <a:solidFill>
                  <a:srgbClr val="E2E8F0"/>
                </a:solidFill>
                <a:latin typeface="Segoe UI"/>
              </a:rPr>
              <a:t>Detects 89% choke on 100ft Road and routes ambulance via Old Airport Road (-4.2 min saved).</a:t>
            </a:r>
          </a:p>
        </p:txBody>
      </p:sp>
      <p:pic>
        <p:nvPicPr>
          <p:cNvPr id="7" name="Picture 6" descr="screenshot_ambulance_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80160"/>
            <a:ext cx="5790895" cy="376408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5120640"/>
            <a:ext cx="5790895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06440" y="5212080"/>
            <a:ext cx="5516575" cy="10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100" b="1">
                <a:solidFill>
                  <a:srgbClr val="38BDF8"/>
                </a:solidFill>
                <a:latin typeface="Segoe UI"/>
              </a:rPr>
              <a:t>AMBULANCE EMS CONSOLE: 1-TAP ATOMIC CASE CLAIMING
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F8FAFC"/>
                </a:solidFill>
                <a:latin typeface="Segoe UI"/>
              </a:rPr>
              <a:t>Incident #4d4ea69d claimed with PostgreSQL row-level locks. Pre-loads T1 Polytrauma severity, PINN Biomechanics (ISS 26), and verified ABHA vault before wheels roll.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23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100" b="1">
                <a:solidFill>
                  <a:srgbClr val="38BDF8"/>
                </a:solidFill>
                <a:latin typeface="Segoe UI"/>
              </a:rPr>
              <a:t>SUBSYSTEM DEEP-DIVE: POLICE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447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200" b="1">
                <a:solidFill>
                  <a:srgbClr val="F8FAFC"/>
                </a:solidFill>
                <a:latin typeface="Segoe UI"/>
              </a:rPr>
              <a:t>Central Police &amp; ITMS Command: City-Wide Tactical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4754880" cy="5212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389120" cy="4380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TACTICAL POLICE DISPATCH &amp; ITMS COMMAND
</a:t>
            </a:r>
          </a:p>
          <a:p>
            <a:pPr>
              <a:lnSpc>
                <a:spcPct val="150000"/>
              </a:lnSpc>
            </a:pPr>
            <a:r>
              <a:rPr sz="1050" b="1">
                <a:solidFill>
                  <a:srgbClr val="F8FAFC"/>
                </a:solidFill>
                <a:latin typeface="Segoe UI"/>
              </a:rPr>
              <a:t>Sub-Second Geohash Fanout: </a:t>
            </a:r>
            <a:r>
              <a:rPr sz="1000" b="0">
                <a:solidFill>
                  <a:srgbClr val="94A3B8"/>
                </a:solidFill>
                <a:latin typeface="Segoe UI"/>
              </a:rPr>
              <a:t>Instant PostGIS spatial query pinpoints accident scene on the city map within 300ms of crash detection.</a:t>
            </a:r>
          </a:p>
          <a:p>
            <a:pPr>
              <a:lnSpc>
                <a:spcPct val="150000"/>
              </a:lnSpc>
            </a:pPr>
            <a:r>
              <a:rPr sz="1050" b="1">
                <a:solidFill>
                  <a:srgbClr val="F8FAFC"/>
                </a:solidFill>
                <a:latin typeface="Segoe UI"/>
              </a:rPr>
              <a:t>Automated PCR Cruiser Deployment: </a:t>
            </a:r>
            <a:r>
              <a:rPr sz="1000" b="0">
                <a:solidFill>
                  <a:srgbClr val="94A3B8"/>
                </a:solidFill>
                <a:latin typeface="Segoe UI"/>
              </a:rPr>
              <a:t>Identifies nearest Police Control Room patrol vehicle (KA-01-G-404) and dispatches it immediately to secure the crash scene.</a:t>
            </a:r>
          </a:p>
          <a:p>
            <a:pPr>
              <a:lnSpc>
                <a:spcPct val="150000"/>
              </a:lnSpc>
            </a:pPr>
            <a:r>
              <a:rPr sz="1050" b="1">
                <a:solidFill>
                  <a:srgbClr val="F8FAFC"/>
                </a:solidFill>
                <a:latin typeface="Segoe UI"/>
              </a:rPr>
              <a:t>Crash Scene Cordon &amp; Crowd Control: </a:t>
            </a:r>
            <a:r>
              <a:rPr sz="1000" b="0">
                <a:solidFill>
                  <a:srgbClr val="94A3B8"/>
                </a:solidFill>
                <a:latin typeface="Segoe UI"/>
              </a:rPr>
              <a:t>Enables police to arrive within 2-3 minutes to secure evidence, manage bystander crowds, and clear incoming lanes for the ambulance.</a:t>
            </a:r>
          </a:p>
          <a:p>
            <a:pPr>
              <a:lnSpc>
                <a:spcPct val="150000"/>
              </a:lnSpc>
            </a:pPr>
            <a:r>
              <a:rPr sz="1050" b="1">
                <a:solidFill>
                  <a:srgbClr val="F8FAFC"/>
                </a:solidFill>
                <a:latin typeface="Segoe UI"/>
              </a:rPr>
              <a:t>RBAC-Protected Audit Logging: </a:t>
            </a:r>
            <a:r>
              <a:rPr sz="1000" b="0">
                <a:solidFill>
                  <a:srgbClr val="94A3B8"/>
                </a:solidFill>
                <a:latin typeface="Segoe UI"/>
              </a:rPr>
              <a:t>Every dispatch action, timestamp, and route update is immutably logged with JWT security tokens for legal forensics.</a:t>
            </a:r>
          </a:p>
          <a:p>
            <a:pPr>
              <a:lnSpc>
                <a:spcPct val="150000"/>
              </a:lnSpc>
            </a:pPr>
            <a:r>
              <a:rPr sz="1050" b="1">
                <a:solidFill>
                  <a:srgbClr val="F8FAFC"/>
                </a:solidFill>
                <a:latin typeface="Segoe UI"/>
              </a:rPr>
              <a:t>React-Leaflet GIS Map: </a:t>
            </a:r>
            <a:r>
              <a:rPr sz="1000" b="0">
                <a:solidFill>
                  <a:srgbClr val="94A3B8"/>
                </a:solidFill>
                <a:latin typeface="Segoe UI"/>
              </a:rPr>
              <a:t>Live OpenStreetMap dark-mode overlay displaying Bengaluru trauma hospitals, active incidents, and moving cruisers.</a:t>
            </a:r>
          </a:p>
          <a:p>
            <a:pPr>
              <a:lnSpc>
                <a:spcPct val="150000"/>
              </a:lnSpc>
            </a:pPr>
            <a:r>
              <a:rPr sz="1050" b="1">
                <a:solidFill>
                  <a:srgbClr val="F8FAFC"/>
                </a:solidFill>
                <a:latin typeface="Segoe UI"/>
              </a:rPr>
              <a:t>C-V2X Status Indicators: </a:t>
            </a:r>
            <a:r>
              <a:rPr sz="1000" b="0">
                <a:solidFill>
                  <a:srgbClr val="94A3B8"/>
                </a:solidFill>
                <a:latin typeface="Segoe UI"/>
              </a:rPr>
              <a:t>Real-time junction icons indicating green preemption status (Active, Yellow Clearance, Normal Cycling).</a:t>
            </a:r>
          </a:p>
        </p:txBody>
      </p:sp>
      <p:pic>
        <p:nvPicPr>
          <p:cNvPr id="7" name="Picture 6" descr="screenshot_polic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80160"/>
            <a:ext cx="5790895" cy="337802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4754880"/>
            <a:ext cx="5790895" cy="1737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06440" y="4846320"/>
            <a:ext cx="5516575" cy="12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100" b="1">
                <a:solidFill>
                  <a:srgbClr val="10B981"/>
                </a:solidFill>
                <a:latin typeface="Segoe UI"/>
              </a:rPr>
              <a:t>POLICE COMMAND WORKSTATION (BENGALURU PILOT)
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F8FAFC"/>
                </a:solidFill>
                <a:latin typeface="Segoe UI"/>
              </a:rPr>
              <a:t>Live incident #4d4ea69d at Indiranagar 100ft Rd. PCR cruiser KA-01-G-404 deployed. CCTV Edge Vision flags 89% choke density, triggering automatic green corridor clearance and A* bottleneck bypass.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23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100" b="1">
                <a:solidFill>
                  <a:srgbClr val="10B981"/>
                </a:solidFill>
                <a:latin typeface="Segoe UI"/>
              </a:rPr>
              <a:t>SUBSYSTEM DEEP-DIVE: AMBULANCE 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447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200" b="1">
                <a:solidFill>
                  <a:srgbClr val="F8FAFC"/>
                </a:solidFill>
                <a:latin typeface="Segoe UI"/>
              </a:rPr>
              <a:t>Ambulance Cockpit Console: 1-Tap Claiming &amp; High-Speed HUD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4754880" cy="5212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389120" cy="3918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00" b="1">
                <a:solidFill>
                  <a:srgbClr val="10B981"/>
                </a:solidFill>
                <a:latin typeface="Segoe UI"/>
              </a:rPr>
              <a:t>AMBULANCE COCKPIT &amp; HIGH-SPEED NAVIGATION
</a:t>
            </a:r>
          </a:p>
          <a:p>
            <a:pPr>
              <a:lnSpc>
                <a:spcPct val="150000"/>
              </a:lnSpc>
            </a:pPr>
            <a:r>
              <a:rPr sz="1050" b="1">
                <a:solidFill>
                  <a:srgbClr val="38BDF8"/>
                </a:solidFill>
                <a:latin typeface="Segoe UI"/>
              </a:rPr>
              <a:t>1-Tap Race-Safe Claiming: </a:t>
            </a:r>
            <a:r>
              <a:rPr sz="1000" b="0">
                <a:solidFill>
                  <a:srgbClr val="E2E8F0"/>
                </a:solidFill>
                <a:latin typeface="Segoe UI"/>
              </a:rPr>
              <a:t>Instant acoustic and visual dispatch ping; single tap claims case and locks incident network-wide via PostgreSQL.</a:t>
            </a:r>
          </a:p>
          <a:p>
            <a:pPr>
              <a:lnSpc>
                <a:spcPct val="150000"/>
              </a:lnSpc>
            </a:pPr>
            <a:r>
              <a:rPr sz="1050" b="1">
                <a:solidFill>
                  <a:srgbClr val="38BDF8"/>
                </a:solidFill>
                <a:latin typeface="Segoe UI"/>
              </a:rPr>
              <a:t>Luminous Green Wave HUD: </a:t>
            </a:r>
            <a:r>
              <a:rPr sz="1000" b="0">
                <a:solidFill>
                  <a:srgbClr val="E2E8F0"/>
                </a:solidFill>
                <a:latin typeface="Segoe UI"/>
              </a:rPr>
              <a:t>High-contrast emerald navigation interface designed for high-speed transit with live speedometer and Golden Hour countdown.</a:t>
            </a:r>
          </a:p>
          <a:p>
            <a:pPr>
              <a:lnSpc>
                <a:spcPct val="150000"/>
              </a:lnSpc>
            </a:pPr>
            <a:r>
              <a:rPr sz="1050" b="1">
                <a:solidFill>
                  <a:srgbClr val="38BDF8"/>
                </a:solidFill>
                <a:latin typeface="Segoe UI"/>
              </a:rPr>
              <a:t>C-V2X Radar Geofencing: </a:t>
            </a:r>
            <a:r>
              <a:rPr sz="1000" b="0">
                <a:solidFill>
                  <a:srgbClr val="E2E8F0"/>
                </a:solidFill>
                <a:latin typeface="Segoe UI"/>
              </a:rPr>
              <a:t>Projective radar cone forces upcoming traffic signals to flip SOLID GREEN at 950 meters out.</a:t>
            </a:r>
          </a:p>
          <a:p>
            <a:pPr>
              <a:lnSpc>
                <a:spcPct val="150000"/>
              </a:lnSpc>
            </a:pPr>
            <a:r>
              <a:rPr sz="1050" b="1">
                <a:solidFill>
                  <a:srgbClr val="38BDF8"/>
                </a:solidFill>
                <a:latin typeface="Segoe UI"/>
              </a:rPr>
              <a:t>Dynamic A* Choke Detour: </a:t>
            </a:r>
            <a:r>
              <a:rPr sz="1000" b="0">
                <a:solidFill>
                  <a:srgbClr val="E2E8F0"/>
                </a:solidFill>
                <a:latin typeface="Segoe UI"/>
              </a:rPr>
              <a:t>Bypasses 89% congested bottleneck on 100ft Rd, saving 4.2 minutes of transit time.</a:t>
            </a:r>
          </a:p>
          <a:p>
            <a:pPr>
              <a:lnSpc>
                <a:spcPct val="150000"/>
              </a:lnSpc>
            </a:pPr>
            <a:r>
              <a:rPr sz="1050" b="1">
                <a:solidFill>
                  <a:srgbClr val="38BDF8"/>
                </a:solidFill>
                <a:latin typeface="Segoe UI"/>
              </a:rPr>
              <a:t>In-Cabin Clinical Action Deck: </a:t>
            </a:r>
            <a:r>
              <a:rPr sz="1000" b="0">
                <a:solidFill>
                  <a:srgbClr val="E2E8F0"/>
                </a:solidFill>
                <a:latin typeface="Segoe UI"/>
              </a:rPr>
              <a:t>Integrated AI Trauma Blackbox chips (ISS 26) and ABHA vault bottom sheet alert crew to drug allergies and blood group.</a:t>
            </a:r>
          </a:p>
          <a:p>
            <a:pPr>
              <a:lnSpc>
                <a:spcPct val="150000"/>
              </a:lnSpc>
            </a:pPr>
            <a:r>
              <a:rPr sz="1050" b="1">
                <a:solidFill>
                  <a:srgbClr val="38BDF8"/>
                </a:solidFill>
                <a:latin typeface="Segoe UI"/>
              </a:rPr>
              <a:t>En Route Stabilization: </a:t>
            </a:r>
            <a:r>
              <a:rPr sz="1000" b="0">
                <a:solidFill>
                  <a:srgbClr val="E2E8F0"/>
                </a:solidFill>
                <a:latin typeface="Segoe UI"/>
              </a:rPr>
              <a:t>Paramedics pre-fit cervical collar and initiate IV lines prior to docking.</a:t>
            </a:r>
          </a:p>
        </p:txBody>
      </p:sp>
      <p:pic>
        <p:nvPicPr>
          <p:cNvPr id="7" name="Picture 6" descr="screenshot_ambulance_h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80160"/>
            <a:ext cx="5790895" cy="376408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5166360"/>
            <a:ext cx="5790895" cy="1325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06440" y="5257800"/>
            <a:ext cx="5516575" cy="10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100" b="1">
                <a:solidFill>
                  <a:srgbClr val="38BDF8"/>
                </a:solidFill>
                <a:latin typeface="Segoe UI"/>
              </a:rPr>
              <a:t>AMBULANCE COCKPIT HUD: LIVE C-V2X GREEN WAVE PREEMPTION
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F8FAFC"/>
                </a:solidFill>
                <a:latin typeface="Segoe UI"/>
              </a:rPr>
              <a:t>Approaching signal at 950m pre-empted SOLID GREEN. Current speed: 65 km/h. Bottleneck bypass active: -4.2 min. ETA to Manipal Trauma Center: 4.8 min.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23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100" b="1">
                <a:solidFill>
                  <a:srgbClr val="A855F7"/>
                </a:solidFill>
                <a:latin typeface="Segoe UI"/>
              </a:rPr>
              <a:t>SUBSYSTEM DEEP-DIVE: HOSPITAL 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447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200" b="1">
                <a:solidFill>
                  <a:srgbClr val="F8FAFC"/>
                </a:solidFill>
                <a:latin typeface="Segoe UI"/>
              </a:rPr>
              <a:t>Hospital Trauma Bay: Real Auth, RBAC &amp; Race-Safe Case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4754880" cy="5212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389120" cy="4622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00" b="1" dirty="0">
                <a:solidFill>
                  <a:srgbClr val="A855F7"/>
                </a:solidFill>
                <a:latin typeface="Segoe UI"/>
              </a:rPr>
              <a:t>ENTERPRISE AUTH, RBAC &amp; SURGICAL PRE-ARMING
</a:t>
            </a:r>
          </a:p>
          <a:p>
            <a:pPr>
              <a:lnSpc>
                <a:spcPct val="150000"/>
              </a:lnSpc>
            </a:pPr>
            <a:r>
              <a:rPr sz="1050" b="1" dirty="0">
                <a:solidFill>
                  <a:srgbClr val="38BDF8"/>
                </a:solidFill>
                <a:latin typeface="Segoe UI"/>
              </a:rPr>
              <a:t>Real Authentication (JWT + </a:t>
            </a:r>
            <a:r>
              <a:rPr sz="1050" b="1" dirty="0" err="1">
                <a:solidFill>
                  <a:srgbClr val="38BDF8"/>
                </a:solidFill>
                <a:latin typeface="Segoe UI"/>
              </a:rPr>
              <a:t>Bcrypt</a:t>
            </a:r>
            <a:r>
              <a:rPr sz="1050" b="1" dirty="0">
                <a:solidFill>
                  <a:srgbClr val="38BDF8"/>
                </a:solidFill>
                <a:latin typeface="Segoe UI"/>
              </a:rPr>
              <a:t>): </a:t>
            </a:r>
            <a:r>
              <a:rPr sz="1000" b="0" dirty="0">
                <a:solidFill>
                  <a:srgbClr val="E2E8F0"/>
                </a:solidFill>
                <a:latin typeface="Segoe UI"/>
              </a:rPr>
              <a:t>8-hour signed JWT tokens carrying user id, hospital id, and staff role replace client-side dropdowns.</a:t>
            </a:r>
          </a:p>
          <a:p>
            <a:pPr>
              <a:lnSpc>
                <a:spcPct val="150000"/>
              </a:lnSpc>
            </a:pPr>
            <a:r>
              <a:rPr sz="1050" b="1" dirty="0">
                <a:solidFill>
                  <a:srgbClr val="38BDF8"/>
                </a:solidFill>
                <a:latin typeface="Segoe UI"/>
              </a:rPr>
              <a:t>Role-Based Access Control (RBAC): </a:t>
            </a:r>
            <a:r>
              <a:rPr sz="1000" b="0" dirty="0">
                <a:solidFill>
                  <a:srgbClr val="E2E8F0"/>
                </a:solidFill>
                <a:latin typeface="Segoe UI"/>
              </a:rPr>
              <a:t>Hospital staff can strictly view and accept incidents assigned to their specific facility. Police accounts receive tactical view only.</a:t>
            </a:r>
          </a:p>
          <a:p>
            <a:pPr>
              <a:lnSpc>
                <a:spcPct val="150000"/>
              </a:lnSpc>
            </a:pPr>
            <a:r>
              <a:rPr sz="1050" b="1" dirty="0">
                <a:solidFill>
                  <a:srgbClr val="38BDF8"/>
                </a:solidFill>
                <a:latin typeface="Segoe UI"/>
              </a:rPr>
              <a:t>Mismatched Facility Enforcement (403): </a:t>
            </a:r>
            <a:r>
              <a:rPr sz="1000" b="0" dirty="0">
                <a:solidFill>
                  <a:srgbClr val="E2E8F0"/>
                </a:solidFill>
                <a:latin typeface="Segoe UI"/>
              </a:rPr>
              <a:t>If Hospital A attempts to accept an incident matched to Hospital B, the backend returns a strict 403 Forbidden rejection.</a:t>
            </a:r>
          </a:p>
          <a:p>
            <a:pPr>
              <a:lnSpc>
                <a:spcPct val="150000"/>
              </a:lnSpc>
            </a:pPr>
            <a:r>
              <a:rPr sz="1050" b="1" dirty="0">
                <a:solidFill>
                  <a:srgbClr val="38BDF8"/>
                </a:solidFill>
                <a:latin typeface="Segoe UI"/>
              </a:rPr>
              <a:t>Atomic Case Locking: </a:t>
            </a:r>
            <a:r>
              <a:rPr sz="1000" b="0" dirty="0">
                <a:solidFill>
                  <a:srgbClr val="E2E8F0"/>
                </a:solidFill>
                <a:latin typeface="Segoe UI"/>
              </a:rPr>
              <a:t>PostgreSQL row locks prevent duplicate acceptances; competing facilities see 'CASE LOCKED' with audit badge.</a:t>
            </a:r>
          </a:p>
          <a:p>
            <a:pPr>
              <a:lnSpc>
                <a:spcPct val="150000"/>
              </a:lnSpc>
            </a:pPr>
            <a:r>
              <a:rPr sz="1050" b="1" dirty="0">
                <a:solidFill>
                  <a:srgbClr val="38BDF8"/>
                </a:solidFill>
                <a:latin typeface="Segoe UI"/>
              </a:rPr>
              <a:t>Trauma Bay 01 Pre-Armed: </a:t>
            </a:r>
            <a:r>
              <a:rPr sz="1000" b="0" dirty="0">
                <a:solidFill>
                  <a:srgbClr val="E2E8F0"/>
                </a:solidFill>
                <a:latin typeface="Segoe UI"/>
              </a:rPr>
              <a:t>Surgery team reserves Trauma Bay 01 and powers on life support equipment 10 minutes prior to arrival.</a:t>
            </a:r>
          </a:p>
          <a:p>
            <a:pPr>
              <a:lnSpc>
                <a:spcPct val="150000"/>
              </a:lnSpc>
            </a:pPr>
            <a:r>
              <a:rPr sz="1050" b="1" dirty="0">
                <a:solidFill>
                  <a:srgbClr val="38BDF8"/>
                </a:solidFill>
                <a:latin typeface="Segoe UI"/>
              </a:rPr>
              <a:t>Blood Bank Cross-Match Pre-Issued: </a:t>
            </a:r>
            <a:r>
              <a:rPr sz="1000" b="0" dirty="0">
                <a:solidFill>
                  <a:srgbClr val="E2E8F0"/>
                </a:solidFill>
                <a:latin typeface="Segoe UI"/>
              </a:rPr>
              <a:t>Blood bank immediately pulls 2 units of B+ Positive / O-Negative blood matching verified ABHA health vault.</a:t>
            </a:r>
          </a:p>
          <a:p>
            <a:pPr>
              <a:lnSpc>
                <a:spcPct val="150000"/>
              </a:lnSpc>
            </a:pPr>
            <a:r>
              <a:rPr sz="1050" b="1" dirty="0">
                <a:solidFill>
                  <a:srgbClr val="38BDF8"/>
                </a:solidFill>
                <a:latin typeface="Segoe UI"/>
              </a:rPr>
              <a:t>30-Second Auto-Escalation Engine: </a:t>
            </a:r>
            <a:r>
              <a:rPr sz="1000" b="0" dirty="0">
                <a:solidFill>
                  <a:srgbClr val="E2E8F0"/>
                </a:solidFill>
                <a:latin typeface="Segoe UI"/>
              </a:rPr>
              <a:t>Triage ring automatically widens from 8km to 20km if unaccepted within 30 seconds.</a:t>
            </a:r>
          </a:p>
        </p:txBody>
      </p:sp>
      <p:pic>
        <p:nvPicPr>
          <p:cNvPr id="7" name="Picture 6" descr="screenshot_hospita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80160"/>
            <a:ext cx="5790895" cy="337802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4754880"/>
            <a:ext cx="5790895" cy="1737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06440" y="4846320"/>
            <a:ext cx="5516575" cy="12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100" b="1">
                <a:solidFill>
                  <a:srgbClr val="A855F7"/>
                </a:solidFill>
                <a:latin typeface="Segoe UI"/>
              </a:rPr>
              <a:t>LEVEL-1 SURGICAL ER WORKSTATION (MANIPAL HOSPITAL)
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F8FAFC"/>
                </a:solidFill>
                <a:latin typeface="Segoe UI"/>
              </a:rPr>
              <a:t>Real WebRTC Visual Triage feed (TTL 900s RAM buffer), PINN Crash Biomechanics (ISS 26 Severe Polytrauma), and verified ABHA vault (B+ Blood, Penicillin Anaphylaxis Alert pre-flagged).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PRIVACY ARCHITECTURE &amp; DPDP ACT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Zero-Storage Protocol &amp; Real WebRTC Ephemeral Visual Triage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WEBRTC PEER-TO-PEER VISUAL STREAMING
</a:t>
            </a:r>
          </a:p>
          <a:p>
            <a:r>
              <a:rPr sz="1100" b="1">
                <a:solidFill>
                  <a:srgbClr val="10B981"/>
                </a:solidFill>
                <a:latin typeface="Segoe UI"/>
              </a:rPr>
              <a:t>Direct P2P DataChannel Transport: </a:t>
            </a:r>
            <a:r>
              <a:rPr sz="1050" b="0">
                <a:solidFill>
                  <a:srgbClr val="E2E8F0"/>
                </a:solidFill>
                <a:latin typeface="Segoe UI"/>
              </a:rPr>
              <a:t>Establishes a direct WebRTC peer connection between the victim's phone camera and the hospital surgeon's workstation over existing Socket.io signaling.</a:t>
            </a:r>
          </a:p>
          <a:p>
            <a:r>
              <a:rPr sz="1100" b="1">
                <a:solidFill>
                  <a:srgbClr val="10B981"/>
                </a:solidFill>
                <a:latin typeface="Segoe UI"/>
              </a:rPr>
              <a:t>Automatic 5-Second WebSocket Fallback: </a:t>
            </a:r>
            <a:r>
              <a:rPr sz="1050" b="0">
                <a:solidFill>
                  <a:srgbClr val="E2E8F0"/>
                </a:solidFill>
                <a:latin typeface="Segoe UI"/>
              </a:rPr>
              <a:t>If WebRTC negotiation times out due to restrictive symmetric NATs or corporate firewalls, the system automatically falls back to binary WebSocket streaming with zero user disruption.</a:t>
            </a:r>
          </a:p>
          <a:p>
            <a:r>
              <a:rPr sz="1100" b="1">
                <a:solidFill>
                  <a:srgbClr val="10B981"/>
                </a:solidFill>
                <a:latin typeface="Segoe UI"/>
              </a:rPr>
              <a:t>High-Resolution Fullscreen Lightbox: </a:t>
            </a:r>
            <a:r>
              <a:rPr sz="1050" b="0">
                <a:solidFill>
                  <a:srgbClr val="E2E8F0"/>
                </a:solidFill>
                <a:latin typeface="Segoe UI"/>
              </a:rPr>
              <a:t>Surgeons can open a high-resolution portrait inspection lightbox to examine vehicular cabin deformation and head trauma before docking.</a:t>
            </a:r>
          </a:p>
          <a:p>
            <a:r>
              <a:rPr sz="1100" b="1">
                <a:solidFill>
                  <a:srgbClr val="10B981"/>
                </a:solidFill>
                <a:latin typeface="Segoe UI"/>
              </a:rPr>
              <a:t>Transport Diagnostic Badge: </a:t>
            </a:r>
            <a:r>
              <a:rPr sz="1050" b="0">
                <a:solidFill>
                  <a:srgbClr val="E2E8F0"/>
                </a:solidFill>
                <a:latin typeface="Segoe UI"/>
              </a:rPr>
              <a:t>A visible badge indicates whether '⚡ WebRTC P2P' or '🔄 WebSocket Fallback' is active, validating fallback engineering to judges.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71600"/>
            <a:ext cx="496793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F4444"/>
                </a:solidFill>
                <a:latin typeface="Segoe UI"/>
              </a:rPr>
              <a:t>ZERO-PERSISTENT-STORAGE PRIVACY PROTOCOL
</a:t>
            </a:r>
          </a:p>
          <a:p>
            <a:r>
              <a:rPr sz="1100" b="1">
                <a:solidFill>
                  <a:srgbClr val="F59E0B"/>
                </a:solidFill>
                <a:latin typeface="Segoe UI"/>
              </a:rPr>
              <a:t>No Local Disk Storage: </a:t>
            </a:r>
            <a:r>
              <a:rPr sz="1050" b="0">
                <a:solidFill>
                  <a:srgbClr val="E2E8F0"/>
                </a:solidFill>
                <a:latin typeface="Segoe UI"/>
              </a:rPr>
              <a:t>Camera bytes are streamed directly from device RAM buffers. Zero images are ever written to mobile galleries, camera rolls, or local flash storage.</a:t>
            </a:r>
          </a:p>
          <a:p>
            <a:r>
              <a:rPr sz="1100" b="1">
                <a:solidFill>
                  <a:srgbClr val="F59E0B"/>
                </a:solidFill>
                <a:latin typeface="Segoe UI"/>
              </a:rPr>
              <a:t>Volatile Redis RAM Only (TTL 900s): </a:t>
            </a:r>
            <a:r>
              <a:rPr sz="1050" b="0">
                <a:solidFill>
                  <a:srgbClr val="E2E8F0"/>
                </a:solidFill>
                <a:latin typeface="Segoe UI"/>
              </a:rPr>
              <a:t>Intermediate relay buffers live strictly in RAM with a 15-minute TTL. Redis persistence (AOF and RDB) is disabled per Phase 9 specifications.</a:t>
            </a:r>
          </a:p>
          <a:p>
            <a:r>
              <a:rPr sz="1100" b="1">
                <a:solidFill>
                  <a:srgbClr val="F59E0B"/>
                </a:solidFill>
                <a:latin typeface="Segoe UI"/>
              </a:rPr>
              <a:t>Anti-Exfiltration UI Defenses: </a:t>
            </a:r>
            <a:r>
              <a:rPr sz="1050" b="0">
                <a:solidFill>
                  <a:srgbClr val="E2E8F0"/>
                </a:solidFill>
                <a:latin typeface="Segoe UI"/>
              </a:rPr>
              <a:t>Right-click context menus, image dragging, and download options are strictly disabled in the dashboard DOM to prevent photo export.</a:t>
            </a:r>
          </a:p>
          <a:p>
            <a:r>
              <a:rPr sz="1100" b="1">
                <a:solidFill>
                  <a:srgbClr val="F59E0B"/>
                </a:solidFill>
                <a:latin typeface="Segoe UI"/>
              </a:rPr>
              <a:t>DPDP Act 2023 Compliant: </a:t>
            </a:r>
            <a:r>
              <a:rPr sz="1050" b="0">
                <a:solidFill>
                  <a:srgbClr val="E2E8F0"/>
                </a:solidFill>
                <a:latin typeface="Segoe UI"/>
              </a:rPr>
              <a:t>Complies with India's Digital Personal Data Protection Act 2023, protecting victim dignity and preventing viral social media leaks.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F4444"/>
                </a:solidFill>
                <a:latin typeface="Segoe UI"/>
              </a:rPr>
              <a:t>GAME-CHANGING FEATURE: PINN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Innovation 1: AI Crash Biomechanics &amp; Virtual Trauma Blackbox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dirty="0">
                <a:solidFill>
                  <a:srgbClr val="94A3B8"/>
                </a:solidFill>
                <a:latin typeface="Segoe UI"/>
              </a:rPr>
              <a:t>DELTA-V DROP
</a:t>
            </a:r>
          </a:p>
          <a:p>
            <a:r>
              <a:rPr sz="1800" b="1" dirty="0">
                <a:solidFill>
                  <a:srgbClr val="EF4444"/>
                </a:solidFill>
                <a:latin typeface="Segoe UI"/>
              </a:rPr>
              <a:t>62.4 km/h
</a:t>
            </a:r>
          </a:p>
          <a:p>
            <a:r>
              <a:rPr sz="900" b="0" dirty="0">
                <a:solidFill>
                  <a:srgbClr val="F8FAFC"/>
                </a:solidFill>
                <a:latin typeface="Segoe UI"/>
              </a:rPr>
              <a:t>Velocity loss in impact window (&lt;120ms)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71600"/>
            <a:ext cx="256032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93592" y="146304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4A3B8"/>
                </a:solidFill>
                <a:latin typeface="Segoe UI"/>
              </a:rPr>
              <a:t>PEAK DECELERATION
</a:t>
            </a:r>
          </a:p>
          <a:p>
            <a:r>
              <a:rPr sz="1800" b="1">
                <a:solidFill>
                  <a:srgbClr val="F59E0B"/>
                </a:solidFill>
                <a:latin typeface="Segoe UI"/>
              </a:rPr>
              <a:t>48.6 G
</a:t>
            </a:r>
          </a:p>
          <a:p>
            <a:r>
              <a:rPr sz="900" b="0">
                <a:solidFill>
                  <a:srgbClr val="F8FAFC"/>
                </a:solidFill>
                <a:latin typeface="Segoe UI"/>
              </a:rPr>
              <a:t>Maximum kinetic deceleration force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371600"/>
            <a:ext cx="256032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18504" y="146304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4A3B8"/>
                </a:solidFill>
                <a:latin typeface="Segoe UI"/>
              </a:rPr>
              <a:t>KINETIC DISSIPATION
</a:t>
            </a:r>
          </a:p>
          <a:p>
            <a:r>
              <a:rPr sz="1800" b="1">
                <a:solidFill>
                  <a:srgbClr val="38BDF8"/>
                </a:solidFill>
                <a:latin typeface="Segoe UI"/>
              </a:rPr>
              <a:t>142.8 kJ
</a:t>
            </a:r>
          </a:p>
          <a:p>
            <a:r>
              <a:rPr sz="900" b="0">
                <a:solidFill>
                  <a:srgbClr val="F8FAFC"/>
                </a:solidFill>
                <a:latin typeface="Segoe UI"/>
              </a:rPr>
              <a:t>Mechanical energy absorbed by cabin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371600"/>
            <a:ext cx="256032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43416" y="146304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4A3B8"/>
                </a:solidFill>
                <a:latin typeface="Segoe UI"/>
              </a:rPr>
              <a:t>PREDICTED ISS
</a:t>
            </a:r>
          </a:p>
          <a:p>
            <a:r>
              <a:rPr sz="1800" b="1">
                <a:solidFill>
                  <a:srgbClr val="A855F7"/>
                </a:solidFill>
                <a:latin typeface="Segoe UI"/>
              </a:rPr>
              <a:t>26 (Severe)
</a:t>
            </a:r>
          </a:p>
          <a:p>
            <a:r>
              <a:rPr sz="900" b="0">
                <a:solidFill>
                  <a:srgbClr val="F8FAFC"/>
                </a:solidFill>
                <a:latin typeface="Segoe UI"/>
              </a:rPr>
              <a:t>Injury Severity Score (Polytrauma)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728655" cy="3383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200400"/>
            <a:ext cx="10149840" cy="2602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EF4444"/>
                </a:solidFill>
                <a:latin typeface="Segoe UI"/>
              </a:rPr>
              <a:t>PREDICTED INTERNAL ORGAN TRAUMA MATRIX &amp; CLINICAL PROTOCOLS
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• Cervical Spine Whiplash / Fracture Risk: 84% [CRITICAL]
</a:t>
            </a:r>
            <a:r>
              <a:rPr sz="1000" b="0">
                <a:solidFill>
                  <a:srgbClr val="38BDF8"/>
                </a:solidFill>
                <a:latin typeface="Segoe UI"/>
              </a:rPr>
              <a:t>   🏥 Clinical Protocol: Immediate C-Spine Collar Immobilization before moving victim to avoid secondary spinal cord transection.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• Blunt Sternal / Myocardial Contusion: 76% [HIGH]
</a:t>
            </a:r>
            <a:r>
              <a:rPr sz="1000" b="0">
                <a:solidFill>
                  <a:srgbClr val="38BDF8"/>
                </a:solidFill>
                <a:latin typeface="Segoe UI"/>
              </a:rPr>
              <a:t>   🏥 Clinical Protocol: Pre-order 12-lead ECG and stat Cardiac Troponin markers; prepare cardiac defibrillator in Bay 01.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• Intra-Abdominal / Splenic Laceration Risk: 61% [HIGH]
</a:t>
            </a:r>
            <a:r>
              <a:rPr sz="1000" b="0">
                <a:solidFill>
                  <a:srgbClr val="38BDF8"/>
                </a:solidFill>
                <a:latin typeface="Segoe UI"/>
              </a:rPr>
              <a:t>   🏥 Clinical Protocol: Immediate Focused Assessment with Sonography in Trauma (FAST) ultrasound protocol on arrival to detect internal bleeding.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• Traumatic Brain Injury (Closed Head Shock): 48% [MODERATE]
</a:t>
            </a:r>
            <a:r>
              <a:rPr sz="1000" b="0">
                <a:solidFill>
                  <a:srgbClr val="38BDF8"/>
                </a:solidFill>
                <a:latin typeface="Segoe UI"/>
              </a:rPr>
              <a:t>   🏥 Clinical Protocol: Immediate Non-Contrast Head CT Protocol scheduled upon trauma bay docking.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23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100" b="1">
                <a:solidFill>
                  <a:srgbClr val="10B981"/>
                </a:solidFill>
                <a:latin typeface="Segoe UI"/>
              </a:rPr>
              <a:t>GAME-CHANGING FEATURE: DIGITAL HEALTH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447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200" b="1" dirty="0">
                <a:solidFill>
                  <a:srgbClr val="F8FAFC"/>
                </a:solidFill>
                <a:latin typeface="Segoe UI"/>
              </a:rPr>
              <a:t>Innovation 2: Ayushman Bharat (ABDM/ABHA) Emergency Health Vault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3526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300" b="1" dirty="0">
                <a:solidFill>
                  <a:srgbClr val="10B981"/>
                </a:solidFill>
                <a:latin typeface="Segoe UI"/>
              </a:rPr>
              <a:t>ABDM-VERIFIED EMERGENCY HEALTH IDENTITY
</a:t>
            </a:r>
          </a:p>
          <a:p>
            <a:pPr>
              <a:lnSpc>
                <a:spcPct val="150000"/>
              </a:lnSpc>
            </a:pPr>
            <a:r>
              <a:rPr sz="1100" b="1" dirty="0">
                <a:solidFill>
                  <a:srgbClr val="F8FAFC"/>
                </a:solidFill>
                <a:latin typeface="Segoe UI"/>
              </a:rPr>
              <a:t>Verified 14-Digit ABHA ID:
</a:t>
            </a:r>
            <a:r>
              <a:rPr sz="1000" b="0" dirty="0">
                <a:solidFill>
                  <a:srgbClr val="94A3B8"/>
                </a:solidFill>
                <a:latin typeface="Segoe UI"/>
              </a:rPr>
              <a:t>91-8842-9912-3401 (</a:t>
            </a:r>
            <a:r>
              <a:rPr sz="1000" b="0" dirty="0" err="1">
                <a:solidFill>
                  <a:srgbClr val="94A3B8"/>
                </a:solidFill>
                <a:latin typeface="Segoe UI"/>
              </a:rPr>
              <a:t>stevin.joseph@abdm</a:t>
            </a:r>
            <a:r>
              <a:rPr sz="1000" b="0" dirty="0">
                <a:solidFill>
                  <a:srgbClr val="94A3B8"/>
                </a:solidFill>
                <a:latin typeface="Segoe UI"/>
              </a:rPr>
              <a:t>) — Authenticated via Government of India ABDM Gateway.</a:t>
            </a:r>
          </a:p>
          <a:p>
            <a:pPr>
              <a:lnSpc>
                <a:spcPct val="150000"/>
              </a:lnSpc>
            </a:pPr>
            <a:r>
              <a:rPr sz="1100" b="1" dirty="0">
                <a:solidFill>
                  <a:srgbClr val="F8FAFC"/>
                </a:solidFill>
                <a:latin typeface="Segoe UI"/>
              </a:rPr>
              <a:t>Confirmed Blood Group (B+ Positive):
</a:t>
            </a:r>
            <a:r>
              <a:rPr sz="1000" b="0" dirty="0">
                <a:solidFill>
                  <a:srgbClr val="94A3B8"/>
                </a:solidFill>
                <a:latin typeface="Segoe UI"/>
              </a:rPr>
              <a:t>Eliminates 15-20 minutes of diagnostic blood group typing delays, enabling immediate cross-matching and transfusion.</a:t>
            </a:r>
          </a:p>
          <a:p>
            <a:pPr>
              <a:lnSpc>
                <a:spcPct val="150000"/>
              </a:lnSpc>
            </a:pPr>
            <a:r>
              <a:rPr sz="1100" b="1" dirty="0">
                <a:solidFill>
                  <a:srgbClr val="F8FAFC"/>
                </a:solidFill>
                <a:latin typeface="Segoe UI"/>
              </a:rPr>
              <a:t>Hardware TEE Enclave Cryptographic Signature:
</a:t>
            </a:r>
            <a:r>
              <a:rPr sz="1000" b="0" dirty="0">
                <a:solidFill>
                  <a:srgbClr val="94A3B8"/>
                </a:solidFill>
                <a:latin typeface="Segoe UI"/>
              </a:rPr>
              <a:t>Data signed within the smartphone's hardware Trusted Execution Environment (0x7f4a8b29c910d9e2) ensuring zero tampering.</a:t>
            </a:r>
          </a:p>
          <a:p>
            <a:pPr>
              <a:lnSpc>
                <a:spcPct val="150000"/>
              </a:lnSpc>
            </a:pPr>
            <a:r>
              <a:rPr sz="1100" b="1" dirty="0">
                <a:solidFill>
                  <a:srgbClr val="F8FAFC"/>
                </a:solidFill>
                <a:latin typeface="Segoe UI"/>
              </a:rPr>
              <a:t>National Organ Donor Registration:
</a:t>
            </a:r>
            <a:r>
              <a:rPr sz="1000" b="0" dirty="0">
                <a:solidFill>
                  <a:srgbClr val="94A3B8"/>
                </a:solidFill>
                <a:latin typeface="Segoe UI"/>
              </a:rPr>
              <a:t>Verified registration with the National Organ &amp; Tissue Transplant </a:t>
            </a:r>
            <a:r>
              <a:rPr sz="1000" b="0" dirty="0" err="1">
                <a:solidFill>
                  <a:srgbClr val="94A3B8"/>
                </a:solidFill>
                <a:latin typeface="Segoe UI"/>
              </a:rPr>
              <a:t>Organisation</a:t>
            </a:r>
            <a:r>
              <a:rPr sz="1000" b="0" dirty="0">
                <a:solidFill>
                  <a:srgbClr val="94A3B8"/>
                </a:solidFill>
                <a:latin typeface="Segoe UI"/>
              </a:rPr>
              <a:t> (NOTTO-IND-2024-88419).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3941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EF4444"/>
                </a:solidFill>
                <a:latin typeface="Segoe UI"/>
              </a:rPr>
              <a:t>CRITICAL DRUG ALLERGIES &amp; CONTRAINDICATIONS
</a:t>
            </a:r>
          </a:p>
          <a:p>
            <a:pPr>
              <a:lnSpc>
                <a:spcPct val="150000"/>
              </a:lnSpc>
            </a:pPr>
            <a:r>
              <a:rPr sz="1050" b="1">
                <a:solidFill>
                  <a:srgbClr val="EF4444"/>
                </a:solidFill>
                <a:latin typeface="Segoe UI"/>
              </a:rPr>
              <a:t>🚨 HIGH-URGENCY ALLERGY CONTRAINDICATION:
</a:t>
            </a:r>
            <a:r>
              <a:rPr sz="1000" b="0">
                <a:solidFill>
                  <a:srgbClr val="E2E8F0"/>
                </a:solidFill>
                <a:latin typeface="Segoe UI"/>
              </a:rPr>
              <a:t>Penicillin Anaphylaxis &amp; Sulfa Drugs.
⚠️ Clinical Alert: Strict prohibition against administering beta-lactam antibiotics during acute emergency trauma resuscitation!</a:t>
            </a:r>
          </a:p>
          <a:p>
            <a:pPr>
              <a:lnSpc>
                <a:spcPct val="150000"/>
              </a:lnSpc>
            </a:pPr>
            <a:r>
              <a:rPr sz="1050" b="1">
                <a:solidFill>
                  <a:srgbClr val="F59E0B"/>
                </a:solidFill>
                <a:latin typeface="Segoe UI"/>
              </a:rPr>
              <a:t>💊 CHRONIC CONDITIONS &amp; CO-MORBIDITIES:
</a:t>
            </a:r>
            <a:r>
              <a:rPr sz="1000" b="0">
                <a:solidFill>
                  <a:srgbClr val="E2E8F0"/>
                </a:solidFill>
                <a:latin typeface="Segoe UI"/>
              </a:rPr>
              <a:t>Type-1 Diabetes Mellitus on daily Insulin Glargine.
Requires continuous blood glucose monitoring during fluid resuscitation.</a:t>
            </a:r>
          </a:p>
          <a:p>
            <a:pPr>
              <a:lnSpc>
                <a:spcPct val="150000"/>
              </a:lnSpc>
            </a:pPr>
            <a:r>
              <a:rPr sz="1050" b="1">
                <a:solidFill>
                  <a:srgbClr val="F59E0B"/>
                </a:solidFill>
                <a:latin typeface="Segoe UI"/>
              </a:rPr>
              <a:t>⚠️ HIGH-RISK MEDICATION: WARFARIN BLOOD THINNER:
</a:t>
            </a:r>
            <a:r>
              <a:rPr sz="1000" b="0">
                <a:solidFill>
                  <a:srgbClr val="E2E8F0"/>
                </a:solidFill>
                <a:latin typeface="Segoe UI"/>
              </a:rPr>
              <a:t>Patient is on active anticoagulant therapy! Alerts surgeons to high risk of occult internal hemorrhage and prompts immediate prep of Vitamin K / Prothrombin Complex reversal agents.</a:t>
            </a:r>
          </a:p>
          <a:p>
            <a:pPr>
              <a:lnSpc>
                <a:spcPct val="150000"/>
              </a:lnSpc>
            </a:pPr>
            <a:r>
              <a:rPr sz="1050" b="1">
                <a:solidFill>
                  <a:srgbClr val="F59E0B"/>
                </a:solidFill>
                <a:latin typeface="Segoe UI"/>
              </a:rPr>
              <a:t>Zero-Knowledge Identity Protection:
</a:t>
            </a:r>
            <a:r>
              <a:rPr sz="1000" b="0">
                <a:solidFill>
                  <a:srgbClr val="E2E8F0"/>
                </a:solidFill>
                <a:latin typeface="Segoe UI"/>
              </a:rPr>
              <a:t>Medical telemetry is shared securely with attending surgeons without broadcasting the patient's Aadhaar or financial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23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100" b="1">
                <a:solidFill>
                  <a:srgbClr val="38BDF8"/>
                </a:solidFill>
                <a:latin typeface="Segoe UI"/>
              </a:rPr>
              <a:t>SYSTEM ARCHITECTURE &amp; ENGINEERING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447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200" b="1">
                <a:solidFill>
                  <a:srgbClr val="F8FAFC"/>
                </a:solidFill>
                <a:latin typeface="Segoe UI"/>
              </a:rPr>
              <a:t>End-to-End Technical Architecture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286000" cy="2520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00" b="1">
                <a:solidFill>
                  <a:srgbClr val="EF4444"/>
                </a:solidFill>
                <a:latin typeface="Segoe UI"/>
              </a:rPr>
              <a:t>Mobile Client (Flutter / Dart)</a:t>
            </a:r>
          </a:p>
          <a:p>
            <a:pPr>
              <a:lnSpc>
                <a:spcPct val="150000"/>
              </a:lnSpc>
            </a:pPr>
            <a:r>
              <a:rPr sz="1050" b="0">
                <a:solidFill>
                  <a:srgbClr val="E2E8F0"/>
                </a:solidFill>
                <a:latin typeface="Segoe UI"/>
              </a:rPr>
              <a:t>• Flutter 3.24+ &amp; Dart 3.5+
• TensorFlow Lite (1D-CNN Kinematic Classifier)
• flutter_webrtc (Peer-to-Peer DataChannels)
• sensors_plus (100Hz 3-Axis Accel &amp; Gyro)
• Background SMS (Dual-SIM Native Channel)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71600"/>
            <a:ext cx="256032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93592" y="1554480"/>
            <a:ext cx="2286000" cy="2312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Core Backend (Node.js &amp; Express)</a:t>
            </a:r>
          </a:p>
          <a:p>
            <a:pPr>
              <a:lnSpc>
                <a:spcPct val="150000"/>
              </a:lnSpc>
            </a:pPr>
            <a:r>
              <a:rPr sz="1050" b="0">
                <a:solidFill>
                  <a:srgbClr val="E2E8F0"/>
                </a:solidFill>
                <a:latin typeface="Segoe UI"/>
              </a:rPr>
              <a:t>• TypeScript &amp; Express REST API
• Zod Schema Validation
• Socket.IO Signaling (WebRTC Relay)
• Bcrypt Password Hashing &amp; JWT Auth
• 30s Auto-Escalation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371600"/>
            <a:ext cx="256032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18504" y="1554480"/>
            <a:ext cx="2286000" cy="2312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00" b="1">
                <a:solidFill>
                  <a:srgbClr val="10B981"/>
                </a:solidFill>
                <a:latin typeface="Segoe UI"/>
              </a:rPr>
              <a:t>Database &amp; In-Memory Cache</a:t>
            </a:r>
          </a:p>
          <a:p>
            <a:pPr>
              <a:lnSpc>
                <a:spcPct val="150000"/>
              </a:lnSpc>
            </a:pPr>
            <a:r>
              <a:rPr sz="1050" b="0">
                <a:solidFill>
                  <a:srgbClr val="E2E8F0"/>
                </a:solidFill>
                <a:latin typeface="Segoe UI"/>
              </a:rPr>
              <a:t>• PostgreSQL 15 with PostGIS (ST_DWithin)
• Spatial Geohash Indexing (Sub-second)
• Redis 7 (In-Memory Volatile RAM)
• TTL 900s (Zero Disk Persistence)
• Atomic Row Locking (Race-Safe)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371600"/>
            <a:ext cx="256032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43416" y="1554480"/>
            <a:ext cx="2286000" cy="2312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00" b="1">
                <a:solidFill>
                  <a:srgbClr val="A855F7"/>
                </a:solidFill>
                <a:latin typeface="Segoe UI"/>
              </a:rPr>
              <a:t>Web Dashboard &amp; Traffic Grid</a:t>
            </a:r>
          </a:p>
          <a:p>
            <a:pPr>
              <a:lnSpc>
                <a:spcPct val="150000"/>
              </a:lnSpc>
            </a:pPr>
            <a:r>
              <a:rPr sz="1050" b="0">
                <a:solidFill>
                  <a:srgbClr val="E2E8F0"/>
                </a:solidFill>
                <a:latin typeface="Segoe UI"/>
              </a:rPr>
              <a:t>• React 18, Vite, TypeScript
• Tailwind CSS &amp; Lucide Icons
• React-Leaflet GIS Mapping
• C-V2X (NTCIP 1202 Signal Protocol)
• YOLOv8 CCTV Edge Density Vision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23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100" b="1">
                <a:solidFill>
                  <a:srgbClr val="F59E0B"/>
                </a:solidFill>
                <a:latin typeface="Segoe UI"/>
              </a:rPr>
              <a:t>GOVERNANCE &amp; INDIAN STATUTORY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447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200" b="1">
                <a:solidFill>
                  <a:srgbClr val="F8FAFC"/>
                </a:solidFill>
                <a:latin typeface="Segoe UI"/>
              </a:rPr>
              <a:t>Regulatory Compliance, Ethics &amp; Legal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3041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F59E0B"/>
                </a:solidFill>
                <a:latin typeface="Segoe UI"/>
              </a:rPr>
              <a:t>INDIAN LEGAL COMPLIANCE &amp; BYSTANDER IMMUNITY
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Good Samaritan Protection (Motor Vehicles Act Sec 134A):
</a:t>
            </a:r>
            <a:r>
              <a:rPr sz="1000" b="0">
                <a:solidFill>
                  <a:srgbClr val="94A3B8"/>
                </a:solidFill>
                <a:latin typeface="Segoe UI"/>
              </a:rPr>
              <a:t>Indian Supreme Court and Central Motor Vehicles guidelines guarantee complete immunity from police interrogation, hospital liability, or judicial harassment for bystanders and automated telemetry.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Ayushman Bharat Digital Mission (ABDM) Milestone 1-3:
</a:t>
            </a:r>
            <a:r>
              <a:rPr sz="1000" b="0">
                <a:solidFill>
                  <a:srgbClr val="94A3B8"/>
                </a:solidFill>
                <a:latin typeface="Segoe UI"/>
              </a:rPr>
              <a:t>Conforms to National Health Authority (NHA) standards for consent management, health data fiduciary verification, and ABHA identity integration.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Emergency Services Telephony (TRAI Telecom Guidelines):
</a:t>
            </a:r>
            <a:r>
              <a:rPr sz="1000" b="0">
                <a:solidFill>
                  <a:srgbClr val="94A3B8"/>
                </a:solidFill>
                <a:latin typeface="Segoe UI"/>
              </a:rPr>
              <a:t>Utilizes priority carrier bands for emergency SOS SMS broadcasting to overcome high congestion cell towers near highway corridors.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3526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10B981"/>
                </a:solidFill>
                <a:latin typeface="Segoe UI"/>
              </a:rPr>
              <a:t>DIGITAL PERSONAL DATA PROTECTION (DPDP) ACT 2023
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Purpose Limitation &amp; Ephemeral Lifespan:
</a:t>
            </a:r>
            <a:r>
              <a:rPr sz="1000" b="0">
                <a:solidFill>
                  <a:srgbClr val="94A3B8"/>
                </a:solidFill>
                <a:latin typeface="Segoe UI"/>
              </a:rPr>
              <a:t>Crash visual telemetry is gathered exclusively for emergency surgical resuscitation and purged automatically after 900 seconds from volatile RAM.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Zero Persistent Cloud Profiling:
</a:t>
            </a:r>
            <a:r>
              <a:rPr sz="1000" b="0">
                <a:solidFill>
                  <a:srgbClr val="94A3B8"/>
                </a:solidFill>
                <a:latin typeface="Segoe UI"/>
              </a:rPr>
              <a:t>No facial recognition, biometric profiling, or permanent storage of crash photos in S3 or Google Cloud Storage buckets.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Medical Telemetry Hardware Encryption:
</a:t>
            </a:r>
            <a:r>
              <a:rPr sz="1000" b="0">
                <a:solidFill>
                  <a:srgbClr val="94A3B8"/>
                </a:solidFill>
                <a:latin typeface="Segoe UI"/>
              </a:rPr>
              <a:t>Health vault parameters are encrypted with AES-256-GCM and verified with zero-knowledge hardware proofs without exposing raw national ID numbers.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Audit Logging for Accountability:
</a:t>
            </a:r>
            <a:r>
              <a:rPr sz="1000" b="0">
                <a:solidFill>
                  <a:srgbClr val="94A3B8"/>
                </a:solidFill>
                <a:latin typeface="Segoe UI"/>
              </a:rPr>
              <a:t>Access to patient data requires verified JWT authentication; unauthorized access attempts are blocked and logged.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Segoe UI"/>
              </a:rPr>
              <a:t>IMPLEMENTATION FEASIBILITY &amp;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National Rollout Roadmap &amp; Scalability Economics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3108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8BDF8"/>
                </a:solidFill>
                <a:latin typeface="Segoe UI"/>
              </a:rPr>
              <a:t>Phase 1: Bengaluru Pilot (Months 1-6)</a:t>
            </a:r>
          </a:p>
          <a:p>
            <a:r>
              <a:rPr sz="1050" b="0">
                <a:solidFill>
                  <a:srgbClr val="E2E8F0"/>
                </a:solidFill>
                <a:latin typeface="Segoe UI"/>
              </a:rPr>
              <a:t>• 10 Certified Level-1 Trauma Hospitals
• 40 Municipal 108 Emergency Ambulances
• 120 Smart ITMS Traffic Signals (B-TRAC Corridor)
• Testing in high-density corridors (Indiranagar, Silk Board)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74720" cy="3108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5544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Segoe UI"/>
              </a:rPr>
              <a:t>Phase 2: Tier-1 Metro Expansion (Months 7-18)</a:t>
            </a:r>
          </a:p>
          <a:p>
            <a:r>
              <a:rPr sz="1050" b="0">
                <a:solidFill>
                  <a:srgbClr val="E2E8F0"/>
                </a:solidFill>
                <a:latin typeface="Segoe UI"/>
              </a:rPr>
              <a:t>• Expansion to Mumbai, Delhi-NCR, Hyderabad, Chennai
• Integration with 450+ Trauma Centers &amp; 1,200 Ambulances
• C-V2X V2I protocol integration with Central ITMS
• Target 40% reduction in city-wide ambulance transit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474720" cy="3108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5544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0B981"/>
                </a:solidFill>
                <a:latin typeface="Segoe UI"/>
              </a:rPr>
              <a:t>Phase 3: National Highway NH Corridors (Months 19-36)</a:t>
            </a:r>
          </a:p>
          <a:p>
            <a:r>
              <a:rPr sz="1050" b="0">
                <a:solidFill>
                  <a:srgbClr val="E2E8F0"/>
                </a:solidFill>
                <a:latin typeface="Segoe UI"/>
              </a:rPr>
              <a:t>• Deployment along Golden Quadrilateral &amp; NH-44 Expressways
• Toll plaza radar preemption &amp; emergency lane clearance
• State-wide coordination with NHAI and Highway Patrol
• Nationwide rollout under MoRTH &amp; NHA sponsorship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10728655" cy="1737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80060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Segoe UI"/>
              </a:rPr>
              <a:t>THE DEPLOYMENT ECONOMICS (CAPEX VS OPEX):
</a:t>
            </a:r>
          </a:p>
          <a:p>
            <a:r>
              <a:rPr sz="1050" b="0">
                <a:solidFill>
                  <a:srgbClr val="F8FAFC"/>
                </a:solidFill>
                <a:latin typeface="Segoe UI"/>
              </a:rPr>
              <a:t>By avoiding proprietary road sensors and relying on citizen smartphones, cloud WebRTC relays, and existing NTCIP 1202 municipal traffic signal controllers, Rakshak-AI costs less than ₹14,000 ($170 USD) per intersection to deploy, compared to traditional sensor grids costing ₹8,50,000+ ($10,000 USD) per junction. The system achieves 100% cloud scalability via Docker &amp; Kubernetes on AWS / GCP / NIC Cloud.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23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100" b="1">
                <a:solidFill>
                  <a:srgbClr val="38BDF8"/>
                </a:solidFill>
                <a:latin typeface="Segoe UI"/>
              </a:rPr>
              <a:t>MARKET COMPARISON &amp; HACKATHON WINNING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447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200" b="1">
                <a:solidFill>
                  <a:srgbClr val="F8FAFC"/>
                </a:solidFill>
                <a:latin typeface="Segoe UI"/>
              </a:rPr>
              <a:t>Competitive Advantage: Why Rakshak-AI Outperforms All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3756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 b="1" dirty="0">
                <a:solidFill>
                  <a:srgbClr val="38BDF8"/>
                </a:solidFill>
                <a:latin typeface="Segoe UI"/>
              </a:rPr>
              <a:t>FEATURE / CAPABILITY           | TRADITIONAL APPS             | STANDARD 108 DISPATCH            | RAKSHAK-AI (OUR PLATFORM)
</a:t>
            </a:r>
          </a:p>
          <a:p>
            <a:pPr>
              <a:lnSpc>
                <a:spcPct val="150000"/>
              </a:lnSpc>
            </a:pPr>
            <a:r>
              <a:rPr sz="1000" b="1" dirty="0">
                <a:solidFill>
                  <a:srgbClr val="F8FAFC"/>
                </a:solidFill>
                <a:latin typeface="Segoe UI"/>
              </a:rPr>
              <a:t>• Crash Detection Time       : </a:t>
            </a:r>
            <a:r>
              <a:rPr sz="950" b="0" dirty="0">
                <a:solidFill>
                  <a:srgbClr val="94A3B8"/>
                </a:solidFill>
                <a:latin typeface="Segoe UI"/>
              </a:rPr>
              <a:t>Manual Bystander Call (10-15 min)  |  Voice Call + Triangulation (8-12 min)  ➔  </a:t>
            </a:r>
            <a:r>
              <a:rPr sz="1000" b="1" dirty="0">
                <a:solidFill>
                  <a:srgbClr val="10B981"/>
                </a:solidFill>
                <a:latin typeface="Segoe UI"/>
              </a:rPr>
              <a:t>18.2 </a:t>
            </a:r>
            <a:r>
              <a:rPr sz="1000" b="1" dirty="0" err="1">
                <a:solidFill>
                  <a:srgbClr val="10B981"/>
                </a:solidFill>
                <a:latin typeface="Segoe UI"/>
              </a:rPr>
              <a:t>ms</a:t>
            </a:r>
            <a:r>
              <a:rPr sz="1000" b="1" dirty="0">
                <a:solidFill>
                  <a:srgbClr val="10B981"/>
                </a:solidFill>
                <a:latin typeface="Segoe UI"/>
              </a:rPr>
              <a:t> Autonomous On-Device </a:t>
            </a:r>
            <a:r>
              <a:rPr sz="1000" b="1" dirty="0" err="1">
                <a:solidFill>
                  <a:srgbClr val="10B981"/>
                </a:solidFill>
                <a:latin typeface="Segoe UI"/>
              </a:rPr>
              <a:t>TFLite</a:t>
            </a:r>
            <a:r>
              <a:rPr sz="1000" b="1" dirty="0">
                <a:solidFill>
                  <a:srgbClr val="10B981"/>
                </a:solidFill>
                <a:latin typeface="Segoe UI"/>
              </a:rPr>
              <a:t>
</a:t>
            </a:r>
          </a:p>
          <a:p>
            <a:pPr>
              <a:lnSpc>
                <a:spcPct val="150000"/>
              </a:lnSpc>
            </a:pPr>
            <a:r>
              <a:rPr sz="1000" b="1" dirty="0">
                <a:solidFill>
                  <a:srgbClr val="F8FAFC"/>
                </a:solidFill>
                <a:latin typeface="Segoe UI"/>
              </a:rPr>
              <a:t>• Unconscious Victim Failsafe : </a:t>
            </a:r>
            <a:r>
              <a:rPr sz="950" b="0" dirty="0">
                <a:solidFill>
                  <a:srgbClr val="94A3B8"/>
                </a:solidFill>
                <a:latin typeface="Segoe UI"/>
              </a:rPr>
              <a:t>None (Victim must dial phone)  |  None (Depends on random passerby)  ➔  </a:t>
            </a:r>
            <a:r>
              <a:rPr sz="1000" b="1" dirty="0">
                <a:solidFill>
                  <a:srgbClr val="10B981"/>
                </a:solidFill>
                <a:latin typeface="Segoe UI"/>
              </a:rPr>
              <a:t>15-Second Zero-Touch Countdown
</a:t>
            </a:r>
          </a:p>
          <a:p>
            <a:pPr>
              <a:lnSpc>
                <a:spcPct val="150000"/>
              </a:lnSpc>
            </a:pPr>
            <a:r>
              <a:rPr sz="1000" b="1" dirty="0">
                <a:solidFill>
                  <a:srgbClr val="F8FAFC"/>
                </a:solidFill>
                <a:latin typeface="Segoe UI"/>
              </a:rPr>
              <a:t>• Traffic Intersection Control : </a:t>
            </a:r>
            <a:r>
              <a:rPr sz="950" b="0" dirty="0">
                <a:solidFill>
                  <a:srgbClr val="94A3B8"/>
                </a:solidFill>
                <a:latin typeface="Segoe UI"/>
              </a:rPr>
              <a:t>None (Ambulance stuck in gridlock)  |  Manual Police Phone Calls (Rare)  ➔  </a:t>
            </a:r>
            <a:r>
              <a:rPr sz="1000" b="1" dirty="0">
                <a:solidFill>
                  <a:srgbClr val="10B981"/>
                </a:solidFill>
                <a:latin typeface="Segoe UI"/>
              </a:rPr>
              <a:t>Autonomous C-V2X Green Wave Preemption (EVP)
</a:t>
            </a:r>
          </a:p>
          <a:p>
            <a:pPr>
              <a:lnSpc>
                <a:spcPct val="150000"/>
              </a:lnSpc>
            </a:pPr>
            <a:r>
              <a:rPr sz="1000" b="1" dirty="0">
                <a:solidFill>
                  <a:srgbClr val="F8FAFC"/>
                </a:solidFill>
                <a:latin typeface="Segoe UI"/>
              </a:rPr>
              <a:t>• Crash Scene Visual Triage  : </a:t>
            </a:r>
            <a:r>
              <a:rPr sz="950" b="0" dirty="0">
                <a:solidFill>
                  <a:srgbClr val="94A3B8"/>
                </a:solidFill>
                <a:latin typeface="Segoe UI"/>
              </a:rPr>
              <a:t>Manual WhatsApp / SMS Photos  |  None  ➔  </a:t>
            </a:r>
            <a:r>
              <a:rPr sz="1000" b="1" dirty="0">
                <a:solidFill>
                  <a:srgbClr val="10B981"/>
                </a:solidFill>
                <a:latin typeface="Segoe UI"/>
              </a:rPr>
              <a:t>Live WebRTC P2P </a:t>
            </a:r>
            <a:r>
              <a:rPr sz="1000" b="1" dirty="0" err="1">
                <a:solidFill>
                  <a:srgbClr val="10B981"/>
                </a:solidFill>
                <a:latin typeface="Segoe UI"/>
              </a:rPr>
              <a:t>DataChannel</a:t>
            </a:r>
            <a:r>
              <a:rPr sz="1000" b="1" dirty="0">
                <a:solidFill>
                  <a:srgbClr val="10B981"/>
                </a:solidFill>
                <a:latin typeface="Segoe UI"/>
              </a:rPr>
              <a:t> (Zero Disk Writes)
</a:t>
            </a:r>
          </a:p>
          <a:p>
            <a:pPr>
              <a:lnSpc>
                <a:spcPct val="150000"/>
              </a:lnSpc>
            </a:pPr>
            <a:r>
              <a:rPr sz="1000" b="1" dirty="0">
                <a:solidFill>
                  <a:srgbClr val="F8FAFC"/>
                </a:solidFill>
                <a:latin typeface="Segoe UI"/>
              </a:rPr>
              <a:t>• Crash Biomechanics Blackbox : </a:t>
            </a:r>
            <a:r>
              <a:rPr sz="950" b="0" dirty="0">
                <a:solidFill>
                  <a:srgbClr val="94A3B8"/>
                </a:solidFill>
                <a:latin typeface="Segoe UI"/>
              </a:rPr>
              <a:t>None  |  None  ➔  </a:t>
            </a:r>
            <a:r>
              <a:rPr sz="1000" b="1" dirty="0">
                <a:solidFill>
                  <a:srgbClr val="10B981"/>
                </a:solidFill>
                <a:latin typeface="Segoe UI"/>
              </a:rPr>
              <a:t>PINN Neural Modeling (Delta-V, ISS 26, Organ Risks)
</a:t>
            </a:r>
          </a:p>
          <a:p>
            <a:pPr>
              <a:lnSpc>
                <a:spcPct val="150000"/>
              </a:lnSpc>
            </a:pPr>
            <a:r>
              <a:rPr sz="1000" b="1" dirty="0">
                <a:solidFill>
                  <a:srgbClr val="F8FAFC"/>
                </a:solidFill>
                <a:latin typeface="Segoe UI"/>
              </a:rPr>
              <a:t>• Emergency Health Identity  : </a:t>
            </a:r>
            <a:r>
              <a:rPr sz="950" b="0" dirty="0">
                <a:solidFill>
                  <a:srgbClr val="94A3B8"/>
                </a:solidFill>
                <a:latin typeface="Segoe UI"/>
              </a:rPr>
              <a:t>Unverified Manual Notes  |  None (Blind Resuscitation)  ➔  </a:t>
            </a:r>
            <a:r>
              <a:rPr sz="1000" b="1" dirty="0">
                <a:solidFill>
                  <a:srgbClr val="10B981"/>
                </a:solidFill>
                <a:latin typeface="Segoe UI"/>
              </a:rPr>
              <a:t>Ayushman Bharat (ABDM/ABHA) Cryptographic Vault
</a:t>
            </a:r>
          </a:p>
          <a:p>
            <a:pPr>
              <a:lnSpc>
                <a:spcPct val="150000"/>
              </a:lnSpc>
            </a:pPr>
            <a:r>
              <a:rPr sz="1000" b="1" dirty="0">
                <a:solidFill>
                  <a:srgbClr val="F8FAFC"/>
                </a:solidFill>
                <a:latin typeface="Segoe UI"/>
              </a:rPr>
              <a:t>• Hospital Readiness Prior to Docking : </a:t>
            </a:r>
            <a:r>
              <a:rPr sz="950" b="0" dirty="0">
                <a:solidFill>
                  <a:srgbClr val="94A3B8"/>
                </a:solidFill>
                <a:latin typeface="Segoe UI"/>
              </a:rPr>
              <a:t>Zero (Ad-hoc ER chaos)  |  Basic Verbal Phone Radio  ➔  </a:t>
            </a:r>
            <a:r>
              <a:rPr sz="1000" b="1" dirty="0">
                <a:solidFill>
                  <a:srgbClr val="10B981"/>
                </a:solidFill>
                <a:latin typeface="Segoe UI"/>
              </a:rPr>
              <a:t>Pre-Armed Trauma Bay 1 &amp; Blood Cross-Match
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23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100" b="1">
                <a:solidFill>
                  <a:srgbClr val="10B981"/>
                </a:solidFill>
                <a:latin typeface="Segoe UI"/>
              </a:rPr>
              <a:t>CONCLUSION &amp; 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447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200" b="1">
                <a:solidFill>
                  <a:srgbClr val="F8FAFC"/>
                </a:solidFill>
                <a:latin typeface="Segoe UI"/>
              </a:rPr>
              <a:t>The Vision Realized: Autonomous AI Guardianship for Every Road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3347" y="1371600"/>
            <a:ext cx="9601200" cy="5023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 dirty="0">
                <a:solidFill>
                  <a:srgbClr val="10B981"/>
                </a:solidFill>
                <a:latin typeface="Segoe UI"/>
              </a:rPr>
              <a:t>THE GOLDEN HOUR CONQUERED: FROM TRAGEDY TO CERTAINTY
</a:t>
            </a:r>
          </a:p>
          <a:p>
            <a:pPr>
              <a:lnSpc>
                <a:spcPct val="150000"/>
              </a:lnSpc>
            </a:pPr>
            <a:r>
              <a:rPr sz="1200" b="0" dirty="0">
                <a:solidFill>
                  <a:srgbClr val="F8FAFC"/>
                </a:solidFill>
                <a:latin typeface="Segoe UI"/>
              </a:rPr>
              <a:t>Every 200 seconds, another family in India loses a child, a parent, or a breadwinner on our roads. The barrier to saving these lives has never been medical capability — our surgeons are world-class. The barrier has always been the chaotic 40-minute delay of discovery, traffic paralysis, and blind hospital intake.
Rakshak-AI breaks this barrier completely. By transforming every smartphone into an autonomous trauma </a:t>
            </a:r>
            <a:r>
              <a:rPr sz="1200" b="0" dirty="0" err="1">
                <a:solidFill>
                  <a:srgbClr val="F8FAFC"/>
                </a:solidFill>
                <a:latin typeface="Segoe UI"/>
              </a:rPr>
              <a:t>blackbox</a:t>
            </a:r>
            <a:r>
              <a:rPr sz="1200" b="0" dirty="0">
                <a:solidFill>
                  <a:srgbClr val="F8FAFC"/>
                </a:solidFill>
                <a:latin typeface="Segoe UI"/>
              </a:rPr>
              <a:t>, every traffic signal into an intelligent green wave, and every hospital bay into an informed surgical suite, we return the Golden Hour to where it belongs: to the patient.
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rgbClr val="38BDF8"/>
                </a:solidFill>
                <a:latin typeface="Segoe UI"/>
              </a:rPr>
              <a:t>KEY MEASURABLE OUTCOMES ACHIEVED:
</a:t>
            </a:r>
          </a:p>
          <a:p>
            <a:pPr>
              <a:lnSpc>
                <a:spcPct val="150000"/>
              </a:lnSpc>
            </a:pPr>
            <a:r>
              <a:rPr sz="1100" b="0" dirty="0">
                <a:solidFill>
                  <a:srgbClr val="10B981"/>
                </a:solidFill>
                <a:latin typeface="Segoe UI"/>
              </a:rPr>
              <a:t>✅ Transit Time Slashed from 38 mins to </a:t>
            </a:r>
            <a:r>
              <a:rPr lang="en-US" sz="1100" dirty="0">
                <a:solidFill>
                  <a:srgbClr val="10B981"/>
                </a:solidFill>
                <a:latin typeface="Segoe UI"/>
              </a:rPr>
              <a:t>12</a:t>
            </a:r>
            <a:r>
              <a:rPr sz="1100" b="0" dirty="0">
                <a:solidFill>
                  <a:srgbClr val="10B981"/>
                </a:solidFill>
                <a:latin typeface="Segoe UI"/>
              </a:rPr>
              <a:t> mins (</a:t>
            </a:r>
            <a:r>
              <a:rPr lang="en-US" sz="1100" dirty="0">
                <a:solidFill>
                  <a:srgbClr val="10B981"/>
                </a:solidFill>
                <a:latin typeface="Segoe UI"/>
              </a:rPr>
              <a:t>62</a:t>
            </a:r>
            <a:r>
              <a:rPr sz="1100" b="0" dirty="0">
                <a:solidFill>
                  <a:srgbClr val="10B981"/>
                </a:solidFill>
                <a:latin typeface="Segoe UI"/>
              </a:rPr>
              <a:t>% Faster Delivery)</a:t>
            </a:r>
          </a:p>
          <a:p>
            <a:pPr>
              <a:lnSpc>
                <a:spcPct val="150000"/>
              </a:lnSpc>
            </a:pPr>
            <a:r>
              <a:rPr sz="1100" b="0" dirty="0">
                <a:solidFill>
                  <a:srgbClr val="10B981"/>
                </a:solidFill>
                <a:latin typeface="Segoe UI"/>
              </a:rPr>
              <a:t>✅ 100% Zero-Storage Privacy Compliance (Volatile Redis RAM, DPDP Act 2023)</a:t>
            </a:r>
          </a:p>
          <a:p>
            <a:pPr>
              <a:lnSpc>
                <a:spcPct val="150000"/>
              </a:lnSpc>
            </a:pPr>
            <a:r>
              <a:rPr sz="1100" b="0" dirty="0">
                <a:solidFill>
                  <a:srgbClr val="10B981"/>
                </a:solidFill>
                <a:latin typeface="Segoe UI"/>
              </a:rPr>
              <a:t>✅ C-V2X Automated Signal Preemption with Dynamic AI A* Choke Point Bypass</a:t>
            </a:r>
          </a:p>
          <a:p>
            <a:pPr>
              <a:lnSpc>
                <a:spcPct val="150000"/>
              </a:lnSpc>
            </a:pPr>
            <a:r>
              <a:rPr sz="1100" b="0" dirty="0">
                <a:solidFill>
                  <a:srgbClr val="10B981"/>
                </a:solidFill>
                <a:latin typeface="Segoe UI"/>
              </a:rPr>
              <a:t>✅ Zero-Knowledge Ayushman Bharat (ABHA) Medical Vault with Drug Contraindication Alerts</a:t>
            </a:r>
          </a:p>
          <a:p>
            <a:pPr>
              <a:lnSpc>
                <a:spcPct val="150000"/>
              </a:lnSpc>
            </a:pPr>
            <a:endParaRPr sz="1100" b="0" dirty="0">
              <a:solidFill>
                <a:srgbClr val="10B981"/>
              </a:solidFill>
              <a:latin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3841</Words>
  <Application>Microsoft Office PowerPoint</Application>
  <PresentationFormat>Widescreen</PresentationFormat>
  <Paragraphs>209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Stevin Joseph</cp:lastModifiedBy>
  <cp:revision>2</cp:revision>
  <dcterms:created xsi:type="dcterms:W3CDTF">2013-01-27T09:14:16Z</dcterms:created>
  <dcterms:modified xsi:type="dcterms:W3CDTF">2026-10-13T17:50:28Z</dcterms:modified>
  <cp:category/>
</cp:coreProperties>
</file>