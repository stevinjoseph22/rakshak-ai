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097280"/>
            <a:ext cx="10728655" cy="475488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1645920"/>
            <a:ext cx="9144000" cy="457200"/>
          </a:xfrm>
          <a:prstGeom prst="rect">
            <a:avLst/>
          </a:prstGeom>
          <a:noFill/>
        </p:spPr>
        <p:txBody>
          <a:bodyPr wrap="none">
            <a:spAutoFit/>
          </a:bodyPr>
          <a:lstStyle/>
          <a:p>
            <a:r>
              <a:rPr sz="1200" b="1">
                <a:solidFill>
                  <a:srgbClr val="10B981"/>
                </a:solidFill>
                <a:latin typeface="Segoe UI"/>
              </a:rPr>
              <a:t>NATIONAL HACKATHON INNOVATION • HEALTHCARE &amp; SMART CITIES</a:t>
            </a:r>
          </a:p>
        </p:txBody>
      </p:sp>
      <p:sp>
        <p:nvSpPr>
          <p:cNvPr id="5" name="TextBox 4"/>
          <p:cNvSpPr txBox="1"/>
          <p:nvPr/>
        </p:nvSpPr>
        <p:spPr>
          <a:xfrm>
            <a:off x="1280160" y="2011680"/>
            <a:ext cx="9601200" cy="1097280"/>
          </a:xfrm>
          <a:prstGeom prst="rect">
            <a:avLst/>
          </a:prstGeom>
          <a:noFill/>
        </p:spPr>
        <p:txBody>
          <a:bodyPr wrap="none">
            <a:spAutoFit/>
          </a:bodyPr>
          <a:lstStyle/>
          <a:p>
            <a:r>
              <a:rPr sz="4800" b="1">
                <a:solidFill>
                  <a:srgbClr val="F8FAFC"/>
                </a:solidFill>
                <a:latin typeface="Segoe UI"/>
              </a:rPr>
              <a:t>RAKSHAK-AI</a:t>
            </a:r>
          </a:p>
        </p:txBody>
      </p:sp>
      <p:sp>
        <p:nvSpPr>
          <p:cNvPr id="6" name="TextBox 5"/>
          <p:cNvSpPr txBox="1"/>
          <p:nvPr/>
        </p:nvSpPr>
        <p:spPr>
          <a:xfrm>
            <a:off x="1280160" y="3108960"/>
            <a:ext cx="9601200" cy="822960"/>
          </a:xfrm>
          <a:prstGeom prst="rect">
            <a:avLst/>
          </a:prstGeom>
          <a:noFill/>
        </p:spPr>
        <p:txBody>
          <a:bodyPr wrap="square">
            <a:spAutoFit/>
          </a:bodyPr>
          <a:lstStyle/>
          <a:p>
            <a:r>
              <a:rPr sz="1800" b="1">
                <a:solidFill>
                  <a:srgbClr val="38BDF8"/>
                </a:solidFill>
                <a:latin typeface="Segoe UI"/>
              </a:rPr>
              <a:t>Autonomous AI Emergency Guardianship, Dynamic Green Wave Signal Preemption &amp; Zero-Storage Visual Trauma Triage</a:t>
            </a:r>
          </a:p>
        </p:txBody>
      </p:sp>
      <p:sp>
        <p:nvSpPr>
          <p:cNvPr id="7" name="TextBox 6"/>
          <p:cNvSpPr txBox="1"/>
          <p:nvPr/>
        </p:nvSpPr>
        <p:spPr>
          <a:xfrm>
            <a:off x="1280160" y="3931920"/>
            <a:ext cx="9601200" cy="914400"/>
          </a:xfrm>
          <a:prstGeom prst="rect">
            <a:avLst/>
          </a:prstGeom>
          <a:noFill/>
        </p:spPr>
        <p:txBody>
          <a:bodyPr wrap="square">
            <a:spAutoFit/>
          </a:bodyPr>
          <a:lstStyle/>
          <a:p>
            <a:r>
              <a:rPr sz="1300" b="0">
                <a:solidFill>
                  <a:srgbClr val="94A3B8"/>
                </a:solidFill>
                <a:latin typeface="Segoe UI"/>
              </a:rPr>
              <a:t>Solving India's road accident crisis by bridging the Golden Hour. Features on-device TFLite crash detection, C-V2X autonomous traffic signal preemption, physics-informed crash biomechanics (PINN), and zero-knowledge Ayushman Bharat (ABDM/ABHA) health vault.</a:t>
            </a:r>
          </a:p>
        </p:txBody>
      </p:sp>
      <p:sp>
        <p:nvSpPr>
          <p:cNvPr id="8" name="TextBox 7"/>
          <p:cNvSpPr txBox="1"/>
          <p:nvPr/>
        </p:nvSpPr>
        <p:spPr>
          <a:xfrm>
            <a:off x="1280160" y="4937760"/>
            <a:ext cx="9601200" cy="457200"/>
          </a:xfrm>
          <a:prstGeom prst="rect">
            <a:avLst/>
          </a:prstGeom>
          <a:noFill/>
        </p:spPr>
        <p:txBody>
          <a:bodyPr wrap="none">
            <a:spAutoFit/>
          </a:bodyPr>
          <a:lstStyle/>
          <a:p>
            <a:r>
              <a:rPr sz="1100" b="1">
                <a:solidFill>
                  <a:srgbClr val="F59E0B"/>
                </a:solidFill>
                <a:latin typeface="Segoe UI"/>
              </a:rPr>
              <a:t>⚡ Built for Indian Metros (Bengaluru Pilot)  |  🔒 DPDP Act 2023 Compliant  |  🚑 75% Transit Time Reduction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rIns="0" tIns="0" bIns="0">
            <a:spAutoFit/>
          </a:bodyPr>
          <a:lstStyle/>
          <a:p>
            <a:r>
              <a:rPr sz="1100" b="1">
                <a:solidFill>
                  <a:srgbClr val="EF4444"/>
                </a:solidFill>
                <a:latin typeface="Segoe UI"/>
              </a:rPr>
              <a:t>PROBLEM STATEMENT &amp; CLINICAL EVIDENCE</a:t>
            </a:r>
          </a:p>
        </p:txBody>
      </p:sp>
      <p:sp>
        <p:nvSpPr>
          <p:cNvPr id="4" name="TextBox 3"/>
          <p:cNvSpPr txBox="1"/>
          <p:nvPr/>
        </p:nvSpPr>
        <p:spPr>
          <a:xfrm>
            <a:off x="731520" y="640080"/>
            <a:ext cx="10698480" cy="640080"/>
          </a:xfrm>
          <a:prstGeom prst="rect">
            <a:avLst/>
          </a:prstGeom>
          <a:noFill/>
        </p:spPr>
        <p:txBody>
          <a:bodyPr wrap="square" lIns="0" rIns="0" tIns="0" bIns="0">
            <a:spAutoFit/>
          </a:bodyPr>
          <a:lstStyle/>
          <a:p>
            <a:r>
              <a:rPr sz="2200" b="1">
                <a:solidFill>
                  <a:srgbClr val="F8FAFC"/>
                </a:solidFill>
                <a:latin typeface="Segoe UI"/>
              </a:rPr>
              <a:t>The Critical Crisis: India's Fatal Road Accident Epidemic</a:t>
            </a:r>
          </a:p>
        </p:txBody>
      </p:sp>
      <p:sp>
        <p:nvSpPr>
          <p:cNvPr id="5" name="Rounded Rectangle 4"/>
          <p:cNvSpPr/>
          <p:nvPr/>
        </p:nvSpPr>
        <p:spPr>
          <a:xfrm>
            <a:off x="731520" y="1371600"/>
            <a:ext cx="2560320" cy="2011680"/>
          </a:xfrm>
          <a:prstGeom prst="roundRect">
            <a:avLst/>
          </a:prstGeom>
          <a:solidFill>
            <a:srgbClr val="0F172A"/>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08760"/>
            <a:ext cx="2286000" cy="1737360"/>
          </a:xfrm>
          <a:prstGeom prst="rect">
            <a:avLst/>
          </a:prstGeom>
          <a:noFill/>
        </p:spPr>
        <p:txBody>
          <a:bodyPr wrap="square" lIns="0" rIns="0" tIns="0" bIns="0">
            <a:spAutoFit/>
          </a:bodyPr>
          <a:lstStyle/>
          <a:p>
            <a:r>
              <a:rPr sz="2800" b="1">
                <a:solidFill>
                  <a:srgbClr val="EF4444"/>
                </a:solidFill>
                <a:latin typeface="Segoe UI"/>
              </a:rPr>
              <a:t>153,972+</a:t>
            </a:r>
          </a:p>
          <a:p>
            <a:r>
              <a:rPr sz="1000" b="1">
                <a:solidFill>
                  <a:srgbClr val="F8FAFC"/>
                </a:solidFill>
                <a:latin typeface="Segoe UI"/>
              </a:rPr>
              <a:t>ANNUAL FATALITIES</a:t>
            </a:r>
          </a:p>
          <a:p>
            <a:r>
              <a:rPr sz="1000" b="0">
                <a:solidFill>
                  <a:srgbClr val="94A3B8"/>
                </a:solidFill>
                <a:latin typeface="Segoe UI"/>
              </a:rPr>
              <a:t>India accounts for 11% of global road crash deaths despite having only 1% of the world's vehicles.</a:t>
            </a:r>
          </a:p>
        </p:txBody>
      </p:sp>
      <p:sp>
        <p:nvSpPr>
          <p:cNvPr id="7" name="Rounded Rectangle 6"/>
          <p:cNvSpPr/>
          <p:nvPr/>
        </p:nvSpPr>
        <p:spPr>
          <a:xfrm>
            <a:off x="3456432" y="1371600"/>
            <a:ext cx="2560320" cy="2011680"/>
          </a:xfrm>
          <a:prstGeom prst="roundRect">
            <a:avLst/>
          </a:prstGeom>
          <a:solidFill>
            <a:srgbClr val="0F172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93592" y="1508760"/>
            <a:ext cx="2286000" cy="1737360"/>
          </a:xfrm>
          <a:prstGeom prst="rect">
            <a:avLst/>
          </a:prstGeom>
          <a:noFill/>
        </p:spPr>
        <p:txBody>
          <a:bodyPr wrap="square" lIns="0" rIns="0" tIns="0" bIns="0">
            <a:spAutoFit/>
          </a:bodyPr>
          <a:lstStyle/>
          <a:p>
            <a:r>
              <a:rPr sz="2800" b="1">
                <a:solidFill>
                  <a:srgbClr val="F59E0B"/>
                </a:solidFill>
                <a:latin typeface="Segoe UI"/>
              </a:rPr>
              <a:t>Every 3.4 Min</a:t>
            </a:r>
          </a:p>
          <a:p>
            <a:r>
              <a:rPr sz="1000" b="1">
                <a:solidFill>
                  <a:srgbClr val="F8FAFC"/>
                </a:solidFill>
                <a:latin typeface="Segoe UI"/>
              </a:rPr>
              <a:t>FATAL CRASH INTERVAL</a:t>
            </a:r>
          </a:p>
          <a:p>
            <a:r>
              <a:rPr sz="1000" b="0">
                <a:solidFill>
                  <a:srgbClr val="94A3B8"/>
                </a:solidFill>
                <a:latin typeface="Segoe UI"/>
              </a:rPr>
              <a:t>A fatal accident occurs every 200 seconds on Indian roadways, leading to 461,000+ severe disabling injuries.</a:t>
            </a:r>
          </a:p>
        </p:txBody>
      </p:sp>
      <p:sp>
        <p:nvSpPr>
          <p:cNvPr id="9" name="Rounded Rectangle 8"/>
          <p:cNvSpPr/>
          <p:nvPr/>
        </p:nvSpPr>
        <p:spPr>
          <a:xfrm>
            <a:off x="6181344" y="1371600"/>
            <a:ext cx="2560320" cy="201168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18504" y="1508760"/>
            <a:ext cx="2286000" cy="1737360"/>
          </a:xfrm>
          <a:prstGeom prst="rect">
            <a:avLst/>
          </a:prstGeom>
          <a:noFill/>
        </p:spPr>
        <p:txBody>
          <a:bodyPr wrap="square" lIns="0" rIns="0" tIns="0" bIns="0">
            <a:spAutoFit/>
          </a:bodyPr>
          <a:lstStyle/>
          <a:p>
            <a:r>
              <a:rPr sz="2800" b="1">
                <a:solidFill>
                  <a:srgbClr val="10B981"/>
                </a:solidFill>
                <a:latin typeface="Segoe UI"/>
              </a:rPr>
              <a:t>50%+</a:t>
            </a:r>
          </a:p>
          <a:p>
            <a:r>
              <a:rPr sz="1000" b="1">
                <a:solidFill>
                  <a:srgbClr val="F8FAFC"/>
                </a:solidFill>
                <a:latin typeface="Segoe UI"/>
              </a:rPr>
              <a:t>PREVENTABLE DEATHS</a:t>
            </a:r>
          </a:p>
          <a:p>
            <a:r>
              <a:rPr sz="1000" b="0">
                <a:solidFill>
                  <a:srgbClr val="94A3B8"/>
                </a:solidFill>
                <a:latin typeface="Segoe UI"/>
              </a:rPr>
              <a:t>Trauma surgeons report over half of road accident deaths are preventable if surgical care is delivered in 60 mins.</a:t>
            </a:r>
          </a:p>
        </p:txBody>
      </p:sp>
      <p:sp>
        <p:nvSpPr>
          <p:cNvPr id="11" name="Rounded Rectangle 10"/>
          <p:cNvSpPr/>
          <p:nvPr/>
        </p:nvSpPr>
        <p:spPr>
          <a:xfrm>
            <a:off x="8906256" y="1371600"/>
            <a:ext cx="2560320" cy="2011680"/>
          </a:xfrm>
          <a:prstGeom prst="roundRect">
            <a:avLst/>
          </a:prstGeom>
          <a:solidFill>
            <a:srgbClr val="0F17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43416" y="1508760"/>
            <a:ext cx="2286000" cy="1737360"/>
          </a:xfrm>
          <a:prstGeom prst="rect">
            <a:avLst/>
          </a:prstGeom>
          <a:noFill/>
        </p:spPr>
        <p:txBody>
          <a:bodyPr wrap="square" lIns="0" rIns="0" tIns="0" bIns="0">
            <a:spAutoFit/>
          </a:bodyPr>
          <a:lstStyle/>
          <a:p>
            <a:r>
              <a:rPr sz="2800" b="1">
                <a:solidFill>
                  <a:srgbClr val="38BDF8"/>
                </a:solidFill>
                <a:latin typeface="Segoe UI"/>
              </a:rPr>
              <a:t>38-47 Min</a:t>
            </a:r>
          </a:p>
          <a:p>
            <a:r>
              <a:rPr sz="1000" b="1">
                <a:solidFill>
                  <a:srgbClr val="F8FAFC"/>
                </a:solidFill>
                <a:latin typeface="Segoe UI"/>
              </a:rPr>
              <a:t>MEDIAN REPORTING LAG</a:t>
            </a:r>
          </a:p>
          <a:p>
            <a:r>
              <a:rPr sz="1000" b="0">
                <a:solidFill>
                  <a:srgbClr val="94A3B8"/>
                </a:solidFill>
                <a:latin typeface="Segoe UI"/>
              </a:rPr>
              <a:t>Bystanders hesitate due to legal fears; traffic gridlock leaves ambulances trapped at red lights.</a:t>
            </a:r>
          </a:p>
        </p:txBody>
      </p:sp>
      <p:sp>
        <p:nvSpPr>
          <p:cNvPr id="13" name="Rounded Rectangle 12"/>
          <p:cNvSpPr/>
          <p:nvPr/>
        </p:nvSpPr>
        <p:spPr>
          <a:xfrm>
            <a:off x="731520" y="3566160"/>
            <a:ext cx="10728655" cy="2834640"/>
          </a:xfrm>
          <a:prstGeom prst="roundRect">
            <a:avLst/>
          </a:prstGeom>
          <a:solidFill>
            <a:srgbClr val="0F172A"/>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749039"/>
            <a:ext cx="10149840" cy="2468880"/>
          </a:xfrm>
          <a:prstGeom prst="rect">
            <a:avLst/>
          </a:prstGeom>
          <a:noFill/>
        </p:spPr>
        <p:txBody>
          <a:bodyPr wrap="square">
            <a:spAutoFit/>
          </a:bodyPr>
          <a:lstStyle/>
          <a:p>
            <a:r>
              <a:rPr sz="1400" b="1">
                <a:solidFill>
                  <a:srgbClr val="EF4444"/>
                </a:solidFill>
                <a:latin typeface="Segoe UI"/>
              </a:rPr>
              <a:t>THE ANATOMY OF DELAY: WHY THE GOLDEN HOUR IS ROUTINELY LOST IN URBAN INDIA</a:t>
            </a:r>
          </a:p>
          <a:p>
            <a:r>
              <a:rPr sz="1100" b="1">
                <a:solidFill>
                  <a:srgbClr val="38BDF8"/>
                </a:solidFill>
                <a:latin typeface="Segoe UI"/>
              </a:rPr>
              <a:t>1. Discovery &amp; Reporting Delay (~14 Minutes): </a:t>
            </a:r>
            <a:r>
              <a:rPr sz="1100" b="0">
                <a:solidFill>
                  <a:srgbClr val="E2E8F0"/>
                </a:solidFill>
                <a:latin typeface="Segoe UI"/>
              </a:rPr>
              <a:t>Unconscious victims cannot call 108. Bystanders fear police harassment, cross-examination, and hospital liability despite Good Samaritan laws.</a:t>
            </a:r>
          </a:p>
          <a:p>
            <a:r>
              <a:rPr sz="1100" b="1">
                <a:solidFill>
                  <a:srgbClr val="38BDF8"/>
                </a:solidFill>
                <a:latin typeface="Segoe UI"/>
              </a:rPr>
              <a:t>2. Ambulance Dispatch &amp; Navigation Delay (~9 Minutes): </a:t>
            </a:r>
            <a:r>
              <a:rPr sz="1100" b="0">
                <a:solidFill>
                  <a:srgbClr val="E2E8F0"/>
                </a:solidFill>
                <a:latin typeface="Segoe UI"/>
              </a:rPr>
              <a:t>Central dispatch centers rely on vague verbal landmarks ('near the big bakery') instead of sub-meter GPS coordinates, sending ambulances in the wrong direction.</a:t>
            </a:r>
          </a:p>
          <a:p>
            <a:r>
              <a:rPr sz="1100" b="1">
                <a:solidFill>
                  <a:srgbClr val="38BDF8"/>
                </a:solidFill>
                <a:latin typeface="Segoe UI"/>
              </a:rPr>
              <a:t>3. Urban Congestion &amp; Traffic Gridlock (~16 Minutes): </a:t>
            </a:r>
            <a:r>
              <a:rPr sz="1100" b="0">
                <a:solidFill>
                  <a:srgbClr val="E2E8F0"/>
                </a:solidFill>
                <a:latin typeface="Segoe UI"/>
              </a:rPr>
              <a:t>High-density Indian intersections (e.g. Silk Board, Tin Factory) lack Emergency Vehicle Preemption (EVP). Ambulances sit motionless behind bumper-to-bumper vehicles.</a:t>
            </a:r>
          </a:p>
          <a:p>
            <a:r>
              <a:rPr sz="1100" b="1">
                <a:solidFill>
                  <a:srgbClr val="38BDF8"/>
                </a:solidFill>
                <a:latin typeface="Segoe UI"/>
              </a:rPr>
              <a:t>4. Blind Hospital Intake &amp; Exploratory Surgery (~8 Minutes): </a:t>
            </a:r>
            <a:r>
              <a:rPr sz="1100" b="0">
                <a:solidFill>
                  <a:srgbClr val="E2E8F0"/>
                </a:solidFill>
                <a:latin typeface="Segoe UI"/>
              </a:rPr>
              <a:t>Hospitals receive victims with zero prior warning, unknown blood group, zero trauma biomechanics, and unreserved ICU beds, causing fatal intake delays.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rIns="0" tIns="0" bIns="0">
            <a:spAutoFit/>
          </a:bodyPr>
          <a:lstStyle/>
          <a:p>
            <a:r>
              <a:rPr sz="1100" b="1">
                <a:solidFill>
                  <a:srgbClr val="F59E0B"/>
                </a:solidFill>
                <a:latin typeface="Segoe UI"/>
              </a:rPr>
              <a:t>ECONOMIC ANALYSIS &amp; SOCIETAL BURDEN</a:t>
            </a:r>
          </a:p>
        </p:txBody>
      </p:sp>
      <p:sp>
        <p:nvSpPr>
          <p:cNvPr id="4" name="TextBox 3"/>
          <p:cNvSpPr txBox="1"/>
          <p:nvPr/>
        </p:nvSpPr>
        <p:spPr>
          <a:xfrm>
            <a:off x="731520" y="640080"/>
            <a:ext cx="10698480" cy="640080"/>
          </a:xfrm>
          <a:prstGeom prst="rect">
            <a:avLst/>
          </a:prstGeom>
          <a:noFill/>
        </p:spPr>
        <p:txBody>
          <a:bodyPr wrap="square" lIns="0" rIns="0" tIns="0" bIns="0">
            <a:spAutoFit/>
          </a:bodyPr>
          <a:lstStyle/>
          <a:p>
            <a:r>
              <a:rPr sz="2200" b="1">
                <a:solidFill>
                  <a:srgbClr val="F8FAFC"/>
                </a:solidFill>
                <a:latin typeface="Segoe UI"/>
              </a:rPr>
              <a:t>Macroeconomic &amp; GDP Impact: The $157 Billion National Toll</a:t>
            </a:r>
          </a:p>
        </p:txBody>
      </p:sp>
      <p:sp>
        <p:nvSpPr>
          <p:cNvPr id="5" name="Rounded Rectangle 4"/>
          <p:cNvSpPr/>
          <p:nvPr/>
        </p:nvSpPr>
        <p:spPr>
          <a:xfrm>
            <a:off x="731520" y="1371600"/>
            <a:ext cx="5212080" cy="5029200"/>
          </a:xfrm>
          <a:prstGeom prst="roundRect">
            <a:avLst/>
          </a:prstGeom>
          <a:solidFill>
            <a:srgbClr val="0F172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4846320" cy="4663440"/>
          </a:xfrm>
          <a:prstGeom prst="rect">
            <a:avLst/>
          </a:prstGeom>
          <a:noFill/>
        </p:spPr>
        <p:txBody>
          <a:bodyPr wrap="square">
            <a:spAutoFit/>
          </a:bodyPr>
          <a:lstStyle/>
          <a:p>
            <a:r>
              <a:rPr sz="1400" b="1">
                <a:solidFill>
                  <a:srgbClr val="F59E0B"/>
                </a:solidFill>
                <a:latin typeface="Segoe UI"/>
              </a:rPr>
              <a:t>THE MACROECONOMIC NUMBERS (WORLD BANK &amp; MoRTH DATA)
</a:t>
            </a:r>
          </a:p>
          <a:p>
            <a:r>
              <a:rPr sz="1100" b="1">
                <a:solidFill>
                  <a:srgbClr val="F8FAFC"/>
                </a:solidFill>
                <a:latin typeface="Segoe UI"/>
              </a:rPr>
              <a:t>3.14% of India's Annual GDP Lost
</a:t>
            </a:r>
            <a:r>
              <a:rPr sz="1000" b="0">
                <a:solidFill>
                  <a:srgbClr val="94A3B8"/>
                </a:solidFill>
                <a:latin typeface="Segoe UI"/>
              </a:rPr>
              <a:t>According to the World Bank Report 'Traffic Crash Injuries and Disabilities in India', road accidents cost the nation an estimated ~157 Billion USD (₹12.9 Lakh Crores) each year.</a:t>
            </a:r>
          </a:p>
          <a:p>
            <a:r>
              <a:rPr sz="1100" b="1">
                <a:solidFill>
                  <a:srgbClr val="F8FAFC"/>
                </a:solidFill>
                <a:latin typeface="Segoe UI"/>
              </a:rPr>
              <a:t>Demographic Catastrophe: 70% in Prime Age
</a:t>
            </a:r>
            <a:r>
              <a:rPr sz="1000" b="0">
                <a:solidFill>
                  <a:srgbClr val="94A3B8"/>
                </a:solidFill>
                <a:latin typeface="Segoe UI"/>
              </a:rPr>
              <a:t>Over 70% of road fatalities and severe disabilities occur among citizens aged 18 to 45 years — the primary breadwinners and driving productive force of the economy.</a:t>
            </a:r>
          </a:p>
          <a:p>
            <a:r>
              <a:rPr sz="1100" b="1">
                <a:solidFill>
                  <a:srgbClr val="F8FAFC"/>
                </a:solidFill>
                <a:latin typeface="Segoe UI"/>
              </a:rPr>
              <a:t>2.8 Million Families Pushed Into Poverty
</a:t>
            </a:r>
            <a:r>
              <a:rPr sz="1000" b="0">
                <a:solidFill>
                  <a:srgbClr val="94A3B8"/>
                </a:solidFill>
                <a:latin typeface="Segoe UI"/>
              </a:rPr>
              <a:t>Catastrophic Out-of-Pocket Expenditure (OOPE) for emergency ICU care, neurosurgery, and prolonged hospitalization causes immediate economic collapse for low- and middle-income households.</a:t>
            </a:r>
          </a:p>
          <a:p>
            <a:r>
              <a:rPr sz="1100" b="1">
                <a:solidFill>
                  <a:srgbClr val="F8FAFC"/>
                </a:solidFill>
                <a:latin typeface="Segoe UI"/>
              </a:rPr>
              <a:t>Fiscal Loss to Insurers &amp; State Governments
</a:t>
            </a:r>
            <a:r>
              <a:rPr sz="1000" b="0">
                <a:solidFill>
                  <a:srgbClr val="94A3B8"/>
                </a:solidFill>
                <a:latin typeface="Segoe UI"/>
              </a:rPr>
              <a:t>Over ₹32,000 Crores spent annually in third-party motor accident insurance claims and subsidized emergency state trauma healthcare burdens.</a:t>
            </a:r>
          </a:p>
        </p:txBody>
      </p:sp>
      <p:sp>
        <p:nvSpPr>
          <p:cNvPr id="7" name="Rounded Rectangle 6"/>
          <p:cNvSpPr/>
          <p:nvPr/>
        </p:nvSpPr>
        <p:spPr>
          <a:xfrm>
            <a:off x="6217920" y="1371600"/>
            <a:ext cx="5242255" cy="502920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54480"/>
            <a:ext cx="4846320" cy="4663440"/>
          </a:xfrm>
          <a:prstGeom prst="rect">
            <a:avLst/>
          </a:prstGeom>
          <a:noFill/>
        </p:spPr>
        <p:txBody>
          <a:bodyPr wrap="square">
            <a:spAutoFit/>
          </a:bodyPr>
          <a:lstStyle/>
          <a:p>
            <a:r>
              <a:rPr sz="1400" b="1">
                <a:solidFill>
                  <a:srgbClr val="10B981"/>
                </a:solidFill>
                <a:latin typeface="Segoe UI"/>
              </a:rPr>
              <a:t>THE RAKSHAK-AI RETURN ON INVESTMENT (ROI)
</a:t>
            </a:r>
          </a:p>
          <a:p>
            <a:r>
              <a:rPr sz="1100" b="1">
                <a:solidFill>
                  <a:srgbClr val="F8FAFC"/>
                </a:solidFill>
                <a:latin typeface="Segoe UI"/>
              </a:rPr>
              <a:t>1:38.4 National Economic Multiplier
</a:t>
            </a:r>
            <a:r>
              <a:rPr sz="1000" b="0">
                <a:solidFill>
                  <a:srgbClr val="94A3B8"/>
                </a:solidFill>
                <a:latin typeface="Segoe UI"/>
              </a:rPr>
              <a:t>Every ₹1 invested in automated emergency preemption and trauma telemetry yields ₹38.4 in economic productivity preserved by averting premature productive life loss.</a:t>
            </a:r>
          </a:p>
          <a:p>
            <a:r>
              <a:rPr sz="1100" b="1">
                <a:solidFill>
                  <a:srgbClr val="F8FAFC"/>
                </a:solidFill>
                <a:latin typeface="Segoe UI"/>
              </a:rPr>
              <a:t>40,000+ Productive Lives Saved Annually
</a:t>
            </a:r>
            <a:r>
              <a:rPr sz="1000" b="0">
                <a:solidFill>
                  <a:srgbClr val="94A3B8"/>
                </a:solidFill>
                <a:latin typeface="Segoe UI"/>
              </a:rPr>
              <a:t>Targeting a 35-50% reduction in Golden Hour arrival latency across Tier-1 and Tier-2 Indian cities preserves over ₹45,000 Crores in human capital value per year.</a:t>
            </a:r>
          </a:p>
          <a:p>
            <a:r>
              <a:rPr sz="1100" b="1">
                <a:solidFill>
                  <a:srgbClr val="F8FAFC"/>
                </a:solidFill>
                <a:latin typeface="Segoe UI"/>
              </a:rPr>
              <a:t>Reduction in Post-Trauma Rehabilitation Costs
</a:t>
            </a:r>
            <a:r>
              <a:rPr sz="1000" b="0">
                <a:solidFill>
                  <a:srgbClr val="94A3B8"/>
                </a:solidFill>
                <a:latin typeface="Segoe UI"/>
              </a:rPr>
              <a:t>Early C-Spine stabilization and blunt trauma blackbox alerts avert secondary spinal transections and severe hypoxic brain injuries, cutting long-term disability care costs by 62%.</a:t>
            </a:r>
          </a:p>
          <a:p>
            <a:r>
              <a:rPr sz="1100" b="1">
                <a:solidFill>
                  <a:srgbClr val="F8FAFC"/>
                </a:solidFill>
                <a:latin typeface="Segoe UI"/>
              </a:rPr>
              <a:t>Zero Additional Hardware Capital Expenditure
</a:t>
            </a:r>
            <a:r>
              <a:rPr sz="1000" b="0">
                <a:solidFill>
                  <a:srgbClr val="94A3B8"/>
                </a:solidFill>
                <a:latin typeface="Segoe UI"/>
              </a:rPr>
              <a:t>Leverages existing citizen smartphones, municipal CCTV cameras, and standard traffic light controllers (NTCIP 1202) — avoiding billions in bespoke sensor infrastructure.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rIns="0" tIns="0" bIns="0">
            <a:spAutoFit/>
          </a:bodyPr>
          <a:lstStyle/>
          <a:p>
            <a:r>
              <a:rPr sz="1100" b="1">
                <a:solidFill>
                  <a:srgbClr val="38BDF8"/>
                </a:solidFill>
                <a:latin typeface="Segoe UI"/>
              </a:rPr>
              <a:t>SYSTEM OVERVIEW &amp; ORCHESTRATION</a:t>
            </a:r>
          </a:p>
        </p:txBody>
      </p:sp>
      <p:sp>
        <p:nvSpPr>
          <p:cNvPr id="4" name="TextBox 3"/>
          <p:cNvSpPr txBox="1"/>
          <p:nvPr/>
        </p:nvSpPr>
        <p:spPr>
          <a:xfrm>
            <a:off x="731520" y="640080"/>
            <a:ext cx="10698480" cy="640080"/>
          </a:xfrm>
          <a:prstGeom prst="rect">
            <a:avLst/>
          </a:prstGeom>
          <a:noFill/>
        </p:spPr>
        <p:txBody>
          <a:bodyPr wrap="square" lIns="0" rIns="0" tIns="0" bIns="0">
            <a:spAutoFit/>
          </a:bodyPr>
          <a:lstStyle/>
          <a:p>
            <a:r>
              <a:rPr sz="2200" b="1">
                <a:solidFill>
                  <a:srgbClr val="F8FAFC"/>
                </a:solidFill>
                <a:latin typeface="Segoe UI"/>
              </a:rPr>
              <a:t>The Rakshak-AI Solution: 4-Way Multi-Agency Synchronization</a:t>
            </a:r>
          </a:p>
        </p:txBody>
      </p:sp>
      <p:sp>
        <p:nvSpPr>
          <p:cNvPr id="5" name="Rounded Rectangle 4"/>
          <p:cNvSpPr/>
          <p:nvPr/>
        </p:nvSpPr>
        <p:spPr>
          <a:xfrm>
            <a:off x="731520" y="1371600"/>
            <a:ext cx="5257800" cy="2377440"/>
          </a:xfrm>
          <a:prstGeom prst="roundRect">
            <a:avLst/>
          </a:prstGeom>
          <a:solidFill>
            <a:srgbClr val="0F172A"/>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4892040" cy="2011680"/>
          </a:xfrm>
          <a:prstGeom prst="rect">
            <a:avLst/>
          </a:prstGeom>
          <a:noFill/>
        </p:spPr>
        <p:txBody>
          <a:bodyPr wrap="square">
            <a:spAutoFit/>
          </a:bodyPr>
          <a:lstStyle/>
          <a:p>
            <a:r>
              <a:rPr sz="1400" b="1">
                <a:solidFill>
                  <a:srgbClr val="EF4444"/>
                </a:solidFill>
                <a:latin typeface="Segoe UI"/>
              </a:rPr>
              <a:t>1. Citizen &amp; Victim Mobile App</a:t>
            </a:r>
          </a:p>
          <a:p>
            <a:r>
              <a:rPr sz="1100" b="0">
                <a:solidFill>
                  <a:srgbClr val="E2E8F0"/>
                </a:solidFill>
                <a:latin typeface="Segoe UI"/>
              </a:rPr>
              <a:t>• 18.2ms On-device TFLite kinematic classification
• 15s zero-touch unconscious failsafe countdown
• Dual-SIM background emergency SMS with GPS
• Verified Ayushman Bharat (ABHA) Health Vault</a:t>
            </a:r>
          </a:p>
        </p:txBody>
      </p:sp>
      <p:sp>
        <p:nvSpPr>
          <p:cNvPr id="7" name="Rounded Rectangle 6"/>
          <p:cNvSpPr/>
          <p:nvPr/>
        </p:nvSpPr>
        <p:spPr>
          <a:xfrm>
            <a:off x="6172200" y="1371600"/>
            <a:ext cx="5257800" cy="2377440"/>
          </a:xfrm>
          <a:prstGeom prst="roundRect">
            <a:avLst/>
          </a:prstGeom>
          <a:solidFill>
            <a:srgbClr val="0F17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554480"/>
            <a:ext cx="4892040" cy="2011680"/>
          </a:xfrm>
          <a:prstGeom prst="rect">
            <a:avLst/>
          </a:prstGeom>
          <a:noFill/>
        </p:spPr>
        <p:txBody>
          <a:bodyPr wrap="square">
            <a:spAutoFit/>
          </a:bodyPr>
          <a:lstStyle/>
          <a:p>
            <a:r>
              <a:rPr sz="1400" b="1">
                <a:solidFill>
                  <a:srgbClr val="38BDF8"/>
                </a:solidFill>
                <a:latin typeface="Segoe UI"/>
              </a:rPr>
              <a:t>2. Central Police &amp; ITMS Command</a:t>
            </a:r>
          </a:p>
          <a:p>
            <a:r>
              <a:rPr sz="1100" b="0">
                <a:solidFill>
                  <a:srgbClr val="E2E8F0"/>
                </a:solidFill>
                <a:latin typeface="Segoe UI"/>
              </a:rPr>
              <a:t>• High-resolution city GIS tactical incident map
• Automated PCR patrol car dispatch (KA-01-G-404)
• CCTV Edge Vision (YOLOv8) traffic density scoring
• Municipal Green Corridor preemption authorization</a:t>
            </a:r>
          </a:p>
        </p:txBody>
      </p:sp>
      <p:sp>
        <p:nvSpPr>
          <p:cNvPr id="9" name="Rounded Rectangle 8"/>
          <p:cNvSpPr/>
          <p:nvPr/>
        </p:nvSpPr>
        <p:spPr>
          <a:xfrm>
            <a:off x="731520" y="3931920"/>
            <a:ext cx="5257800" cy="237744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114800"/>
            <a:ext cx="4892040" cy="2011680"/>
          </a:xfrm>
          <a:prstGeom prst="rect">
            <a:avLst/>
          </a:prstGeom>
          <a:noFill/>
        </p:spPr>
        <p:txBody>
          <a:bodyPr wrap="square">
            <a:spAutoFit/>
          </a:bodyPr>
          <a:lstStyle/>
          <a:p>
            <a:r>
              <a:rPr sz="1400" b="1">
                <a:solidFill>
                  <a:srgbClr val="10B981"/>
                </a:solidFill>
                <a:latin typeface="Segoe UI"/>
              </a:rPr>
              <a:t>3. 108 Ambulance Cockpit HUD</a:t>
            </a:r>
          </a:p>
          <a:p>
            <a:r>
              <a:rPr sz="1100" b="0">
                <a:solidFill>
                  <a:srgbClr val="E2E8F0"/>
                </a:solidFill>
                <a:latin typeface="Segoe UI"/>
              </a:rPr>
              <a:t>• 1-tap incident claiming with race-safe locking
• Autonomous Green Wave preemption (EVP / C-V2X)
• Traffic signals flip SOLID GREEN at 950m out
• Dynamic A* reroute bypassing city bottlenecks</a:t>
            </a:r>
          </a:p>
        </p:txBody>
      </p:sp>
      <p:sp>
        <p:nvSpPr>
          <p:cNvPr id="11" name="Rounded Rectangle 10"/>
          <p:cNvSpPr/>
          <p:nvPr/>
        </p:nvSpPr>
        <p:spPr>
          <a:xfrm>
            <a:off x="6172200" y="3931920"/>
            <a:ext cx="5257800" cy="2377440"/>
          </a:xfrm>
          <a:prstGeom prst="roundRect">
            <a:avLst/>
          </a:prstGeom>
          <a:solidFill>
            <a:srgbClr val="0F172A"/>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4114800"/>
            <a:ext cx="4892040" cy="2011680"/>
          </a:xfrm>
          <a:prstGeom prst="rect">
            <a:avLst/>
          </a:prstGeom>
          <a:noFill/>
        </p:spPr>
        <p:txBody>
          <a:bodyPr wrap="square">
            <a:spAutoFit/>
          </a:bodyPr>
          <a:lstStyle/>
          <a:p>
            <a:r>
              <a:rPr sz="1400" b="1">
                <a:solidFill>
                  <a:srgbClr val="A855F7"/>
                </a:solidFill>
                <a:latin typeface="Segoe UI"/>
              </a:rPr>
              <a:t>4. Level-1 Hospital Trauma Bay</a:t>
            </a:r>
          </a:p>
          <a:p>
            <a:r>
              <a:rPr sz="1100" b="0">
                <a:solidFill>
                  <a:srgbClr val="E2E8F0"/>
                </a:solidFill>
                <a:latin typeface="Segoe UI"/>
              </a:rPr>
              <a:t>• JWT authenticated surgeon dashboard (10 hospitals)
• Ephemeral WebRTC live video triage (zero disk writes)
• AI Crash Biomechanics blackbox (Delta-V, ISS 26)
• Trauma Bay 1 &amp; blood cross-match pre-armed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rIns="0" tIns="0" bIns="0">
            <a:spAutoFit/>
          </a:bodyPr>
          <a:lstStyle/>
          <a:p>
            <a:r>
              <a:rPr sz="1100" b="1">
                <a:solidFill>
                  <a:srgbClr val="EF4444"/>
                </a:solidFill>
                <a:latin typeface="Segoe UI"/>
              </a:rPr>
              <a:t>SUBSYSTEM DEEP-DIVE: MOBILE EDGE AI</a:t>
            </a:r>
          </a:p>
        </p:txBody>
      </p:sp>
      <p:sp>
        <p:nvSpPr>
          <p:cNvPr id="4" name="TextBox 3"/>
          <p:cNvSpPr txBox="1"/>
          <p:nvPr/>
        </p:nvSpPr>
        <p:spPr>
          <a:xfrm>
            <a:off x="731520" y="640080"/>
            <a:ext cx="10698480" cy="640080"/>
          </a:xfrm>
          <a:prstGeom prst="rect">
            <a:avLst/>
          </a:prstGeom>
          <a:noFill/>
        </p:spPr>
        <p:txBody>
          <a:bodyPr wrap="square" lIns="0" rIns="0" tIns="0" bIns="0">
            <a:spAutoFit/>
          </a:bodyPr>
          <a:lstStyle/>
          <a:p>
            <a:r>
              <a:rPr sz="2200" b="1">
                <a:solidFill>
                  <a:srgbClr val="F8FAFC"/>
                </a:solidFill>
                <a:latin typeface="Segoe UI"/>
              </a:rPr>
              <a:t>Citizen App: 18ms On-Device Kinematic Crash AI</a:t>
            </a:r>
          </a:p>
        </p:txBody>
      </p:sp>
      <p:sp>
        <p:nvSpPr>
          <p:cNvPr id="5" name="Rounded Rectangle 4"/>
          <p:cNvSpPr/>
          <p:nvPr/>
        </p:nvSpPr>
        <p:spPr>
          <a:xfrm>
            <a:off x="731520" y="1280160"/>
            <a:ext cx="5120640" cy="5212080"/>
          </a:xfrm>
          <a:prstGeom prst="roundRect">
            <a:avLst/>
          </a:prstGeom>
          <a:solidFill>
            <a:srgbClr val="0F172A"/>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4754880" cy="4937760"/>
          </a:xfrm>
          <a:prstGeom prst="rect">
            <a:avLst/>
          </a:prstGeom>
          <a:noFill/>
        </p:spPr>
        <p:txBody>
          <a:bodyPr wrap="square">
            <a:spAutoFit/>
          </a:bodyPr>
          <a:lstStyle/>
          <a:p>
            <a:r>
              <a:rPr sz="1300" b="1">
                <a:solidFill>
                  <a:srgbClr val="EF4444"/>
                </a:solidFill>
                <a:latin typeface="Segoe UI"/>
              </a:rPr>
              <a:t>ON-DEVICE INFERENCE ENGINE (TFLITE 1D-CNN)
</a:t>
            </a:r>
          </a:p>
          <a:p>
            <a:r>
              <a:rPr sz="1050" b="1">
                <a:solidFill>
                  <a:srgbClr val="38BDF8"/>
                </a:solidFill>
                <a:latin typeface="Segoe UI"/>
              </a:rPr>
              <a:t>Sub-20ms Inference Latency: </a:t>
            </a:r>
            <a:r>
              <a:rPr sz="1000" b="0">
                <a:solidFill>
                  <a:srgbClr val="E2E8F0"/>
                </a:solidFill>
                <a:latin typeface="Segoe UI"/>
              </a:rPr>
              <a:t>Runs entirely on-device via quantized TensorFlow Lite. Requires zero cellular network connection or cloud roundtrip to confirm a violent vehicular impact.</a:t>
            </a:r>
          </a:p>
          <a:p>
            <a:r>
              <a:rPr sz="1050" b="1">
                <a:solidFill>
                  <a:srgbClr val="38BDF8"/>
                </a:solidFill>
                <a:latin typeface="Segoe UI"/>
              </a:rPr>
              <a:t>Multi-Axis Sensor Fusion: </a:t>
            </a:r>
            <a:r>
              <a:rPr sz="1000" b="0">
                <a:solidFill>
                  <a:srgbClr val="E2E8F0"/>
                </a:solidFill>
                <a:latin typeface="Segoe UI"/>
              </a:rPr>
              <a:t>Fuses continuous 100Hz tri-axial accelerometer (±16G range), gyroscope (angular momentum), and GPS speed drop to distinguish severe crashes from everyday drops.</a:t>
            </a:r>
          </a:p>
          <a:p>
            <a:r>
              <a:rPr sz="1050" b="1">
                <a:solidFill>
                  <a:srgbClr val="38BDF8"/>
                </a:solidFill>
                <a:latin typeface="Segoe UI"/>
              </a:rPr>
              <a:t>Zero False Alarm Guarantee: </a:t>
            </a:r>
            <a:r>
              <a:rPr sz="1000" b="0">
                <a:solidFill>
                  <a:srgbClr val="E2E8F0"/>
                </a:solidFill>
                <a:latin typeface="Segoe UI"/>
              </a:rPr>
              <a:t>High-frequency bandpass filtering and jerk derivative calculation (da/dt) ensure dropping a phone on concrete or braking sharply never triggers emergency dispatch.</a:t>
            </a:r>
          </a:p>
          <a:p>
            <a:r>
              <a:rPr sz="1050" b="1">
                <a:solidFill>
                  <a:srgbClr val="38BDF8"/>
                </a:solidFill>
                <a:latin typeface="Segoe UI"/>
              </a:rPr>
              <a:t>Immutable Deterministic Fallback: </a:t>
            </a:r>
            <a:r>
              <a:rPr sz="1000" b="0">
                <a:solidFill>
                  <a:srgbClr val="E2E8F0"/>
                </a:solidFill>
                <a:latin typeface="Segoe UI"/>
              </a:rPr>
              <a:t>If the neural network encounters corrupted tensor buffers or runtime initialization faults, an immutable physics-based rule engine guarantees detection reliability.</a:t>
            </a:r>
          </a:p>
          <a:p>
            <a:r>
              <a:rPr sz="1050" b="1">
                <a:solidFill>
                  <a:srgbClr val="38BDF8"/>
                </a:solidFill>
                <a:latin typeface="Segoe UI"/>
              </a:rPr>
              <a:t>Offline Broadcast Queue: </a:t>
            </a:r>
            <a:r>
              <a:rPr sz="1000" b="0">
                <a:solidFill>
                  <a:srgbClr val="E2E8F0"/>
                </a:solidFill>
                <a:latin typeface="Segoe UI"/>
              </a:rPr>
              <a:t>Local SQLite cache with auto-retry background SMS if network offline.</a:t>
            </a:r>
          </a:p>
        </p:txBody>
      </p:sp>
      <p:sp>
        <p:nvSpPr>
          <p:cNvPr id="7" name="Rounded Rectangle 6"/>
          <p:cNvSpPr/>
          <p:nvPr/>
        </p:nvSpPr>
        <p:spPr>
          <a:xfrm>
            <a:off x="6035040" y="1280160"/>
            <a:ext cx="2651760" cy="521208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creenshot_citizen_guard.png"/>
          <p:cNvPicPr>
            <a:picLocks noChangeAspect="1"/>
          </p:cNvPicPr>
          <p:nvPr/>
        </p:nvPicPr>
        <p:blipFill>
          <a:blip r:embed="rId2"/>
          <a:stretch>
            <a:fillRect/>
          </a:stretch>
        </p:blipFill>
        <p:spPr>
          <a:xfrm>
            <a:off x="6217920" y="1417320"/>
            <a:ext cx="2370125" cy="4937760"/>
          </a:xfrm>
          <a:prstGeom prst="rect">
            <a:avLst/>
          </a:prstGeom>
        </p:spPr>
      </p:pic>
      <p:sp>
        <p:nvSpPr>
          <p:cNvPr id="9" name="Rounded Rectangle 8"/>
          <p:cNvSpPr/>
          <p:nvPr/>
        </p:nvSpPr>
        <p:spPr>
          <a:xfrm>
            <a:off x="8869680" y="1280160"/>
            <a:ext cx="2590495" cy="5212080"/>
          </a:xfrm>
          <a:prstGeom prst="roundRect">
            <a:avLst/>
          </a:prstGeom>
          <a:solidFill>
            <a:srgbClr val="0F172A"/>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06840" y="1417320"/>
            <a:ext cx="2316175" cy="4937760"/>
          </a:xfrm>
          <a:prstGeom prst="rect">
            <a:avLst/>
          </a:prstGeom>
          <a:noFill/>
        </p:spPr>
        <p:txBody>
          <a:bodyPr wrap="square">
            <a:spAutoFit/>
          </a:bodyPr>
          <a:lstStyle/>
          <a:p>
            <a:r>
              <a:rPr sz="1100" b="1">
                <a:solidFill>
                  <a:srgbClr val="10B981"/>
                </a:solidFill>
                <a:latin typeface="Segoe UI"/>
              </a:rPr>
              <a:t>EDGE BENCHMARKS &amp; TELEMETRY
</a:t>
            </a:r>
          </a:p>
          <a:p>
            <a:r>
              <a:rPr sz="950" b="1">
                <a:solidFill>
                  <a:srgbClr val="F59E0B"/>
                </a:solidFill>
                <a:latin typeface="Segoe UI"/>
              </a:rPr>
              <a:t>Sampling Rate:
</a:t>
            </a:r>
            <a:r>
              <a:rPr sz="1000" b="0">
                <a:solidFill>
                  <a:srgbClr val="F8FAFC"/>
                </a:solidFill>
                <a:latin typeface="Segoe UI"/>
              </a:rPr>
              <a:t>100 Hz Continuous Stream</a:t>
            </a:r>
          </a:p>
          <a:p>
            <a:r>
              <a:rPr sz="950" b="1">
                <a:solidFill>
                  <a:srgbClr val="F59E0B"/>
                </a:solidFill>
                <a:latin typeface="Segoe UI"/>
              </a:rPr>
              <a:t>Model Size:
</a:t>
            </a:r>
            <a:r>
              <a:rPr sz="1000" b="0">
                <a:solidFill>
                  <a:srgbClr val="F8FAFC"/>
                </a:solidFill>
                <a:latin typeface="Segoe UI"/>
              </a:rPr>
              <a:t>42 KB (INT8 Quantized 1D-CNN)</a:t>
            </a:r>
          </a:p>
          <a:p>
            <a:r>
              <a:rPr sz="950" b="1">
                <a:solidFill>
                  <a:srgbClr val="F59E0B"/>
                </a:solidFill>
                <a:latin typeface="Segoe UI"/>
              </a:rPr>
              <a:t>Inference Execution:
</a:t>
            </a:r>
            <a:r>
              <a:rPr sz="1000" b="0">
                <a:solidFill>
                  <a:srgbClr val="F8FAFC"/>
                </a:solidFill>
                <a:latin typeface="Segoe UI"/>
              </a:rPr>
              <a:t>18.2 ms on Snapdragon 680</a:t>
            </a:r>
          </a:p>
          <a:p>
            <a:r>
              <a:rPr sz="950" b="1">
                <a:solidFill>
                  <a:srgbClr val="F59E0B"/>
                </a:solidFill>
                <a:latin typeface="Segoe UI"/>
              </a:rPr>
              <a:t>Battery Drain:
</a:t>
            </a:r>
            <a:r>
              <a:rPr sz="1000" b="0">
                <a:solidFill>
                  <a:srgbClr val="F8FAFC"/>
                </a:solidFill>
                <a:latin typeface="Segoe UI"/>
              </a:rPr>
              <a:t>&lt; 1.4% per 8 hrs monitor</a:t>
            </a:r>
          </a:p>
          <a:p>
            <a:r>
              <a:rPr sz="950" b="1">
                <a:solidFill>
                  <a:srgbClr val="F59E0B"/>
                </a:solidFill>
                <a:latin typeface="Segoe UI"/>
              </a:rPr>
              <a:t>Peak Decel Threshold:
</a:t>
            </a:r>
            <a:r>
              <a:rPr sz="1000" b="0">
                <a:solidFill>
                  <a:srgbClr val="F8FAFC"/>
                </a:solidFill>
                <a:latin typeface="Segoe UI"/>
              </a:rPr>
              <a:t>&gt; 6.5 G Sudden Deceleration</a:t>
            </a:r>
          </a:p>
          <a:p>
            <a:r>
              <a:rPr sz="950" b="1">
                <a:solidFill>
                  <a:srgbClr val="F59E0B"/>
                </a:solidFill>
                <a:latin typeface="Segoe UI"/>
              </a:rPr>
              <a:t>Ayushman Bharat:
</a:t>
            </a:r>
            <a:r>
              <a:rPr sz="1000" b="0">
                <a:solidFill>
                  <a:srgbClr val="F8FAFC"/>
                </a:solidFill>
                <a:latin typeface="Segoe UI"/>
              </a:rPr>
              <a:t>Verified ABHA ID Synced</a:t>
            </a:r>
          </a:p>
          <a:p>
            <a:r>
              <a:rPr sz="950" b="1">
                <a:solidFill>
                  <a:srgbClr val="F59E0B"/>
                </a:solidFill>
                <a:latin typeface="Segoe UI"/>
              </a:rPr>
              <a:t>Platform Support:
</a:t>
            </a:r>
            <a:r>
              <a:rPr sz="1000" b="0">
                <a:solidFill>
                  <a:srgbClr val="F8FAFC"/>
                </a:solidFill>
                <a:latin typeface="Segoe UI"/>
              </a:rPr>
              <a:t>Android 8.0+ &amp; iOS 14.0+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rIns="0" tIns="0" bIns="0">
            <a:spAutoFit/>
          </a:bodyPr>
          <a:lstStyle/>
          <a:p>
            <a:r>
              <a:rPr sz="1100" b="1">
                <a:solidFill>
                  <a:srgbClr val="EF4444"/>
                </a:solidFill>
                <a:latin typeface="Segoe UI"/>
              </a:rPr>
              <a:t>SUBSYSTEM DEEP-DIVE: AUTONOMOUS DISPATCH</a:t>
            </a:r>
          </a:p>
        </p:txBody>
      </p:sp>
      <p:sp>
        <p:nvSpPr>
          <p:cNvPr id="4" name="TextBox 3"/>
          <p:cNvSpPr txBox="1"/>
          <p:nvPr/>
        </p:nvSpPr>
        <p:spPr>
          <a:xfrm>
            <a:off x="731520" y="640080"/>
            <a:ext cx="10698480" cy="640080"/>
          </a:xfrm>
          <a:prstGeom prst="rect">
            <a:avLst/>
          </a:prstGeom>
          <a:noFill/>
        </p:spPr>
        <p:txBody>
          <a:bodyPr wrap="square" lIns="0" rIns="0" tIns="0" bIns="0">
            <a:spAutoFit/>
          </a:bodyPr>
          <a:lstStyle/>
          <a:p>
            <a:r>
              <a:rPr sz="2200" b="1">
                <a:solidFill>
                  <a:srgbClr val="F8FAFC"/>
                </a:solidFill>
                <a:latin typeface="Segoe UI"/>
              </a:rPr>
              <a:t>Citizen App: 15-Second Zero-Touch Unconscious Failsafe</a:t>
            </a:r>
          </a:p>
        </p:txBody>
      </p:sp>
      <p:sp>
        <p:nvSpPr>
          <p:cNvPr id="5" name="Rounded Rectangle 4"/>
          <p:cNvSpPr/>
          <p:nvPr/>
        </p:nvSpPr>
        <p:spPr>
          <a:xfrm>
            <a:off x="731520" y="1280160"/>
            <a:ext cx="2523744" cy="2651760"/>
          </a:xfrm>
          <a:prstGeom prst="roundRect">
            <a:avLst/>
          </a:prstGeom>
          <a:solidFill>
            <a:srgbClr val="0F172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1371600"/>
            <a:ext cx="2304288" cy="2468880"/>
          </a:xfrm>
          <a:prstGeom prst="rect">
            <a:avLst/>
          </a:prstGeom>
          <a:noFill/>
        </p:spPr>
        <p:txBody>
          <a:bodyPr wrap="square">
            <a:spAutoFit/>
          </a:bodyPr>
          <a:lstStyle/>
          <a:p>
            <a:r>
              <a:rPr sz="1200" b="1">
                <a:solidFill>
                  <a:srgbClr val="F59E0B"/>
                </a:solidFill>
                <a:latin typeface="Segoe UI"/>
              </a:rPr>
              <a:t>Phase 1: High-Decibel Alert</a:t>
            </a:r>
          </a:p>
          <a:p>
            <a:r>
              <a:rPr sz="1000" b="0">
                <a:solidFill>
                  <a:srgbClr val="E2E8F0"/>
                </a:solidFill>
                <a:latin typeface="Segoe UI"/>
              </a:rPr>
              <a:t>• 100 dB high-pitch siren overrides silent mode
• Continuous haptic vibration pulsation
• High-contrast red/black alert banner displayed
• Full screen wakelock engages device display</a:t>
            </a:r>
          </a:p>
        </p:txBody>
      </p:sp>
      <p:sp>
        <p:nvSpPr>
          <p:cNvPr id="7" name="Rounded Rectangle 6"/>
          <p:cNvSpPr/>
          <p:nvPr/>
        </p:nvSpPr>
        <p:spPr>
          <a:xfrm>
            <a:off x="3401568" y="1280160"/>
            <a:ext cx="2523744" cy="2651760"/>
          </a:xfrm>
          <a:prstGeom prst="roundRect">
            <a:avLst/>
          </a:prstGeom>
          <a:solidFill>
            <a:srgbClr val="0F172A"/>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11296" y="1371600"/>
            <a:ext cx="2304288" cy="2468880"/>
          </a:xfrm>
          <a:prstGeom prst="rect">
            <a:avLst/>
          </a:prstGeom>
          <a:noFill/>
        </p:spPr>
        <p:txBody>
          <a:bodyPr wrap="square">
            <a:spAutoFit/>
          </a:bodyPr>
          <a:lstStyle/>
          <a:p>
            <a:r>
              <a:rPr sz="1200" b="1">
                <a:solidFill>
                  <a:srgbClr val="EF4444"/>
                </a:solidFill>
                <a:latin typeface="Segoe UI"/>
              </a:rPr>
              <a:t>Phase 2: 15s Countdown Ring</a:t>
            </a:r>
          </a:p>
          <a:p>
            <a:r>
              <a:rPr sz="1000" b="0">
                <a:solidFill>
                  <a:srgbClr val="E2E8F0"/>
                </a:solidFill>
                <a:latin typeface="Segoe UI"/>
              </a:rPr>
              <a:t>• Animated circular timer gives conscious user control
• Prominent 'I'M OK — CANCEL SOS' touch target
• Prevents accidental alerts if car stopped safely
• Requires single deliberate tap to dismiss</a:t>
            </a:r>
          </a:p>
        </p:txBody>
      </p:sp>
      <p:sp>
        <p:nvSpPr>
          <p:cNvPr id="9" name="Rounded Rectangle 8"/>
          <p:cNvSpPr/>
          <p:nvPr/>
        </p:nvSpPr>
        <p:spPr>
          <a:xfrm>
            <a:off x="6071616" y="1280160"/>
            <a:ext cx="2523744" cy="265176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81344" y="1371600"/>
            <a:ext cx="2304288" cy="2468880"/>
          </a:xfrm>
          <a:prstGeom prst="rect">
            <a:avLst/>
          </a:prstGeom>
          <a:noFill/>
        </p:spPr>
        <p:txBody>
          <a:bodyPr wrap="square">
            <a:spAutoFit/>
          </a:bodyPr>
          <a:lstStyle/>
          <a:p>
            <a:r>
              <a:rPr sz="1200" b="1">
                <a:solidFill>
                  <a:srgbClr val="10B981"/>
                </a:solidFill>
                <a:latin typeface="Segoe UI"/>
              </a:rPr>
              <a:t>Phase 3: Zero-Touch Auto-Dispatch</a:t>
            </a:r>
          </a:p>
          <a:p>
            <a:r>
              <a:rPr sz="1000" b="0">
                <a:solidFill>
                  <a:srgbClr val="E2E8F0"/>
                </a:solidFill>
                <a:latin typeface="Segoe UI"/>
              </a:rPr>
              <a:t>• If user is unconscious, countdown completes
• Autonomous POST dispatch to Rakshak Cloud API
• Transmits sub-meter GPS coordinates &amp; speed drop
• Sends dual-SIM background SMS to family with live map</a:t>
            </a:r>
          </a:p>
        </p:txBody>
      </p:sp>
      <p:sp>
        <p:nvSpPr>
          <p:cNvPr id="11" name="Rounded Rectangle 10"/>
          <p:cNvSpPr/>
          <p:nvPr/>
        </p:nvSpPr>
        <p:spPr>
          <a:xfrm>
            <a:off x="731520" y="4069080"/>
            <a:ext cx="7863840" cy="2423160"/>
          </a:xfrm>
          <a:prstGeom prst="roundRect">
            <a:avLst/>
          </a:prstGeom>
          <a:solidFill>
            <a:srgbClr val="0F17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206240"/>
            <a:ext cx="7498079" cy="2148840"/>
          </a:xfrm>
          <a:prstGeom prst="rect">
            <a:avLst/>
          </a:prstGeom>
          <a:noFill/>
        </p:spPr>
        <p:txBody>
          <a:bodyPr wrap="square">
            <a:spAutoFit/>
          </a:bodyPr>
          <a:lstStyle/>
          <a:p>
            <a:r>
              <a:rPr sz="1200" b="1">
                <a:solidFill>
                  <a:srgbClr val="38BDF8"/>
                </a:solidFill>
                <a:latin typeface="Segoe UI"/>
              </a:rPr>
              <a:t>THE CRITICAL VALUE OF ZERO-TOUCH DISPATCH:
</a:t>
            </a:r>
          </a:p>
          <a:p>
            <a:r>
              <a:rPr sz="1050" b="0">
                <a:solidFill>
                  <a:srgbClr val="F8FAFC"/>
                </a:solidFill>
                <a:latin typeface="Segoe UI"/>
              </a:rPr>
              <a:t>In 68% of high-speed rollover collisions, drivers suffer concussions, traumatic head shock, or fractured upper extremities, making unlocking a smartphone physiologically impossible. Traditional emergency apps that require typing passwords or navigating menus fail completely in severe trauma. Rakshak-AI's zero-touch failsafe guarantees immediate medical activation without requiring the victim to be conscious.</a:t>
            </a:r>
          </a:p>
        </p:txBody>
      </p:sp>
      <p:sp>
        <p:nvSpPr>
          <p:cNvPr id="13" name="Rounded Rectangle 12"/>
          <p:cNvSpPr/>
          <p:nvPr/>
        </p:nvSpPr>
        <p:spPr>
          <a:xfrm>
            <a:off x="8778240" y="1280160"/>
            <a:ext cx="2681935" cy="5212080"/>
          </a:xfrm>
          <a:prstGeom prst="roundRect">
            <a:avLst/>
          </a:prstGeom>
          <a:solidFill>
            <a:srgbClr val="0F172A"/>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screenshot_citizen_countdown.png"/>
          <p:cNvPicPr>
            <a:picLocks noChangeAspect="1"/>
          </p:cNvPicPr>
          <p:nvPr/>
        </p:nvPicPr>
        <p:blipFill>
          <a:blip r:embed="rId2"/>
          <a:stretch>
            <a:fillRect/>
          </a:stretch>
        </p:blipFill>
        <p:spPr>
          <a:xfrm>
            <a:off x="8961120" y="1417320"/>
            <a:ext cx="2370125" cy="493776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rIns="0" tIns="0" bIns="0">
            <a:spAutoFit/>
          </a:bodyPr>
          <a:lstStyle/>
          <a:p>
            <a:r>
              <a:rPr sz="1100" b="1">
                <a:solidFill>
                  <a:srgbClr val="10B981"/>
                </a:solidFill>
                <a:latin typeface="Segoe UI"/>
              </a:rPr>
              <a:t>SUBSYSTEM DEEP-DIVE: TRAFFIC GRID V2I</a:t>
            </a:r>
          </a:p>
        </p:txBody>
      </p:sp>
      <p:sp>
        <p:nvSpPr>
          <p:cNvPr id="4" name="TextBox 3"/>
          <p:cNvSpPr txBox="1"/>
          <p:nvPr/>
        </p:nvSpPr>
        <p:spPr>
          <a:xfrm>
            <a:off x="731520" y="640080"/>
            <a:ext cx="10698480" cy="640080"/>
          </a:xfrm>
          <a:prstGeom prst="rect">
            <a:avLst/>
          </a:prstGeom>
          <a:noFill/>
        </p:spPr>
        <p:txBody>
          <a:bodyPr wrap="square" lIns="0" rIns="0" tIns="0" bIns="0">
            <a:spAutoFit/>
          </a:bodyPr>
          <a:lstStyle/>
          <a:p>
            <a:r>
              <a:rPr sz="2200" b="1">
                <a:solidFill>
                  <a:srgbClr val="F8FAFC"/>
                </a:solidFill>
                <a:latin typeface="Segoe UI"/>
              </a:rPr>
              <a:t>Autonomous AI Green Corridor &amp; Dynamic Signal Preemption</a:t>
            </a:r>
          </a:p>
        </p:txBody>
      </p:sp>
      <p:sp>
        <p:nvSpPr>
          <p:cNvPr id="5" name="Rounded Rectangle 4"/>
          <p:cNvSpPr/>
          <p:nvPr/>
        </p:nvSpPr>
        <p:spPr>
          <a:xfrm>
            <a:off x="731520" y="1280160"/>
            <a:ext cx="4754880" cy="521208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4389120" cy="4937760"/>
          </a:xfrm>
          <a:prstGeom prst="rect">
            <a:avLst/>
          </a:prstGeom>
          <a:noFill/>
        </p:spPr>
        <p:txBody>
          <a:bodyPr wrap="square">
            <a:spAutoFit/>
          </a:bodyPr>
          <a:lstStyle/>
          <a:p>
            <a:r>
              <a:rPr sz="1200" b="1">
                <a:solidFill>
                  <a:srgbClr val="10B981"/>
                </a:solidFill>
                <a:latin typeface="Segoe UI"/>
              </a:rPr>
              <a:t>EMERGENCY VEHICLE PREEMPTION (EVP / C-V2X)
</a:t>
            </a:r>
          </a:p>
          <a:p>
            <a:r>
              <a:rPr sz="1050" b="1">
                <a:solidFill>
                  <a:srgbClr val="38BDF8"/>
                </a:solidFill>
                <a:latin typeface="Segoe UI"/>
              </a:rPr>
              <a:t>950-Meter Radar Geofence: </a:t>
            </a:r>
            <a:r>
              <a:rPr sz="1000" b="0">
                <a:solidFill>
                  <a:srgbClr val="E2E8F0"/>
                </a:solidFill>
                <a:latin typeface="Segoe UI"/>
              </a:rPr>
              <a:t>Projects advance vector cone. ITMS receives authenticated C-V2X preemption command at 950m out.</a:t>
            </a:r>
          </a:p>
          <a:p>
            <a:r>
              <a:rPr sz="1050" b="1">
                <a:solidFill>
                  <a:srgbClr val="38BDF8"/>
                </a:solidFill>
                <a:latin typeface="Segoe UI"/>
              </a:rPr>
              <a:t>45-Second Advance Green Wave: </a:t>
            </a:r>
            <a:r>
              <a:rPr sz="1000" b="0">
                <a:solidFill>
                  <a:srgbClr val="E2E8F0"/>
                </a:solidFill>
                <a:latin typeface="Segoe UI"/>
              </a:rPr>
              <a:t>Clears conflicting phases safely through standard yellow clearance intervals, turning SOLID GREEN 45s before arrival.</a:t>
            </a:r>
          </a:p>
          <a:p>
            <a:r>
              <a:rPr sz="1050" b="1">
                <a:solidFill>
                  <a:srgbClr val="38BDF8"/>
                </a:solidFill>
                <a:latin typeface="Segoe UI"/>
              </a:rPr>
              <a:t>Zero Stoppage Transit Velocity: </a:t>
            </a:r>
            <a:r>
              <a:rPr sz="1000" b="0">
                <a:solidFill>
                  <a:srgbClr val="E2E8F0"/>
                </a:solidFill>
                <a:latin typeface="Segoe UI"/>
              </a:rPr>
              <a:t>Eliminates crawling through red lights; enables steady, safe transit at 60-70 km/h.</a:t>
            </a:r>
          </a:p>
          <a:p>
            <a:r>
              <a:rPr sz="1050" b="1">
                <a:solidFill>
                  <a:srgbClr val="38BDF8"/>
                </a:solidFill>
                <a:latin typeface="Segoe UI"/>
              </a:rPr>
              <a:t>NTCIP 1202 Standard: </a:t>
            </a:r>
            <a:r>
              <a:rPr sz="1000" b="0">
                <a:solidFill>
                  <a:srgbClr val="E2E8F0"/>
                </a:solidFill>
                <a:latin typeface="Segoe UI"/>
              </a:rPr>
              <a:t>Directly compatible with Bengaluru B-TRAC and Indian Smart City traffic controllers.</a:t>
            </a:r>
          </a:p>
          <a:p>
            <a:r>
              <a:rPr sz="1050" b="1">
                <a:solidFill>
                  <a:srgbClr val="38BDF8"/>
                </a:solidFill>
                <a:latin typeface="Segoe UI"/>
              </a:rPr>
              <a:t>YOLOv8 Municipal Edge Detection: </a:t>
            </a:r>
            <a:r>
              <a:rPr sz="1000" b="0">
                <a:solidFill>
                  <a:srgbClr val="E2E8F0"/>
                </a:solidFill>
                <a:latin typeface="Segoe UI"/>
              </a:rPr>
              <a:t>CCTV cameras analyze intersection lane density and queue lengths in real-time.</a:t>
            </a:r>
          </a:p>
          <a:p>
            <a:r>
              <a:rPr sz="1050" b="1">
                <a:solidFill>
                  <a:srgbClr val="38BDF8"/>
                </a:solidFill>
                <a:latin typeface="Segoe UI"/>
              </a:rPr>
              <a:t>Dynamic A* Bottleneck Bypass: </a:t>
            </a:r>
            <a:r>
              <a:rPr sz="1000" b="0">
                <a:solidFill>
                  <a:srgbClr val="E2E8F0"/>
                </a:solidFill>
                <a:latin typeface="Segoe UI"/>
              </a:rPr>
              <a:t>Detects 89% choke on 100ft Road and routes ambulance via Old Airport Road (-4.2 min saved).</a:t>
            </a:r>
          </a:p>
        </p:txBody>
      </p:sp>
      <p:pic>
        <p:nvPicPr>
          <p:cNvPr id="7" name="Picture 6" descr="screenshot_ambulance_claim.png"/>
          <p:cNvPicPr>
            <a:picLocks noChangeAspect="1"/>
          </p:cNvPicPr>
          <p:nvPr/>
        </p:nvPicPr>
        <p:blipFill>
          <a:blip r:embed="rId2"/>
          <a:stretch>
            <a:fillRect/>
          </a:stretch>
        </p:blipFill>
        <p:spPr>
          <a:xfrm>
            <a:off x="5669280" y="1280160"/>
            <a:ext cx="5790895" cy="3764082"/>
          </a:xfrm>
          <a:prstGeom prst="rect">
            <a:avLst/>
          </a:prstGeom>
        </p:spPr>
      </p:pic>
      <p:sp>
        <p:nvSpPr>
          <p:cNvPr id="8" name="Rounded Rectangle 7"/>
          <p:cNvSpPr/>
          <p:nvPr/>
        </p:nvSpPr>
        <p:spPr>
          <a:xfrm>
            <a:off x="5669280" y="5120640"/>
            <a:ext cx="5790895" cy="1371600"/>
          </a:xfrm>
          <a:prstGeom prst="roundRect">
            <a:avLst/>
          </a:prstGeom>
          <a:solidFill>
            <a:srgbClr val="0F17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06440" y="5212080"/>
            <a:ext cx="5516575" cy="1188720"/>
          </a:xfrm>
          <a:prstGeom prst="rect">
            <a:avLst/>
          </a:prstGeom>
          <a:noFill/>
        </p:spPr>
        <p:txBody>
          <a:bodyPr wrap="square">
            <a:spAutoFit/>
          </a:bodyPr>
          <a:lstStyle/>
          <a:p>
            <a:r>
              <a:rPr sz="1100" b="1">
                <a:solidFill>
                  <a:srgbClr val="38BDF8"/>
                </a:solidFill>
                <a:latin typeface="Segoe UI"/>
              </a:rPr>
              <a:t>AMBULANCE EMS CONSOLE: 1-TAP ATOMIC CASE CLAIMING
</a:t>
            </a:r>
          </a:p>
          <a:p>
            <a:r>
              <a:rPr sz="1000" b="0">
                <a:solidFill>
                  <a:srgbClr val="F8FAFC"/>
                </a:solidFill>
                <a:latin typeface="Segoe UI"/>
              </a:rPr>
              <a:t>Incident #4d4ea69d claimed with PostgreSQL row-level locks. Pre-loads T1 Polytrauma severity, PINN Biomechanics (ISS 26), and verified ABHA vault before wheels roll.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rIns="0" tIns="0" bIns="0">
            <a:spAutoFit/>
          </a:bodyPr>
          <a:lstStyle/>
          <a:p>
            <a:r>
              <a:rPr sz="1100" b="1">
                <a:solidFill>
                  <a:srgbClr val="38BDF8"/>
                </a:solidFill>
                <a:latin typeface="Segoe UI"/>
              </a:rPr>
              <a:t>SUBSYSTEM DEEP-DIVE: POLICE OPS</a:t>
            </a:r>
          </a:p>
        </p:txBody>
      </p:sp>
      <p:sp>
        <p:nvSpPr>
          <p:cNvPr id="4" name="TextBox 3"/>
          <p:cNvSpPr txBox="1"/>
          <p:nvPr/>
        </p:nvSpPr>
        <p:spPr>
          <a:xfrm>
            <a:off x="731520" y="640080"/>
            <a:ext cx="10698480" cy="640080"/>
          </a:xfrm>
          <a:prstGeom prst="rect">
            <a:avLst/>
          </a:prstGeom>
          <a:noFill/>
        </p:spPr>
        <p:txBody>
          <a:bodyPr wrap="square" lIns="0" rIns="0" tIns="0" bIns="0">
            <a:spAutoFit/>
          </a:bodyPr>
          <a:lstStyle/>
          <a:p>
            <a:r>
              <a:rPr sz="2200" b="1">
                <a:solidFill>
                  <a:srgbClr val="F8FAFC"/>
                </a:solidFill>
                <a:latin typeface="Segoe UI"/>
              </a:rPr>
              <a:t>Central Police &amp; ITMS Command: City-Wide Tactical Map</a:t>
            </a:r>
          </a:p>
        </p:txBody>
      </p:sp>
      <p:sp>
        <p:nvSpPr>
          <p:cNvPr id="5" name="Rounded Rectangle 4"/>
          <p:cNvSpPr/>
          <p:nvPr/>
        </p:nvSpPr>
        <p:spPr>
          <a:xfrm>
            <a:off x="731520" y="1280160"/>
            <a:ext cx="4754880" cy="5212080"/>
          </a:xfrm>
          <a:prstGeom prst="roundRect">
            <a:avLst/>
          </a:prstGeom>
          <a:solidFill>
            <a:srgbClr val="0F17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4389120" cy="4937760"/>
          </a:xfrm>
          <a:prstGeom prst="rect">
            <a:avLst/>
          </a:prstGeom>
          <a:noFill/>
        </p:spPr>
        <p:txBody>
          <a:bodyPr wrap="square">
            <a:spAutoFit/>
          </a:bodyPr>
          <a:lstStyle/>
          <a:p>
            <a:r>
              <a:rPr sz="1200" b="1">
                <a:solidFill>
                  <a:srgbClr val="38BDF8"/>
                </a:solidFill>
                <a:latin typeface="Segoe UI"/>
              </a:rPr>
              <a:t>TACTICAL POLICE DISPATCH &amp; ITMS COMMAND
</a:t>
            </a:r>
          </a:p>
          <a:p>
            <a:r>
              <a:rPr sz="1050" b="1">
                <a:solidFill>
                  <a:srgbClr val="F8FAFC"/>
                </a:solidFill>
                <a:latin typeface="Segoe UI"/>
              </a:rPr>
              <a:t>Sub-Second Geohash Fanout: </a:t>
            </a:r>
            <a:r>
              <a:rPr sz="1000" b="0">
                <a:solidFill>
                  <a:srgbClr val="94A3B8"/>
                </a:solidFill>
                <a:latin typeface="Segoe UI"/>
              </a:rPr>
              <a:t>Instant PostGIS spatial query pinpoints accident scene on the city map within 300ms of crash detection.</a:t>
            </a:r>
          </a:p>
          <a:p>
            <a:r>
              <a:rPr sz="1050" b="1">
                <a:solidFill>
                  <a:srgbClr val="F8FAFC"/>
                </a:solidFill>
                <a:latin typeface="Segoe UI"/>
              </a:rPr>
              <a:t>Automated PCR Cruiser Deployment: </a:t>
            </a:r>
            <a:r>
              <a:rPr sz="1000" b="0">
                <a:solidFill>
                  <a:srgbClr val="94A3B8"/>
                </a:solidFill>
                <a:latin typeface="Segoe UI"/>
              </a:rPr>
              <a:t>Identifies nearest Police Control Room patrol vehicle (KA-01-G-404) and dispatches it immediately to secure the crash scene.</a:t>
            </a:r>
          </a:p>
          <a:p>
            <a:r>
              <a:rPr sz="1050" b="1">
                <a:solidFill>
                  <a:srgbClr val="F8FAFC"/>
                </a:solidFill>
                <a:latin typeface="Segoe UI"/>
              </a:rPr>
              <a:t>Crash Scene Cordon &amp; Crowd Control: </a:t>
            </a:r>
            <a:r>
              <a:rPr sz="1000" b="0">
                <a:solidFill>
                  <a:srgbClr val="94A3B8"/>
                </a:solidFill>
                <a:latin typeface="Segoe UI"/>
              </a:rPr>
              <a:t>Enables police to arrive within 2-3 minutes to secure evidence, manage bystander crowds, and clear incoming lanes for the ambulance.</a:t>
            </a:r>
          </a:p>
          <a:p>
            <a:r>
              <a:rPr sz="1050" b="1">
                <a:solidFill>
                  <a:srgbClr val="F8FAFC"/>
                </a:solidFill>
                <a:latin typeface="Segoe UI"/>
              </a:rPr>
              <a:t>RBAC-Protected Audit Logging: </a:t>
            </a:r>
            <a:r>
              <a:rPr sz="1000" b="0">
                <a:solidFill>
                  <a:srgbClr val="94A3B8"/>
                </a:solidFill>
                <a:latin typeface="Segoe UI"/>
              </a:rPr>
              <a:t>Every dispatch action, timestamp, and route update is immutably logged with JWT security tokens for legal forensics.</a:t>
            </a:r>
          </a:p>
          <a:p>
            <a:r>
              <a:rPr sz="1050" b="1">
                <a:solidFill>
                  <a:srgbClr val="F8FAFC"/>
                </a:solidFill>
                <a:latin typeface="Segoe UI"/>
              </a:rPr>
              <a:t>React-Leaflet GIS Map: </a:t>
            </a:r>
            <a:r>
              <a:rPr sz="1000" b="0">
                <a:solidFill>
                  <a:srgbClr val="94A3B8"/>
                </a:solidFill>
                <a:latin typeface="Segoe UI"/>
              </a:rPr>
              <a:t>Live OpenStreetMap dark-mode overlay displaying Bengaluru trauma hospitals, active incidents, and moving cruisers.</a:t>
            </a:r>
          </a:p>
          <a:p>
            <a:r>
              <a:rPr sz="1050" b="1">
                <a:solidFill>
                  <a:srgbClr val="F8FAFC"/>
                </a:solidFill>
                <a:latin typeface="Segoe UI"/>
              </a:rPr>
              <a:t>C-V2X Status Indicators: </a:t>
            </a:r>
            <a:r>
              <a:rPr sz="1000" b="0">
                <a:solidFill>
                  <a:srgbClr val="94A3B8"/>
                </a:solidFill>
                <a:latin typeface="Segoe UI"/>
              </a:rPr>
              <a:t>Real-time junction icons indicating green preemption status (Active, Yellow Clearance, Normal Cycling).</a:t>
            </a:r>
          </a:p>
        </p:txBody>
      </p:sp>
      <p:pic>
        <p:nvPicPr>
          <p:cNvPr id="7" name="Picture 6" descr="screenshot_police_dashboard.png"/>
          <p:cNvPicPr>
            <a:picLocks noChangeAspect="1"/>
          </p:cNvPicPr>
          <p:nvPr/>
        </p:nvPicPr>
        <p:blipFill>
          <a:blip r:embed="rId2"/>
          <a:stretch>
            <a:fillRect/>
          </a:stretch>
        </p:blipFill>
        <p:spPr>
          <a:xfrm>
            <a:off x="5669280" y="1280160"/>
            <a:ext cx="5790895" cy="3378022"/>
          </a:xfrm>
          <a:prstGeom prst="rect">
            <a:avLst/>
          </a:prstGeom>
        </p:spPr>
      </p:pic>
      <p:sp>
        <p:nvSpPr>
          <p:cNvPr id="8" name="Rounded Rectangle 7"/>
          <p:cNvSpPr/>
          <p:nvPr/>
        </p:nvSpPr>
        <p:spPr>
          <a:xfrm>
            <a:off x="5669280" y="4754880"/>
            <a:ext cx="5790895" cy="173736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06440" y="4846320"/>
            <a:ext cx="5516575" cy="1554480"/>
          </a:xfrm>
          <a:prstGeom prst="rect">
            <a:avLst/>
          </a:prstGeom>
          <a:noFill/>
        </p:spPr>
        <p:txBody>
          <a:bodyPr wrap="square">
            <a:spAutoFit/>
          </a:bodyPr>
          <a:lstStyle/>
          <a:p>
            <a:r>
              <a:rPr sz="1100" b="1">
                <a:solidFill>
                  <a:srgbClr val="10B981"/>
                </a:solidFill>
                <a:latin typeface="Segoe UI"/>
              </a:rPr>
              <a:t>POLICE COMMAND WORKSTATION (BENGALURU PILOT)
</a:t>
            </a:r>
          </a:p>
          <a:p>
            <a:r>
              <a:rPr sz="1000" b="0">
                <a:solidFill>
                  <a:srgbClr val="F8FAFC"/>
                </a:solidFill>
                <a:latin typeface="Segoe UI"/>
              </a:rPr>
              <a:t>Live incident #4d4ea69d at Indiranagar 100ft Rd. PCR cruiser KA-01-G-404 deployed. CCTV Edge Vision flags 89% choke density, triggering automatic green corridor clearance and A* bottleneck bypass.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rIns="0" tIns="0" bIns="0">
            <a:spAutoFit/>
          </a:bodyPr>
          <a:lstStyle/>
          <a:p>
            <a:r>
              <a:rPr sz="1100" b="1">
                <a:solidFill>
                  <a:srgbClr val="10B981"/>
                </a:solidFill>
                <a:latin typeface="Segoe UI"/>
              </a:rPr>
              <a:t>SUBSYSTEM DEEP-DIVE: AMBULANCE EMS</a:t>
            </a:r>
          </a:p>
        </p:txBody>
      </p:sp>
      <p:sp>
        <p:nvSpPr>
          <p:cNvPr id="4" name="TextBox 3"/>
          <p:cNvSpPr txBox="1"/>
          <p:nvPr/>
        </p:nvSpPr>
        <p:spPr>
          <a:xfrm>
            <a:off x="731520" y="640080"/>
            <a:ext cx="10698480" cy="640080"/>
          </a:xfrm>
          <a:prstGeom prst="rect">
            <a:avLst/>
          </a:prstGeom>
          <a:noFill/>
        </p:spPr>
        <p:txBody>
          <a:bodyPr wrap="square" lIns="0" rIns="0" tIns="0" bIns="0">
            <a:spAutoFit/>
          </a:bodyPr>
          <a:lstStyle/>
          <a:p>
            <a:r>
              <a:rPr sz="2200" b="1">
                <a:solidFill>
                  <a:srgbClr val="F8FAFC"/>
                </a:solidFill>
                <a:latin typeface="Segoe UI"/>
              </a:rPr>
              <a:t>Ambulance Cockpit Console: 1-Tap Claiming &amp; High-Speed HUD</a:t>
            </a:r>
          </a:p>
        </p:txBody>
      </p:sp>
      <p:sp>
        <p:nvSpPr>
          <p:cNvPr id="5" name="Rounded Rectangle 4"/>
          <p:cNvSpPr/>
          <p:nvPr/>
        </p:nvSpPr>
        <p:spPr>
          <a:xfrm>
            <a:off x="731520" y="1280160"/>
            <a:ext cx="4754880" cy="521208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4389120" cy="4937760"/>
          </a:xfrm>
          <a:prstGeom prst="rect">
            <a:avLst/>
          </a:prstGeom>
          <a:noFill/>
        </p:spPr>
        <p:txBody>
          <a:bodyPr wrap="square">
            <a:spAutoFit/>
          </a:bodyPr>
          <a:lstStyle/>
          <a:p>
            <a:r>
              <a:rPr sz="1200" b="1">
                <a:solidFill>
                  <a:srgbClr val="10B981"/>
                </a:solidFill>
                <a:latin typeface="Segoe UI"/>
              </a:rPr>
              <a:t>AMBULANCE COCKPIT &amp; HIGH-SPEED NAVIGATION
</a:t>
            </a:r>
          </a:p>
          <a:p>
            <a:r>
              <a:rPr sz="1050" b="1">
                <a:solidFill>
                  <a:srgbClr val="38BDF8"/>
                </a:solidFill>
                <a:latin typeface="Segoe UI"/>
              </a:rPr>
              <a:t>1-Tap Race-Safe Claiming: </a:t>
            </a:r>
            <a:r>
              <a:rPr sz="1000" b="0">
                <a:solidFill>
                  <a:srgbClr val="E2E8F0"/>
                </a:solidFill>
                <a:latin typeface="Segoe UI"/>
              </a:rPr>
              <a:t>Instant acoustic and visual dispatch ping; single tap claims case and locks incident network-wide via PostgreSQL.</a:t>
            </a:r>
          </a:p>
          <a:p>
            <a:r>
              <a:rPr sz="1050" b="1">
                <a:solidFill>
                  <a:srgbClr val="38BDF8"/>
                </a:solidFill>
                <a:latin typeface="Segoe UI"/>
              </a:rPr>
              <a:t>Luminous Green Wave HUD: </a:t>
            </a:r>
            <a:r>
              <a:rPr sz="1000" b="0">
                <a:solidFill>
                  <a:srgbClr val="E2E8F0"/>
                </a:solidFill>
                <a:latin typeface="Segoe UI"/>
              </a:rPr>
              <a:t>High-contrast emerald navigation interface designed for high-speed transit with live speedometer and Golden Hour countdown.</a:t>
            </a:r>
          </a:p>
          <a:p>
            <a:r>
              <a:rPr sz="1050" b="1">
                <a:solidFill>
                  <a:srgbClr val="38BDF8"/>
                </a:solidFill>
                <a:latin typeface="Segoe UI"/>
              </a:rPr>
              <a:t>C-V2X Radar Geofencing: </a:t>
            </a:r>
            <a:r>
              <a:rPr sz="1000" b="0">
                <a:solidFill>
                  <a:srgbClr val="E2E8F0"/>
                </a:solidFill>
                <a:latin typeface="Segoe UI"/>
              </a:rPr>
              <a:t>Projective radar cone forces upcoming traffic signals to flip SOLID GREEN at 950 meters out.</a:t>
            </a:r>
          </a:p>
          <a:p>
            <a:r>
              <a:rPr sz="1050" b="1">
                <a:solidFill>
                  <a:srgbClr val="38BDF8"/>
                </a:solidFill>
                <a:latin typeface="Segoe UI"/>
              </a:rPr>
              <a:t>Dynamic A* Choke Detour: </a:t>
            </a:r>
            <a:r>
              <a:rPr sz="1000" b="0">
                <a:solidFill>
                  <a:srgbClr val="E2E8F0"/>
                </a:solidFill>
                <a:latin typeface="Segoe UI"/>
              </a:rPr>
              <a:t>Bypasses 89% congested bottleneck on 100ft Rd, saving 4.2 minutes of transit time.</a:t>
            </a:r>
          </a:p>
          <a:p>
            <a:r>
              <a:rPr sz="1050" b="1">
                <a:solidFill>
                  <a:srgbClr val="38BDF8"/>
                </a:solidFill>
                <a:latin typeface="Segoe UI"/>
              </a:rPr>
              <a:t>In-Cabin Clinical Action Deck: </a:t>
            </a:r>
            <a:r>
              <a:rPr sz="1000" b="0">
                <a:solidFill>
                  <a:srgbClr val="E2E8F0"/>
                </a:solidFill>
                <a:latin typeface="Segoe UI"/>
              </a:rPr>
              <a:t>Integrated AI Trauma Blackbox chips (ISS 26) and ABHA vault bottom sheet alert crew to drug allergies and blood group.</a:t>
            </a:r>
          </a:p>
          <a:p>
            <a:r>
              <a:rPr sz="1050" b="1">
                <a:solidFill>
                  <a:srgbClr val="38BDF8"/>
                </a:solidFill>
                <a:latin typeface="Segoe UI"/>
              </a:rPr>
              <a:t>En Route Stabilization: </a:t>
            </a:r>
            <a:r>
              <a:rPr sz="1000" b="0">
                <a:solidFill>
                  <a:srgbClr val="E2E8F0"/>
                </a:solidFill>
                <a:latin typeface="Segoe UI"/>
              </a:rPr>
              <a:t>Paramedics pre-fit cervical collar and initiate IV lines prior to docking.</a:t>
            </a:r>
          </a:p>
        </p:txBody>
      </p:sp>
      <p:pic>
        <p:nvPicPr>
          <p:cNvPr id="7" name="Picture 6" descr="screenshot_ambulance_hud.png"/>
          <p:cNvPicPr>
            <a:picLocks noChangeAspect="1"/>
          </p:cNvPicPr>
          <p:nvPr/>
        </p:nvPicPr>
        <p:blipFill>
          <a:blip r:embed="rId2"/>
          <a:stretch>
            <a:fillRect/>
          </a:stretch>
        </p:blipFill>
        <p:spPr>
          <a:xfrm>
            <a:off x="5669280" y="1280160"/>
            <a:ext cx="5790895" cy="3764082"/>
          </a:xfrm>
          <a:prstGeom prst="rect">
            <a:avLst/>
          </a:prstGeom>
        </p:spPr>
      </p:pic>
      <p:sp>
        <p:nvSpPr>
          <p:cNvPr id="8" name="Rounded Rectangle 7"/>
          <p:cNvSpPr/>
          <p:nvPr/>
        </p:nvSpPr>
        <p:spPr>
          <a:xfrm>
            <a:off x="5669280" y="5166360"/>
            <a:ext cx="5790895" cy="1325880"/>
          </a:xfrm>
          <a:prstGeom prst="roundRect">
            <a:avLst/>
          </a:prstGeom>
          <a:solidFill>
            <a:srgbClr val="0F17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06440" y="5257800"/>
            <a:ext cx="5516575" cy="1143000"/>
          </a:xfrm>
          <a:prstGeom prst="rect">
            <a:avLst/>
          </a:prstGeom>
          <a:noFill/>
        </p:spPr>
        <p:txBody>
          <a:bodyPr wrap="square">
            <a:spAutoFit/>
          </a:bodyPr>
          <a:lstStyle/>
          <a:p>
            <a:r>
              <a:rPr sz="1100" b="1">
                <a:solidFill>
                  <a:srgbClr val="38BDF8"/>
                </a:solidFill>
                <a:latin typeface="Segoe UI"/>
              </a:rPr>
              <a:t>AMBULANCE COCKPIT HUD: LIVE C-V2X GREEN WAVE PREEMPTION
</a:t>
            </a:r>
          </a:p>
          <a:p>
            <a:r>
              <a:rPr sz="1000" b="0">
                <a:solidFill>
                  <a:srgbClr val="F8FAFC"/>
                </a:solidFill>
                <a:latin typeface="Segoe UI"/>
              </a:rPr>
              <a:t>Approaching signal at 950m pre-empted SOLID GREEN. Current speed: 65 km/h. Bottleneck bypass active: -4.2 min. ETA to Manipal Trauma Center: 4.8 min.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rIns="0" tIns="0" bIns="0">
            <a:spAutoFit/>
          </a:bodyPr>
          <a:lstStyle/>
          <a:p>
            <a:r>
              <a:rPr sz="1100" b="1">
                <a:solidFill>
                  <a:srgbClr val="A855F7"/>
                </a:solidFill>
                <a:latin typeface="Segoe UI"/>
              </a:rPr>
              <a:t>SUBSYSTEM DEEP-DIVE: HOSPITAL ER</a:t>
            </a:r>
          </a:p>
        </p:txBody>
      </p:sp>
      <p:sp>
        <p:nvSpPr>
          <p:cNvPr id="4" name="TextBox 3"/>
          <p:cNvSpPr txBox="1"/>
          <p:nvPr/>
        </p:nvSpPr>
        <p:spPr>
          <a:xfrm>
            <a:off x="731520" y="640080"/>
            <a:ext cx="10698480" cy="640080"/>
          </a:xfrm>
          <a:prstGeom prst="rect">
            <a:avLst/>
          </a:prstGeom>
          <a:noFill/>
        </p:spPr>
        <p:txBody>
          <a:bodyPr wrap="square" lIns="0" rIns="0" tIns="0" bIns="0">
            <a:spAutoFit/>
          </a:bodyPr>
          <a:lstStyle/>
          <a:p>
            <a:r>
              <a:rPr sz="2200" b="1">
                <a:solidFill>
                  <a:srgbClr val="F8FAFC"/>
                </a:solidFill>
                <a:latin typeface="Segoe UI"/>
              </a:rPr>
              <a:t>Hospital Trauma Bay: Real Auth, RBAC &amp; Race-Safe Case Locking</a:t>
            </a:r>
          </a:p>
        </p:txBody>
      </p:sp>
      <p:sp>
        <p:nvSpPr>
          <p:cNvPr id="5" name="Rounded Rectangle 4"/>
          <p:cNvSpPr/>
          <p:nvPr/>
        </p:nvSpPr>
        <p:spPr>
          <a:xfrm>
            <a:off x="731520" y="1280160"/>
            <a:ext cx="4754880" cy="5212080"/>
          </a:xfrm>
          <a:prstGeom prst="roundRect">
            <a:avLst/>
          </a:prstGeom>
          <a:solidFill>
            <a:srgbClr val="0F172A"/>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4389120" cy="4937760"/>
          </a:xfrm>
          <a:prstGeom prst="rect">
            <a:avLst/>
          </a:prstGeom>
          <a:noFill/>
        </p:spPr>
        <p:txBody>
          <a:bodyPr wrap="square">
            <a:spAutoFit/>
          </a:bodyPr>
          <a:lstStyle/>
          <a:p>
            <a:r>
              <a:rPr sz="1200" b="1">
                <a:solidFill>
                  <a:srgbClr val="A855F7"/>
                </a:solidFill>
                <a:latin typeface="Segoe UI"/>
              </a:rPr>
              <a:t>ENTERPRISE AUTH, RBAC &amp; SURGICAL PRE-ARMING
</a:t>
            </a:r>
          </a:p>
          <a:p>
            <a:r>
              <a:rPr sz="1050" b="1">
                <a:solidFill>
                  <a:srgbClr val="38BDF8"/>
                </a:solidFill>
                <a:latin typeface="Segoe UI"/>
              </a:rPr>
              <a:t>Real Authentication (JWT + Bcrypt): </a:t>
            </a:r>
            <a:r>
              <a:rPr sz="1000" b="0">
                <a:solidFill>
                  <a:srgbClr val="E2E8F0"/>
                </a:solidFill>
                <a:latin typeface="Segoe UI"/>
              </a:rPr>
              <a:t>8-hour signed JWT tokens carrying user id, hospital id, and staff role replace client-side dropdowns.</a:t>
            </a:r>
          </a:p>
          <a:p>
            <a:r>
              <a:rPr sz="1050" b="1">
                <a:solidFill>
                  <a:srgbClr val="38BDF8"/>
                </a:solidFill>
                <a:latin typeface="Segoe UI"/>
              </a:rPr>
              <a:t>Role-Based Access Control (RBAC): </a:t>
            </a:r>
            <a:r>
              <a:rPr sz="1000" b="0">
                <a:solidFill>
                  <a:srgbClr val="E2E8F0"/>
                </a:solidFill>
                <a:latin typeface="Segoe UI"/>
              </a:rPr>
              <a:t>Hospital staff can strictly view and accept incidents assigned to their specific facility. Police accounts receive tactical view only.</a:t>
            </a:r>
          </a:p>
          <a:p>
            <a:r>
              <a:rPr sz="1050" b="1">
                <a:solidFill>
                  <a:srgbClr val="38BDF8"/>
                </a:solidFill>
                <a:latin typeface="Segoe UI"/>
              </a:rPr>
              <a:t>Mismatched Facility Enforcement (403): </a:t>
            </a:r>
            <a:r>
              <a:rPr sz="1000" b="0">
                <a:solidFill>
                  <a:srgbClr val="E2E8F0"/>
                </a:solidFill>
                <a:latin typeface="Segoe UI"/>
              </a:rPr>
              <a:t>If Hospital A attempts to accept an incident matched to Hospital B, the backend returns a strict 403 Forbidden rejection.</a:t>
            </a:r>
          </a:p>
          <a:p>
            <a:r>
              <a:rPr sz="1050" b="1">
                <a:solidFill>
                  <a:srgbClr val="38BDF8"/>
                </a:solidFill>
                <a:latin typeface="Segoe UI"/>
              </a:rPr>
              <a:t>Atomic Case Locking: </a:t>
            </a:r>
            <a:r>
              <a:rPr sz="1000" b="0">
                <a:solidFill>
                  <a:srgbClr val="E2E8F0"/>
                </a:solidFill>
                <a:latin typeface="Segoe UI"/>
              </a:rPr>
              <a:t>PostgreSQL row locks prevent duplicate acceptances; competing facilities see 'CASE LOCKED' with audit badge.</a:t>
            </a:r>
          </a:p>
          <a:p>
            <a:r>
              <a:rPr sz="1050" b="1">
                <a:solidFill>
                  <a:srgbClr val="38BDF8"/>
                </a:solidFill>
                <a:latin typeface="Segoe UI"/>
              </a:rPr>
              <a:t>Trauma Bay 01 Pre-Armed: </a:t>
            </a:r>
            <a:r>
              <a:rPr sz="1000" b="0">
                <a:solidFill>
                  <a:srgbClr val="E2E8F0"/>
                </a:solidFill>
                <a:latin typeface="Segoe UI"/>
              </a:rPr>
              <a:t>Surgery team reserves Trauma Bay 01 and powers on life support equipment 10 minutes prior to arrival.</a:t>
            </a:r>
          </a:p>
          <a:p>
            <a:r>
              <a:rPr sz="1050" b="1">
                <a:solidFill>
                  <a:srgbClr val="38BDF8"/>
                </a:solidFill>
                <a:latin typeface="Segoe UI"/>
              </a:rPr>
              <a:t>Blood Bank Cross-Match Pre-Issued: </a:t>
            </a:r>
            <a:r>
              <a:rPr sz="1000" b="0">
                <a:solidFill>
                  <a:srgbClr val="E2E8F0"/>
                </a:solidFill>
                <a:latin typeface="Segoe UI"/>
              </a:rPr>
              <a:t>Blood bank immediately pulls 2 units of B+ Positive / O-Negative blood matching verified ABHA health vault.</a:t>
            </a:r>
          </a:p>
          <a:p>
            <a:r>
              <a:rPr sz="1050" b="1">
                <a:solidFill>
                  <a:srgbClr val="38BDF8"/>
                </a:solidFill>
                <a:latin typeface="Segoe UI"/>
              </a:rPr>
              <a:t>30-Second Auto-Escalation Engine: </a:t>
            </a:r>
            <a:r>
              <a:rPr sz="1000" b="0">
                <a:solidFill>
                  <a:srgbClr val="E2E8F0"/>
                </a:solidFill>
                <a:latin typeface="Segoe UI"/>
              </a:rPr>
              <a:t>Triage ring automatically widens from 8km to 20km if unaccepted within 30 seconds.</a:t>
            </a:r>
          </a:p>
        </p:txBody>
      </p:sp>
      <p:pic>
        <p:nvPicPr>
          <p:cNvPr id="7" name="Picture 6" descr="screenshot_hospital_dashboard.png"/>
          <p:cNvPicPr>
            <a:picLocks noChangeAspect="1"/>
          </p:cNvPicPr>
          <p:nvPr/>
        </p:nvPicPr>
        <p:blipFill>
          <a:blip r:embed="rId2"/>
          <a:stretch>
            <a:fillRect/>
          </a:stretch>
        </p:blipFill>
        <p:spPr>
          <a:xfrm>
            <a:off x="5669280" y="1280160"/>
            <a:ext cx="5790895" cy="3378022"/>
          </a:xfrm>
          <a:prstGeom prst="rect">
            <a:avLst/>
          </a:prstGeom>
        </p:spPr>
      </p:pic>
      <p:sp>
        <p:nvSpPr>
          <p:cNvPr id="8" name="Rounded Rectangle 7"/>
          <p:cNvSpPr/>
          <p:nvPr/>
        </p:nvSpPr>
        <p:spPr>
          <a:xfrm>
            <a:off x="5669280" y="4754880"/>
            <a:ext cx="5790895" cy="1737360"/>
          </a:xfrm>
          <a:prstGeom prst="roundRect">
            <a:avLst/>
          </a:prstGeom>
          <a:solidFill>
            <a:srgbClr val="0F172A"/>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06440" y="4846320"/>
            <a:ext cx="5516575" cy="1554480"/>
          </a:xfrm>
          <a:prstGeom prst="rect">
            <a:avLst/>
          </a:prstGeom>
          <a:noFill/>
        </p:spPr>
        <p:txBody>
          <a:bodyPr wrap="square">
            <a:spAutoFit/>
          </a:bodyPr>
          <a:lstStyle/>
          <a:p>
            <a:r>
              <a:rPr sz="1100" b="1">
                <a:solidFill>
                  <a:srgbClr val="A855F7"/>
                </a:solidFill>
                <a:latin typeface="Segoe UI"/>
              </a:rPr>
              <a:t>LEVEL-1 SURGICAL ER WORKSTATION (MANIPAL HOSPITAL)
</a:t>
            </a:r>
          </a:p>
          <a:p>
            <a:r>
              <a:rPr sz="1000" b="0">
                <a:solidFill>
                  <a:srgbClr val="F8FAFC"/>
                </a:solidFill>
                <a:latin typeface="Segoe UI"/>
              </a:rPr>
              <a:t>Real WebRTC Visual Triage feed (TTL 900s RAM buffer), PINN Crash Biomechanics (ISS 26 Severe Polytrauma), and verified ABHA vault (B+ Blood, Penicillin Anaphylaxis Alert pre-flagged).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rIns="0" tIns="0" bIns="0">
            <a:spAutoFit/>
          </a:bodyPr>
          <a:lstStyle/>
          <a:p>
            <a:r>
              <a:rPr sz="1100" b="1">
                <a:solidFill>
                  <a:srgbClr val="38BDF8"/>
                </a:solidFill>
                <a:latin typeface="Segoe UI"/>
              </a:rPr>
              <a:t>PRIVACY ARCHITECTURE &amp; DPDP ACT 2023</a:t>
            </a:r>
          </a:p>
        </p:txBody>
      </p:sp>
      <p:sp>
        <p:nvSpPr>
          <p:cNvPr id="4" name="TextBox 3"/>
          <p:cNvSpPr txBox="1"/>
          <p:nvPr/>
        </p:nvSpPr>
        <p:spPr>
          <a:xfrm>
            <a:off x="731520" y="640080"/>
            <a:ext cx="10698480" cy="640080"/>
          </a:xfrm>
          <a:prstGeom prst="rect">
            <a:avLst/>
          </a:prstGeom>
          <a:noFill/>
        </p:spPr>
        <p:txBody>
          <a:bodyPr wrap="square" lIns="0" rIns="0" tIns="0" bIns="0">
            <a:spAutoFit/>
          </a:bodyPr>
          <a:lstStyle/>
          <a:p>
            <a:r>
              <a:rPr sz="2200" b="1">
                <a:solidFill>
                  <a:srgbClr val="F8FAFC"/>
                </a:solidFill>
                <a:latin typeface="Segoe UI"/>
              </a:rPr>
              <a:t>Zero-Storage Protocol &amp; Real WebRTC Ephemeral Visual Triage</a:t>
            </a:r>
          </a:p>
        </p:txBody>
      </p:sp>
      <p:sp>
        <p:nvSpPr>
          <p:cNvPr id="5" name="Rounded Rectangle 4"/>
          <p:cNvSpPr/>
          <p:nvPr/>
        </p:nvSpPr>
        <p:spPr>
          <a:xfrm>
            <a:off x="731520" y="1371600"/>
            <a:ext cx="5486400" cy="5029200"/>
          </a:xfrm>
          <a:prstGeom prst="roundRect">
            <a:avLst/>
          </a:prstGeom>
          <a:solidFill>
            <a:srgbClr val="0F17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5120640" cy="4663440"/>
          </a:xfrm>
          <a:prstGeom prst="rect">
            <a:avLst/>
          </a:prstGeom>
          <a:noFill/>
        </p:spPr>
        <p:txBody>
          <a:bodyPr wrap="square">
            <a:spAutoFit/>
          </a:bodyPr>
          <a:lstStyle/>
          <a:p>
            <a:r>
              <a:rPr sz="1300" b="1">
                <a:solidFill>
                  <a:srgbClr val="38BDF8"/>
                </a:solidFill>
                <a:latin typeface="Segoe UI"/>
              </a:rPr>
              <a:t>WEBRTC PEER-TO-PEER VISUAL STREAMING
</a:t>
            </a:r>
          </a:p>
          <a:p>
            <a:r>
              <a:rPr sz="1100" b="1">
                <a:solidFill>
                  <a:srgbClr val="10B981"/>
                </a:solidFill>
                <a:latin typeface="Segoe UI"/>
              </a:rPr>
              <a:t>Direct P2P DataChannel Transport: </a:t>
            </a:r>
            <a:r>
              <a:rPr sz="1050" b="0">
                <a:solidFill>
                  <a:srgbClr val="E2E8F0"/>
                </a:solidFill>
                <a:latin typeface="Segoe UI"/>
              </a:rPr>
              <a:t>Establishes a direct WebRTC peer connection between the victim's phone camera and the hospital surgeon's workstation over existing Socket.io signaling.</a:t>
            </a:r>
          </a:p>
          <a:p>
            <a:r>
              <a:rPr sz="1100" b="1">
                <a:solidFill>
                  <a:srgbClr val="10B981"/>
                </a:solidFill>
                <a:latin typeface="Segoe UI"/>
              </a:rPr>
              <a:t>Automatic 5-Second WebSocket Fallback: </a:t>
            </a:r>
            <a:r>
              <a:rPr sz="1050" b="0">
                <a:solidFill>
                  <a:srgbClr val="E2E8F0"/>
                </a:solidFill>
                <a:latin typeface="Segoe UI"/>
              </a:rPr>
              <a:t>If WebRTC negotiation times out due to restrictive symmetric NATs or corporate firewalls, the system automatically falls back to binary WebSocket streaming with zero user disruption.</a:t>
            </a:r>
          </a:p>
          <a:p>
            <a:r>
              <a:rPr sz="1100" b="1">
                <a:solidFill>
                  <a:srgbClr val="10B981"/>
                </a:solidFill>
                <a:latin typeface="Segoe UI"/>
              </a:rPr>
              <a:t>High-Resolution Fullscreen Lightbox: </a:t>
            </a:r>
            <a:r>
              <a:rPr sz="1050" b="0">
                <a:solidFill>
                  <a:srgbClr val="E2E8F0"/>
                </a:solidFill>
                <a:latin typeface="Segoe UI"/>
              </a:rPr>
              <a:t>Surgeons can open a high-resolution portrait inspection lightbox to examine vehicular cabin deformation and head trauma before docking.</a:t>
            </a:r>
          </a:p>
          <a:p>
            <a:r>
              <a:rPr sz="1100" b="1">
                <a:solidFill>
                  <a:srgbClr val="10B981"/>
                </a:solidFill>
                <a:latin typeface="Segoe UI"/>
              </a:rPr>
              <a:t>Transport Diagnostic Badge: </a:t>
            </a:r>
            <a:r>
              <a:rPr sz="1050" b="0">
                <a:solidFill>
                  <a:srgbClr val="E2E8F0"/>
                </a:solidFill>
                <a:latin typeface="Segoe UI"/>
              </a:rPr>
              <a:t>A visible badge indicates whether '⚡ WebRTC P2P' or '🔄 WebSocket Fallback' is active, validating fallback engineering to judges.</a:t>
            </a:r>
          </a:p>
        </p:txBody>
      </p:sp>
      <p:sp>
        <p:nvSpPr>
          <p:cNvPr id="7" name="Rounded Rectangle 6"/>
          <p:cNvSpPr/>
          <p:nvPr/>
        </p:nvSpPr>
        <p:spPr>
          <a:xfrm>
            <a:off x="6492240" y="1371600"/>
            <a:ext cx="4967935" cy="5029200"/>
          </a:xfrm>
          <a:prstGeom prst="roundRect">
            <a:avLst/>
          </a:prstGeom>
          <a:solidFill>
            <a:srgbClr val="0F172A"/>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0" y="1554480"/>
            <a:ext cx="4572000" cy="4663440"/>
          </a:xfrm>
          <a:prstGeom prst="rect">
            <a:avLst/>
          </a:prstGeom>
          <a:noFill/>
        </p:spPr>
        <p:txBody>
          <a:bodyPr wrap="square">
            <a:spAutoFit/>
          </a:bodyPr>
          <a:lstStyle/>
          <a:p>
            <a:r>
              <a:rPr sz="1300" b="1">
                <a:solidFill>
                  <a:srgbClr val="EF4444"/>
                </a:solidFill>
                <a:latin typeface="Segoe UI"/>
              </a:rPr>
              <a:t>ZERO-PERSISTENT-STORAGE PRIVACY PROTOCOL
</a:t>
            </a:r>
          </a:p>
          <a:p>
            <a:r>
              <a:rPr sz="1100" b="1">
                <a:solidFill>
                  <a:srgbClr val="F59E0B"/>
                </a:solidFill>
                <a:latin typeface="Segoe UI"/>
              </a:rPr>
              <a:t>No Local Disk Storage: </a:t>
            </a:r>
            <a:r>
              <a:rPr sz="1050" b="0">
                <a:solidFill>
                  <a:srgbClr val="E2E8F0"/>
                </a:solidFill>
                <a:latin typeface="Segoe UI"/>
              </a:rPr>
              <a:t>Camera bytes are streamed directly from device RAM buffers. Zero images are ever written to mobile galleries, camera rolls, or local flash storage.</a:t>
            </a:r>
          </a:p>
          <a:p>
            <a:r>
              <a:rPr sz="1100" b="1">
                <a:solidFill>
                  <a:srgbClr val="F59E0B"/>
                </a:solidFill>
                <a:latin typeface="Segoe UI"/>
              </a:rPr>
              <a:t>Volatile Redis RAM Only (TTL 900s): </a:t>
            </a:r>
            <a:r>
              <a:rPr sz="1050" b="0">
                <a:solidFill>
                  <a:srgbClr val="E2E8F0"/>
                </a:solidFill>
                <a:latin typeface="Segoe UI"/>
              </a:rPr>
              <a:t>Intermediate relay buffers live strictly in RAM with a 15-minute TTL. Redis persistence (AOF and RDB) is disabled per Phase 9 specifications.</a:t>
            </a:r>
          </a:p>
          <a:p>
            <a:r>
              <a:rPr sz="1100" b="1">
                <a:solidFill>
                  <a:srgbClr val="F59E0B"/>
                </a:solidFill>
                <a:latin typeface="Segoe UI"/>
              </a:rPr>
              <a:t>Anti-Exfiltration UI Defenses: </a:t>
            </a:r>
            <a:r>
              <a:rPr sz="1050" b="0">
                <a:solidFill>
                  <a:srgbClr val="E2E8F0"/>
                </a:solidFill>
                <a:latin typeface="Segoe UI"/>
              </a:rPr>
              <a:t>Right-click context menus, image dragging, and download options are strictly disabled in the dashboard DOM to prevent photo export.</a:t>
            </a:r>
          </a:p>
          <a:p>
            <a:r>
              <a:rPr sz="1100" b="1">
                <a:solidFill>
                  <a:srgbClr val="F59E0B"/>
                </a:solidFill>
                <a:latin typeface="Segoe UI"/>
              </a:rPr>
              <a:t>DPDP Act 2023 Compliant: </a:t>
            </a:r>
            <a:r>
              <a:rPr sz="1050" b="0">
                <a:solidFill>
                  <a:srgbClr val="E2E8F0"/>
                </a:solidFill>
                <a:latin typeface="Segoe UI"/>
              </a:rPr>
              <a:t>Complies with India's Digital Personal Data Protection Act 2023, protecting victim dignity and preventing viral social media leaks.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rIns="0" tIns="0" bIns="0">
            <a:spAutoFit/>
          </a:bodyPr>
          <a:lstStyle/>
          <a:p>
            <a:r>
              <a:rPr sz="1100" b="1">
                <a:solidFill>
                  <a:srgbClr val="EF4444"/>
                </a:solidFill>
                <a:latin typeface="Segoe UI"/>
              </a:rPr>
              <a:t>GAME-CHANGING FEATURE: PINN MODELING</a:t>
            </a:r>
          </a:p>
        </p:txBody>
      </p:sp>
      <p:sp>
        <p:nvSpPr>
          <p:cNvPr id="4" name="TextBox 3"/>
          <p:cNvSpPr txBox="1"/>
          <p:nvPr/>
        </p:nvSpPr>
        <p:spPr>
          <a:xfrm>
            <a:off x="731520" y="640080"/>
            <a:ext cx="10698480" cy="640080"/>
          </a:xfrm>
          <a:prstGeom prst="rect">
            <a:avLst/>
          </a:prstGeom>
          <a:noFill/>
        </p:spPr>
        <p:txBody>
          <a:bodyPr wrap="square" lIns="0" rIns="0" tIns="0" bIns="0">
            <a:spAutoFit/>
          </a:bodyPr>
          <a:lstStyle/>
          <a:p>
            <a:r>
              <a:rPr sz="2200" b="1">
                <a:solidFill>
                  <a:srgbClr val="F8FAFC"/>
                </a:solidFill>
                <a:latin typeface="Segoe UI"/>
              </a:rPr>
              <a:t>Innovation 1: AI Crash Biomechanics &amp; Virtual Trauma Blackbox</a:t>
            </a:r>
          </a:p>
        </p:txBody>
      </p:sp>
      <p:sp>
        <p:nvSpPr>
          <p:cNvPr id="5" name="Rounded Rectangle 4"/>
          <p:cNvSpPr/>
          <p:nvPr/>
        </p:nvSpPr>
        <p:spPr>
          <a:xfrm>
            <a:off x="731520" y="1371600"/>
            <a:ext cx="2560320" cy="1463040"/>
          </a:xfrm>
          <a:prstGeom prst="roundRect">
            <a:avLst/>
          </a:prstGeom>
          <a:solidFill>
            <a:srgbClr val="0F172A"/>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463040"/>
            <a:ext cx="2286000" cy="1280160"/>
          </a:xfrm>
          <a:prstGeom prst="rect">
            <a:avLst/>
          </a:prstGeom>
          <a:noFill/>
        </p:spPr>
        <p:txBody>
          <a:bodyPr wrap="square" lIns="0" rIns="0" tIns="0" bIns="0">
            <a:spAutoFit/>
          </a:bodyPr>
          <a:lstStyle/>
          <a:p>
            <a:r>
              <a:rPr sz="900" b="1">
                <a:solidFill>
                  <a:srgbClr val="94A3B8"/>
                </a:solidFill>
                <a:latin typeface="Segoe UI"/>
              </a:rPr>
              <a:t>DELTA-V DROP
</a:t>
            </a:r>
          </a:p>
          <a:p>
            <a:r>
              <a:rPr sz="1800" b="1">
                <a:solidFill>
                  <a:srgbClr val="EF4444"/>
                </a:solidFill>
                <a:latin typeface="Segoe UI"/>
              </a:rPr>
              <a:t>62.4 km/h
</a:t>
            </a:r>
          </a:p>
          <a:p>
            <a:r>
              <a:rPr sz="900" b="0">
                <a:solidFill>
                  <a:srgbClr val="F8FAFC"/>
                </a:solidFill>
                <a:latin typeface="Segoe UI"/>
              </a:rPr>
              <a:t>Velocity loss in impact window (&lt;120ms)</a:t>
            </a:r>
          </a:p>
        </p:txBody>
      </p:sp>
      <p:sp>
        <p:nvSpPr>
          <p:cNvPr id="7" name="Rounded Rectangle 6"/>
          <p:cNvSpPr/>
          <p:nvPr/>
        </p:nvSpPr>
        <p:spPr>
          <a:xfrm>
            <a:off x="3456432" y="1371600"/>
            <a:ext cx="2560320" cy="1463040"/>
          </a:xfrm>
          <a:prstGeom prst="roundRect">
            <a:avLst/>
          </a:prstGeom>
          <a:solidFill>
            <a:srgbClr val="0F172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93592" y="1463040"/>
            <a:ext cx="2286000" cy="1280160"/>
          </a:xfrm>
          <a:prstGeom prst="rect">
            <a:avLst/>
          </a:prstGeom>
          <a:noFill/>
        </p:spPr>
        <p:txBody>
          <a:bodyPr wrap="square" lIns="0" rIns="0" tIns="0" bIns="0">
            <a:spAutoFit/>
          </a:bodyPr>
          <a:lstStyle/>
          <a:p>
            <a:r>
              <a:rPr sz="900" b="1">
                <a:solidFill>
                  <a:srgbClr val="94A3B8"/>
                </a:solidFill>
                <a:latin typeface="Segoe UI"/>
              </a:rPr>
              <a:t>PEAK DECELERATION
</a:t>
            </a:r>
          </a:p>
          <a:p>
            <a:r>
              <a:rPr sz="1800" b="1">
                <a:solidFill>
                  <a:srgbClr val="F59E0B"/>
                </a:solidFill>
                <a:latin typeface="Segoe UI"/>
              </a:rPr>
              <a:t>48.6 G
</a:t>
            </a:r>
          </a:p>
          <a:p>
            <a:r>
              <a:rPr sz="900" b="0">
                <a:solidFill>
                  <a:srgbClr val="F8FAFC"/>
                </a:solidFill>
                <a:latin typeface="Segoe UI"/>
              </a:rPr>
              <a:t>Maximum kinetic deceleration force</a:t>
            </a:r>
          </a:p>
        </p:txBody>
      </p:sp>
      <p:sp>
        <p:nvSpPr>
          <p:cNvPr id="9" name="Rounded Rectangle 8"/>
          <p:cNvSpPr/>
          <p:nvPr/>
        </p:nvSpPr>
        <p:spPr>
          <a:xfrm>
            <a:off x="6181344" y="1371600"/>
            <a:ext cx="2560320" cy="1463040"/>
          </a:xfrm>
          <a:prstGeom prst="roundRect">
            <a:avLst/>
          </a:prstGeom>
          <a:solidFill>
            <a:srgbClr val="0F17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18504" y="1463040"/>
            <a:ext cx="2286000" cy="1280160"/>
          </a:xfrm>
          <a:prstGeom prst="rect">
            <a:avLst/>
          </a:prstGeom>
          <a:noFill/>
        </p:spPr>
        <p:txBody>
          <a:bodyPr wrap="square" lIns="0" rIns="0" tIns="0" bIns="0">
            <a:spAutoFit/>
          </a:bodyPr>
          <a:lstStyle/>
          <a:p>
            <a:r>
              <a:rPr sz="900" b="1">
                <a:solidFill>
                  <a:srgbClr val="94A3B8"/>
                </a:solidFill>
                <a:latin typeface="Segoe UI"/>
              </a:rPr>
              <a:t>KINETIC DISSIPATION
</a:t>
            </a:r>
          </a:p>
          <a:p>
            <a:r>
              <a:rPr sz="1800" b="1">
                <a:solidFill>
                  <a:srgbClr val="38BDF8"/>
                </a:solidFill>
                <a:latin typeface="Segoe UI"/>
              </a:rPr>
              <a:t>142.8 kJ
</a:t>
            </a:r>
          </a:p>
          <a:p>
            <a:r>
              <a:rPr sz="900" b="0">
                <a:solidFill>
                  <a:srgbClr val="F8FAFC"/>
                </a:solidFill>
                <a:latin typeface="Segoe UI"/>
              </a:rPr>
              <a:t>Mechanical energy absorbed by cabin</a:t>
            </a:r>
          </a:p>
        </p:txBody>
      </p:sp>
      <p:sp>
        <p:nvSpPr>
          <p:cNvPr id="11" name="Rounded Rectangle 10"/>
          <p:cNvSpPr/>
          <p:nvPr/>
        </p:nvSpPr>
        <p:spPr>
          <a:xfrm>
            <a:off x="8906256" y="1371600"/>
            <a:ext cx="2560320" cy="1463040"/>
          </a:xfrm>
          <a:prstGeom prst="roundRect">
            <a:avLst/>
          </a:prstGeom>
          <a:solidFill>
            <a:srgbClr val="0F172A"/>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43416" y="1463040"/>
            <a:ext cx="2286000" cy="1280160"/>
          </a:xfrm>
          <a:prstGeom prst="rect">
            <a:avLst/>
          </a:prstGeom>
          <a:noFill/>
        </p:spPr>
        <p:txBody>
          <a:bodyPr wrap="square" lIns="0" rIns="0" tIns="0" bIns="0">
            <a:spAutoFit/>
          </a:bodyPr>
          <a:lstStyle/>
          <a:p>
            <a:r>
              <a:rPr sz="900" b="1">
                <a:solidFill>
                  <a:srgbClr val="94A3B8"/>
                </a:solidFill>
                <a:latin typeface="Segoe UI"/>
              </a:rPr>
              <a:t>PREDICTED ISS
</a:t>
            </a:r>
          </a:p>
          <a:p>
            <a:r>
              <a:rPr sz="1800" b="1">
                <a:solidFill>
                  <a:srgbClr val="A855F7"/>
                </a:solidFill>
                <a:latin typeface="Segoe UI"/>
              </a:rPr>
              <a:t>26 (Severe)
</a:t>
            </a:r>
          </a:p>
          <a:p>
            <a:r>
              <a:rPr sz="900" b="0">
                <a:solidFill>
                  <a:srgbClr val="F8FAFC"/>
                </a:solidFill>
                <a:latin typeface="Segoe UI"/>
              </a:rPr>
              <a:t>Injury Severity Score (Polytrauma)</a:t>
            </a:r>
          </a:p>
        </p:txBody>
      </p:sp>
      <p:sp>
        <p:nvSpPr>
          <p:cNvPr id="13" name="Rounded Rectangle 12"/>
          <p:cNvSpPr/>
          <p:nvPr/>
        </p:nvSpPr>
        <p:spPr>
          <a:xfrm>
            <a:off x="731520" y="3017520"/>
            <a:ext cx="10728655" cy="3383280"/>
          </a:xfrm>
          <a:prstGeom prst="roundRect">
            <a:avLst/>
          </a:prstGeom>
          <a:solidFill>
            <a:srgbClr val="0F172A"/>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200400"/>
            <a:ext cx="10149840" cy="3017520"/>
          </a:xfrm>
          <a:prstGeom prst="rect">
            <a:avLst/>
          </a:prstGeom>
          <a:noFill/>
        </p:spPr>
        <p:txBody>
          <a:bodyPr wrap="square">
            <a:spAutoFit/>
          </a:bodyPr>
          <a:lstStyle/>
          <a:p>
            <a:r>
              <a:rPr sz="1300" b="1">
                <a:solidFill>
                  <a:srgbClr val="EF4444"/>
                </a:solidFill>
                <a:latin typeface="Segoe UI"/>
              </a:rPr>
              <a:t>PREDICTED INTERNAL ORGAN TRAUMA MATRIX &amp; CLINICAL PROTOCOLS
</a:t>
            </a:r>
          </a:p>
          <a:p>
            <a:r>
              <a:rPr sz="1100" b="1">
                <a:solidFill>
                  <a:srgbClr val="F8FAFC"/>
                </a:solidFill>
                <a:latin typeface="Segoe UI"/>
              </a:rPr>
              <a:t>• Cervical Spine Whiplash / Fracture Risk: 84% [CRITICAL]
</a:t>
            </a:r>
            <a:r>
              <a:rPr sz="1000" b="0">
                <a:solidFill>
                  <a:srgbClr val="38BDF8"/>
                </a:solidFill>
                <a:latin typeface="Segoe UI"/>
              </a:rPr>
              <a:t>   🏥 Clinical Protocol: Immediate C-Spine Collar Immobilization before moving victim to avoid secondary spinal cord transection.</a:t>
            </a:r>
          </a:p>
          <a:p>
            <a:r>
              <a:rPr sz="1100" b="1">
                <a:solidFill>
                  <a:srgbClr val="F8FAFC"/>
                </a:solidFill>
                <a:latin typeface="Segoe UI"/>
              </a:rPr>
              <a:t>• Blunt Sternal / Myocardial Contusion: 76% [HIGH]
</a:t>
            </a:r>
            <a:r>
              <a:rPr sz="1000" b="0">
                <a:solidFill>
                  <a:srgbClr val="38BDF8"/>
                </a:solidFill>
                <a:latin typeface="Segoe UI"/>
              </a:rPr>
              <a:t>   🏥 Clinical Protocol: Pre-order 12-lead ECG and stat Cardiac Troponin markers; prepare cardiac defibrillator in Bay 01.</a:t>
            </a:r>
          </a:p>
          <a:p>
            <a:r>
              <a:rPr sz="1100" b="1">
                <a:solidFill>
                  <a:srgbClr val="F8FAFC"/>
                </a:solidFill>
                <a:latin typeface="Segoe UI"/>
              </a:rPr>
              <a:t>• Intra-Abdominal / Splenic Laceration Risk: 61% [HIGH]
</a:t>
            </a:r>
            <a:r>
              <a:rPr sz="1000" b="0">
                <a:solidFill>
                  <a:srgbClr val="38BDF8"/>
                </a:solidFill>
                <a:latin typeface="Segoe UI"/>
              </a:rPr>
              <a:t>   🏥 Clinical Protocol: Immediate Focused Assessment with Sonography in Trauma (FAST) ultrasound protocol on arrival to detect internal bleeding.</a:t>
            </a:r>
          </a:p>
          <a:p>
            <a:r>
              <a:rPr sz="1100" b="1">
                <a:solidFill>
                  <a:srgbClr val="F8FAFC"/>
                </a:solidFill>
                <a:latin typeface="Segoe UI"/>
              </a:rPr>
              <a:t>• Traumatic Brain Injury (Closed Head Shock): 48% [MODERATE]
</a:t>
            </a:r>
            <a:r>
              <a:rPr sz="1000" b="0">
                <a:solidFill>
                  <a:srgbClr val="38BDF8"/>
                </a:solidFill>
                <a:latin typeface="Segoe UI"/>
              </a:rPr>
              <a:t>   🏥 Clinical Protocol: Immediate Non-Contrast Head CT Protocol scheduled upon trauma bay docking.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rIns="0" tIns="0" bIns="0">
            <a:spAutoFit/>
          </a:bodyPr>
          <a:lstStyle/>
          <a:p>
            <a:r>
              <a:rPr sz="1100" b="1">
                <a:solidFill>
                  <a:srgbClr val="10B981"/>
                </a:solidFill>
                <a:latin typeface="Segoe UI"/>
              </a:rPr>
              <a:t>GAME-CHANGING FEATURE: DIGITAL HEALTH STACK</a:t>
            </a:r>
          </a:p>
        </p:txBody>
      </p:sp>
      <p:sp>
        <p:nvSpPr>
          <p:cNvPr id="4" name="TextBox 3"/>
          <p:cNvSpPr txBox="1"/>
          <p:nvPr/>
        </p:nvSpPr>
        <p:spPr>
          <a:xfrm>
            <a:off x="731520" y="640080"/>
            <a:ext cx="10698480" cy="640080"/>
          </a:xfrm>
          <a:prstGeom prst="rect">
            <a:avLst/>
          </a:prstGeom>
          <a:noFill/>
        </p:spPr>
        <p:txBody>
          <a:bodyPr wrap="square" lIns="0" rIns="0" tIns="0" bIns="0">
            <a:spAutoFit/>
          </a:bodyPr>
          <a:lstStyle/>
          <a:p>
            <a:r>
              <a:rPr sz="2200" b="1">
                <a:solidFill>
                  <a:srgbClr val="F8FAFC"/>
                </a:solidFill>
                <a:latin typeface="Segoe UI"/>
              </a:rPr>
              <a:t>Innovation 2: Ayushman Bharat (ABDM/ABHA) Emergency Health Vault</a:t>
            </a:r>
          </a:p>
        </p:txBody>
      </p:sp>
      <p:sp>
        <p:nvSpPr>
          <p:cNvPr id="5" name="Rounded Rectangle 4"/>
          <p:cNvSpPr/>
          <p:nvPr/>
        </p:nvSpPr>
        <p:spPr>
          <a:xfrm>
            <a:off x="731520" y="1371600"/>
            <a:ext cx="5212080" cy="502920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4846320" cy="4663440"/>
          </a:xfrm>
          <a:prstGeom prst="rect">
            <a:avLst/>
          </a:prstGeom>
          <a:noFill/>
        </p:spPr>
        <p:txBody>
          <a:bodyPr wrap="square">
            <a:spAutoFit/>
          </a:bodyPr>
          <a:lstStyle/>
          <a:p>
            <a:r>
              <a:rPr sz="1300" b="1">
                <a:solidFill>
                  <a:srgbClr val="10B981"/>
                </a:solidFill>
                <a:latin typeface="Segoe UI"/>
              </a:rPr>
              <a:t>ABDM-VERIFIED EMERGENCY HEALTH IDENTITY
</a:t>
            </a:r>
          </a:p>
          <a:p>
            <a:r>
              <a:rPr sz="1100" b="1">
                <a:solidFill>
                  <a:srgbClr val="F8FAFC"/>
                </a:solidFill>
                <a:latin typeface="Segoe UI"/>
              </a:rPr>
              <a:t>Verified 14-Digit ABHA ID:
</a:t>
            </a:r>
            <a:r>
              <a:rPr sz="1000" b="0">
                <a:solidFill>
                  <a:srgbClr val="94A3B8"/>
                </a:solidFill>
                <a:latin typeface="Segoe UI"/>
              </a:rPr>
              <a:t>91-8842-9912-3401 (stevin.joseph@abdm) — Authenticated via Government of India ABDM Gateway.</a:t>
            </a:r>
          </a:p>
          <a:p>
            <a:r>
              <a:rPr sz="1100" b="1">
                <a:solidFill>
                  <a:srgbClr val="F8FAFC"/>
                </a:solidFill>
                <a:latin typeface="Segoe UI"/>
              </a:rPr>
              <a:t>Confirmed Blood Group (B+ Positive):
</a:t>
            </a:r>
            <a:r>
              <a:rPr sz="1000" b="0">
                <a:solidFill>
                  <a:srgbClr val="94A3B8"/>
                </a:solidFill>
                <a:latin typeface="Segoe UI"/>
              </a:rPr>
              <a:t>Eliminates 15-20 minutes of diagnostic blood group typing delays, enabling immediate cross-matching and transfusion.</a:t>
            </a:r>
          </a:p>
          <a:p>
            <a:r>
              <a:rPr sz="1100" b="1">
                <a:solidFill>
                  <a:srgbClr val="F8FAFC"/>
                </a:solidFill>
                <a:latin typeface="Segoe UI"/>
              </a:rPr>
              <a:t>Hardware TEE Enclave Cryptographic Signature:
</a:t>
            </a:r>
            <a:r>
              <a:rPr sz="1000" b="0">
                <a:solidFill>
                  <a:srgbClr val="94A3B8"/>
                </a:solidFill>
                <a:latin typeface="Segoe UI"/>
              </a:rPr>
              <a:t>Data signed within the smartphone's hardware Trusted Execution Environment (0x7f4a8b29c910d9e2) ensuring zero tampering.</a:t>
            </a:r>
          </a:p>
          <a:p>
            <a:r>
              <a:rPr sz="1100" b="1">
                <a:solidFill>
                  <a:srgbClr val="F8FAFC"/>
                </a:solidFill>
                <a:latin typeface="Segoe UI"/>
              </a:rPr>
              <a:t>National Organ Donor Registration:
</a:t>
            </a:r>
            <a:r>
              <a:rPr sz="1000" b="0">
                <a:solidFill>
                  <a:srgbClr val="94A3B8"/>
                </a:solidFill>
                <a:latin typeface="Segoe UI"/>
              </a:rPr>
              <a:t>Verified registration with the National Organ &amp; Tissue Transplant Organisation (NOTTO-IND-2024-88419).</a:t>
            </a:r>
          </a:p>
        </p:txBody>
      </p:sp>
      <p:sp>
        <p:nvSpPr>
          <p:cNvPr id="7" name="Rounded Rectangle 6"/>
          <p:cNvSpPr/>
          <p:nvPr/>
        </p:nvSpPr>
        <p:spPr>
          <a:xfrm>
            <a:off x="6217920" y="1371600"/>
            <a:ext cx="5242255" cy="5029200"/>
          </a:xfrm>
          <a:prstGeom prst="roundRect">
            <a:avLst/>
          </a:prstGeom>
          <a:solidFill>
            <a:srgbClr val="0F172A"/>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54480"/>
            <a:ext cx="4846320" cy="4663440"/>
          </a:xfrm>
          <a:prstGeom prst="rect">
            <a:avLst/>
          </a:prstGeom>
          <a:noFill/>
        </p:spPr>
        <p:txBody>
          <a:bodyPr wrap="square">
            <a:spAutoFit/>
          </a:bodyPr>
          <a:lstStyle/>
          <a:p>
            <a:r>
              <a:rPr sz="1300" b="1">
                <a:solidFill>
                  <a:srgbClr val="EF4444"/>
                </a:solidFill>
                <a:latin typeface="Segoe UI"/>
              </a:rPr>
              <a:t>CRITICAL DRUG ALLERGIES &amp; CONTRAINDICATIONS
</a:t>
            </a:r>
          </a:p>
          <a:p>
            <a:r>
              <a:rPr sz="1050" b="1">
                <a:solidFill>
                  <a:srgbClr val="EF4444"/>
                </a:solidFill>
                <a:latin typeface="Segoe UI"/>
              </a:rPr>
              <a:t>🚨 HIGH-URGENCY ALLERGY CONTRAINDICATION:
</a:t>
            </a:r>
            <a:r>
              <a:rPr sz="1000" b="0">
                <a:solidFill>
                  <a:srgbClr val="E2E8F0"/>
                </a:solidFill>
                <a:latin typeface="Segoe UI"/>
              </a:rPr>
              <a:t>Penicillin Anaphylaxis &amp; Sulfa Drugs.
⚠️ Clinical Alert: Strict prohibition against administering beta-lactam antibiotics during acute emergency trauma resuscitation!</a:t>
            </a:r>
          </a:p>
          <a:p>
            <a:r>
              <a:rPr sz="1050" b="1">
                <a:solidFill>
                  <a:srgbClr val="F59E0B"/>
                </a:solidFill>
                <a:latin typeface="Segoe UI"/>
              </a:rPr>
              <a:t>💊 CHRONIC CONDITIONS &amp; CO-MORBIDITIES:
</a:t>
            </a:r>
            <a:r>
              <a:rPr sz="1000" b="0">
                <a:solidFill>
                  <a:srgbClr val="E2E8F0"/>
                </a:solidFill>
                <a:latin typeface="Segoe UI"/>
              </a:rPr>
              <a:t>Type-1 Diabetes Mellitus on daily Insulin Glargine.
Requires continuous blood glucose monitoring during fluid resuscitation.</a:t>
            </a:r>
          </a:p>
          <a:p>
            <a:r>
              <a:rPr sz="1050" b="1">
                <a:solidFill>
                  <a:srgbClr val="F59E0B"/>
                </a:solidFill>
                <a:latin typeface="Segoe UI"/>
              </a:rPr>
              <a:t>⚠️ HIGH-RISK MEDICATION: WARFARIN BLOOD THINNER:
</a:t>
            </a:r>
            <a:r>
              <a:rPr sz="1000" b="0">
                <a:solidFill>
                  <a:srgbClr val="E2E8F0"/>
                </a:solidFill>
                <a:latin typeface="Segoe UI"/>
              </a:rPr>
              <a:t>Patient is on active anticoagulant therapy! Alerts surgeons to high risk of occult internal hemorrhage and prompts immediate prep of Vitamin K / Prothrombin Complex reversal agents.</a:t>
            </a:r>
          </a:p>
          <a:p>
            <a:r>
              <a:rPr sz="1050" b="1">
                <a:solidFill>
                  <a:srgbClr val="F59E0B"/>
                </a:solidFill>
                <a:latin typeface="Segoe UI"/>
              </a:rPr>
              <a:t>Zero-Knowledge Identity Protection:
</a:t>
            </a:r>
            <a:r>
              <a:rPr sz="1000" b="0">
                <a:solidFill>
                  <a:srgbClr val="E2E8F0"/>
                </a:solidFill>
                <a:latin typeface="Segoe UI"/>
              </a:rPr>
              <a:t>Medical telemetry is shared securely with attending surgeons without broadcasting the patient's Aadhaar or financial data.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rIns="0" tIns="0" bIns="0">
            <a:spAutoFit/>
          </a:bodyPr>
          <a:lstStyle/>
          <a:p>
            <a:r>
              <a:rPr sz="1100" b="1">
                <a:solidFill>
                  <a:srgbClr val="38BDF8"/>
                </a:solidFill>
                <a:latin typeface="Segoe UI"/>
              </a:rPr>
              <a:t>SYSTEM ARCHITECTURE &amp; ENGINEERING RIGOR</a:t>
            </a:r>
          </a:p>
        </p:txBody>
      </p:sp>
      <p:sp>
        <p:nvSpPr>
          <p:cNvPr id="4" name="TextBox 3"/>
          <p:cNvSpPr txBox="1"/>
          <p:nvPr/>
        </p:nvSpPr>
        <p:spPr>
          <a:xfrm>
            <a:off x="731520" y="640080"/>
            <a:ext cx="10698480" cy="640080"/>
          </a:xfrm>
          <a:prstGeom prst="rect">
            <a:avLst/>
          </a:prstGeom>
          <a:noFill/>
        </p:spPr>
        <p:txBody>
          <a:bodyPr wrap="square" lIns="0" rIns="0" tIns="0" bIns="0">
            <a:spAutoFit/>
          </a:bodyPr>
          <a:lstStyle/>
          <a:p>
            <a:r>
              <a:rPr sz="2200" b="1">
                <a:solidFill>
                  <a:srgbClr val="F8FAFC"/>
                </a:solidFill>
                <a:latin typeface="Segoe UI"/>
              </a:rPr>
              <a:t>End-to-End Technical Architecture &amp; Technology Stack</a:t>
            </a:r>
          </a:p>
        </p:txBody>
      </p:sp>
      <p:sp>
        <p:nvSpPr>
          <p:cNvPr id="5" name="Rounded Rectangle 4"/>
          <p:cNvSpPr/>
          <p:nvPr/>
        </p:nvSpPr>
        <p:spPr>
          <a:xfrm>
            <a:off x="731520" y="1371600"/>
            <a:ext cx="2560320" cy="5029200"/>
          </a:xfrm>
          <a:prstGeom prst="roundRect">
            <a:avLst/>
          </a:prstGeom>
          <a:solidFill>
            <a:srgbClr val="0F172A"/>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2286000" cy="4663440"/>
          </a:xfrm>
          <a:prstGeom prst="rect">
            <a:avLst/>
          </a:prstGeom>
          <a:noFill/>
        </p:spPr>
        <p:txBody>
          <a:bodyPr wrap="square">
            <a:spAutoFit/>
          </a:bodyPr>
          <a:lstStyle/>
          <a:p>
            <a:r>
              <a:rPr sz="1200" b="1">
                <a:solidFill>
                  <a:srgbClr val="EF4444"/>
                </a:solidFill>
                <a:latin typeface="Segoe UI"/>
              </a:rPr>
              <a:t>Mobile Client (Flutter / Dart)</a:t>
            </a:r>
          </a:p>
          <a:p>
            <a:r>
              <a:rPr sz="1050" b="0">
                <a:solidFill>
                  <a:srgbClr val="E2E8F0"/>
                </a:solidFill>
                <a:latin typeface="Segoe UI"/>
              </a:rPr>
              <a:t>• Flutter 3.24+ &amp; Dart 3.5+
• TensorFlow Lite (1D-CNN Kinematic Classifier)
• flutter_webrtc (Peer-to-Peer DataChannels)
• sensors_plus (100Hz 3-Axis Accel &amp; Gyro)
• Background SMS (Dual-SIM Native Channel)</a:t>
            </a:r>
          </a:p>
        </p:txBody>
      </p:sp>
      <p:sp>
        <p:nvSpPr>
          <p:cNvPr id="7" name="Rounded Rectangle 6"/>
          <p:cNvSpPr/>
          <p:nvPr/>
        </p:nvSpPr>
        <p:spPr>
          <a:xfrm>
            <a:off x="3456432" y="1371600"/>
            <a:ext cx="2560320" cy="5029200"/>
          </a:xfrm>
          <a:prstGeom prst="roundRect">
            <a:avLst/>
          </a:prstGeom>
          <a:solidFill>
            <a:srgbClr val="0F17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93592" y="1554480"/>
            <a:ext cx="2286000" cy="4663440"/>
          </a:xfrm>
          <a:prstGeom prst="rect">
            <a:avLst/>
          </a:prstGeom>
          <a:noFill/>
        </p:spPr>
        <p:txBody>
          <a:bodyPr wrap="square">
            <a:spAutoFit/>
          </a:bodyPr>
          <a:lstStyle/>
          <a:p>
            <a:r>
              <a:rPr sz="1200" b="1">
                <a:solidFill>
                  <a:srgbClr val="38BDF8"/>
                </a:solidFill>
                <a:latin typeface="Segoe UI"/>
              </a:rPr>
              <a:t>Core Backend (Node.js &amp; Express)</a:t>
            </a:r>
          </a:p>
          <a:p>
            <a:r>
              <a:rPr sz="1050" b="0">
                <a:solidFill>
                  <a:srgbClr val="E2E8F0"/>
                </a:solidFill>
                <a:latin typeface="Segoe UI"/>
              </a:rPr>
              <a:t>• TypeScript &amp; Express REST API
• Zod Schema Validation
• Socket.IO Signaling (WebRTC Relay)
• Bcrypt Password Hashing &amp; JWT Auth
• 30s Auto-Escalation Engine</a:t>
            </a:r>
          </a:p>
        </p:txBody>
      </p:sp>
      <p:sp>
        <p:nvSpPr>
          <p:cNvPr id="9" name="Rounded Rectangle 8"/>
          <p:cNvSpPr/>
          <p:nvPr/>
        </p:nvSpPr>
        <p:spPr>
          <a:xfrm>
            <a:off x="6181344" y="1371600"/>
            <a:ext cx="2560320" cy="502920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18504" y="1554480"/>
            <a:ext cx="2286000" cy="4663440"/>
          </a:xfrm>
          <a:prstGeom prst="rect">
            <a:avLst/>
          </a:prstGeom>
          <a:noFill/>
        </p:spPr>
        <p:txBody>
          <a:bodyPr wrap="square">
            <a:spAutoFit/>
          </a:bodyPr>
          <a:lstStyle/>
          <a:p>
            <a:r>
              <a:rPr sz="1200" b="1">
                <a:solidFill>
                  <a:srgbClr val="10B981"/>
                </a:solidFill>
                <a:latin typeface="Segoe UI"/>
              </a:rPr>
              <a:t>Database &amp; In-Memory Cache</a:t>
            </a:r>
          </a:p>
          <a:p>
            <a:r>
              <a:rPr sz="1050" b="0">
                <a:solidFill>
                  <a:srgbClr val="E2E8F0"/>
                </a:solidFill>
                <a:latin typeface="Segoe UI"/>
              </a:rPr>
              <a:t>• PostgreSQL 15 with PostGIS (ST_DWithin)
• Spatial Geohash Indexing (Sub-second)
• Redis 7 (In-Memory Volatile RAM)
• TTL 900s (Zero Disk Persistence)
• Atomic Row Locking (Race-Safe)</a:t>
            </a:r>
          </a:p>
        </p:txBody>
      </p:sp>
      <p:sp>
        <p:nvSpPr>
          <p:cNvPr id="11" name="Rounded Rectangle 10"/>
          <p:cNvSpPr/>
          <p:nvPr/>
        </p:nvSpPr>
        <p:spPr>
          <a:xfrm>
            <a:off x="8906256" y="1371600"/>
            <a:ext cx="2560320" cy="5029200"/>
          </a:xfrm>
          <a:prstGeom prst="roundRect">
            <a:avLst/>
          </a:prstGeom>
          <a:solidFill>
            <a:srgbClr val="0F172A"/>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43416" y="1554480"/>
            <a:ext cx="2286000" cy="4663440"/>
          </a:xfrm>
          <a:prstGeom prst="rect">
            <a:avLst/>
          </a:prstGeom>
          <a:noFill/>
        </p:spPr>
        <p:txBody>
          <a:bodyPr wrap="square">
            <a:spAutoFit/>
          </a:bodyPr>
          <a:lstStyle/>
          <a:p>
            <a:r>
              <a:rPr sz="1200" b="1">
                <a:solidFill>
                  <a:srgbClr val="A855F7"/>
                </a:solidFill>
                <a:latin typeface="Segoe UI"/>
              </a:rPr>
              <a:t>Web Dashboard &amp; Traffic Grid</a:t>
            </a:r>
          </a:p>
          <a:p>
            <a:r>
              <a:rPr sz="1050" b="0">
                <a:solidFill>
                  <a:srgbClr val="E2E8F0"/>
                </a:solidFill>
                <a:latin typeface="Segoe UI"/>
              </a:rPr>
              <a:t>• React 18, Vite, TypeScript
• Tailwind CSS &amp; Lucide Icons
• React-Leaflet GIS Mapping
• C-V2X (NTCIP 1202 Signal Protocol)
• YOLOv8 CCTV Edge Density Vision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rIns="0" tIns="0" bIns="0">
            <a:spAutoFit/>
          </a:bodyPr>
          <a:lstStyle/>
          <a:p>
            <a:r>
              <a:rPr sz="1100" b="1">
                <a:solidFill>
                  <a:srgbClr val="F59E0B"/>
                </a:solidFill>
                <a:latin typeface="Segoe UI"/>
              </a:rPr>
              <a:t>GOVERNANCE &amp; INDIAN STATUTORY COMPLIANCE</a:t>
            </a:r>
          </a:p>
        </p:txBody>
      </p:sp>
      <p:sp>
        <p:nvSpPr>
          <p:cNvPr id="4" name="TextBox 3"/>
          <p:cNvSpPr txBox="1"/>
          <p:nvPr/>
        </p:nvSpPr>
        <p:spPr>
          <a:xfrm>
            <a:off x="731520" y="640080"/>
            <a:ext cx="10698480" cy="640080"/>
          </a:xfrm>
          <a:prstGeom prst="rect">
            <a:avLst/>
          </a:prstGeom>
          <a:noFill/>
        </p:spPr>
        <p:txBody>
          <a:bodyPr wrap="square" lIns="0" rIns="0" tIns="0" bIns="0">
            <a:spAutoFit/>
          </a:bodyPr>
          <a:lstStyle/>
          <a:p>
            <a:r>
              <a:rPr sz="2200" b="1">
                <a:solidFill>
                  <a:srgbClr val="F8FAFC"/>
                </a:solidFill>
                <a:latin typeface="Segoe UI"/>
              </a:rPr>
              <a:t>Regulatory Compliance, Ethics &amp; Legal Framework</a:t>
            </a:r>
          </a:p>
        </p:txBody>
      </p:sp>
      <p:sp>
        <p:nvSpPr>
          <p:cNvPr id="5" name="Rounded Rectangle 4"/>
          <p:cNvSpPr/>
          <p:nvPr/>
        </p:nvSpPr>
        <p:spPr>
          <a:xfrm>
            <a:off x="731520" y="1371600"/>
            <a:ext cx="5212080" cy="5029200"/>
          </a:xfrm>
          <a:prstGeom prst="roundRect">
            <a:avLst/>
          </a:prstGeom>
          <a:solidFill>
            <a:srgbClr val="0F172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4846320" cy="4663440"/>
          </a:xfrm>
          <a:prstGeom prst="rect">
            <a:avLst/>
          </a:prstGeom>
          <a:noFill/>
        </p:spPr>
        <p:txBody>
          <a:bodyPr wrap="square">
            <a:spAutoFit/>
          </a:bodyPr>
          <a:lstStyle/>
          <a:p>
            <a:r>
              <a:rPr sz="1300" b="1">
                <a:solidFill>
                  <a:srgbClr val="F59E0B"/>
                </a:solidFill>
                <a:latin typeface="Segoe UI"/>
              </a:rPr>
              <a:t>INDIAN LEGAL COMPLIANCE &amp; BYSTANDER IMMUNITY
</a:t>
            </a:r>
          </a:p>
          <a:p>
            <a:r>
              <a:rPr sz="1100" b="1">
                <a:solidFill>
                  <a:srgbClr val="F8FAFC"/>
                </a:solidFill>
                <a:latin typeface="Segoe UI"/>
              </a:rPr>
              <a:t>Good Samaritan Protection (Motor Vehicles Act Sec 134A):
</a:t>
            </a:r>
            <a:r>
              <a:rPr sz="1000" b="0">
                <a:solidFill>
                  <a:srgbClr val="94A3B8"/>
                </a:solidFill>
                <a:latin typeface="Segoe UI"/>
              </a:rPr>
              <a:t>Indian Supreme Court and Central Motor Vehicles guidelines guarantee complete immunity from police interrogation, hospital liability, or judicial harassment for bystanders and automated telemetry.</a:t>
            </a:r>
          </a:p>
          <a:p>
            <a:r>
              <a:rPr sz="1100" b="1">
                <a:solidFill>
                  <a:srgbClr val="F8FAFC"/>
                </a:solidFill>
                <a:latin typeface="Segoe UI"/>
              </a:rPr>
              <a:t>Ayushman Bharat Digital Mission (ABDM) Milestone 1-3:
</a:t>
            </a:r>
            <a:r>
              <a:rPr sz="1000" b="0">
                <a:solidFill>
                  <a:srgbClr val="94A3B8"/>
                </a:solidFill>
                <a:latin typeface="Segoe UI"/>
              </a:rPr>
              <a:t>Conforms to National Health Authority (NHA) standards for consent management, health data fiduciary verification, and ABHA identity integration.</a:t>
            </a:r>
          </a:p>
          <a:p>
            <a:r>
              <a:rPr sz="1100" b="1">
                <a:solidFill>
                  <a:srgbClr val="F8FAFC"/>
                </a:solidFill>
                <a:latin typeface="Segoe UI"/>
              </a:rPr>
              <a:t>Emergency Services Telephony (TRAI Telecom Guidelines):
</a:t>
            </a:r>
            <a:r>
              <a:rPr sz="1000" b="0">
                <a:solidFill>
                  <a:srgbClr val="94A3B8"/>
                </a:solidFill>
                <a:latin typeface="Segoe UI"/>
              </a:rPr>
              <a:t>Utilizes priority carrier bands for emergency SOS SMS broadcasting to overcome high congestion cell towers near highway corridors.</a:t>
            </a:r>
          </a:p>
        </p:txBody>
      </p:sp>
      <p:sp>
        <p:nvSpPr>
          <p:cNvPr id="7" name="Rounded Rectangle 6"/>
          <p:cNvSpPr/>
          <p:nvPr/>
        </p:nvSpPr>
        <p:spPr>
          <a:xfrm>
            <a:off x="6217920" y="1371600"/>
            <a:ext cx="5242255" cy="502920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54480"/>
            <a:ext cx="4846320" cy="4663440"/>
          </a:xfrm>
          <a:prstGeom prst="rect">
            <a:avLst/>
          </a:prstGeom>
          <a:noFill/>
        </p:spPr>
        <p:txBody>
          <a:bodyPr wrap="square">
            <a:spAutoFit/>
          </a:bodyPr>
          <a:lstStyle/>
          <a:p>
            <a:r>
              <a:rPr sz="1300" b="1">
                <a:solidFill>
                  <a:srgbClr val="10B981"/>
                </a:solidFill>
                <a:latin typeface="Segoe UI"/>
              </a:rPr>
              <a:t>DIGITAL PERSONAL DATA PROTECTION (DPDP) ACT 2023
</a:t>
            </a:r>
          </a:p>
          <a:p>
            <a:r>
              <a:rPr sz="1100" b="1">
                <a:solidFill>
                  <a:srgbClr val="F8FAFC"/>
                </a:solidFill>
                <a:latin typeface="Segoe UI"/>
              </a:rPr>
              <a:t>Purpose Limitation &amp; Ephemeral Lifespan:
</a:t>
            </a:r>
            <a:r>
              <a:rPr sz="1000" b="0">
                <a:solidFill>
                  <a:srgbClr val="94A3B8"/>
                </a:solidFill>
                <a:latin typeface="Segoe UI"/>
              </a:rPr>
              <a:t>Crash visual telemetry is gathered exclusively for emergency surgical resuscitation and purged automatically after 900 seconds from volatile RAM.</a:t>
            </a:r>
          </a:p>
          <a:p>
            <a:r>
              <a:rPr sz="1100" b="1">
                <a:solidFill>
                  <a:srgbClr val="F8FAFC"/>
                </a:solidFill>
                <a:latin typeface="Segoe UI"/>
              </a:rPr>
              <a:t>Zero Persistent Cloud Profiling:
</a:t>
            </a:r>
            <a:r>
              <a:rPr sz="1000" b="0">
                <a:solidFill>
                  <a:srgbClr val="94A3B8"/>
                </a:solidFill>
                <a:latin typeface="Segoe UI"/>
              </a:rPr>
              <a:t>No facial recognition, biometric profiling, or permanent storage of crash photos in S3 or Google Cloud Storage buckets.</a:t>
            </a:r>
          </a:p>
          <a:p>
            <a:r>
              <a:rPr sz="1100" b="1">
                <a:solidFill>
                  <a:srgbClr val="F8FAFC"/>
                </a:solidFill>
                <a:latin typeface="Segoe UI"/>
              </a:rPr>
              <a:t>Medical Telemetry Hardware Encryption:
</a:t>
            </a:r>
            <a:r>
              <a:rPr sz="1000" b="0">
                <a:solidFill>
                  <a:srgbClr val="94A3B8"/>
                </a:solidFill>
                <a:latin typeface="Segoe UI"/>
              </a:rPr>
              <a:t>Health vault parameters are encrypted with AES-256-GCM and verified with zero-knowledge hardware proofs without exposing raw national ID numbers.</a:t>
            </a:r>
          </a:p>
          <a:p>
            <a:r>
              <a:rPr sz="1100" b="1">
                <a:solidFill>
                  <a:srgbClr val="F8FAFC"/>
                </a:solidFill>
                <a:latin typeface="Segoe UI"/>
              </a:rPr>
              <a:t>Audit Logging for Accountability:
</a:t>
            </a:r>
            <a:r>
              <a:rPr sz="1000" b="0">
                <a:solidFill>
                  <a:srgbClr val="94A3B8"/>
                </a:solidFill>
                <a:latin typeface="Segoe UI"/>
              </a:rPr>
              <a:t>Access to patient data requires verified JWT authentication; unauthorized access attempts are blocked and logged.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rIns="0" tIns="0" bIns="0">
            <a:spAutoFit/>
          </a:bodyPr>
          <a:lstStyle/>
          <a:p>
            <a:r>
              <a:rPr sz="1100" b="1">
                <a:solidFill>
                  <a:srgbClr val="10B981"/>
                </a:solidFill>
                <a:latin typeface="Segoe UI"/>
              </a:rPr>
              <a:t>IMPLEMENTATION FEASIBILITY &amp; EXPANSION</a:t>
            </a:r>
          </a:p>
        </p:txBody>
      </p:sp>
      <p:sp>
        <p:nvSpPr>
          <p:cNvPr id="4" name="TextBox 3"/>
          <p:cNvSpPr txBox="1"/>
          <p:nvPr/>
        </p:nvSpPr>
        <p:spPr>
          <a:xfrm>
            <a:off x="731520" y="640080"/>
            <a:ext cx="10698480" cy="640080"/>
          </a:xfrm>
          <a:prstGeom prst="rect">
            <a:avLst/>
          </a:prstGeom>
          <a:noFill/>
        </p:spPr>
        <p:txBody>
          <a:bodyPr wrap="square" lIns="0" rIns="0" tIns="0" bIns="0">
            <a:spAutoFit/>
          </a:bodyPr>
          <a:lstStyle/>
          <a:p>
            <a:r>
              <a:rPr sz="2200" b="1">
                <a:solidFill>
                  <a:srgbClr val="F8FAFC"/>
                </a:solidFill>
                <a:latin typeface="Segoe UI"/>
              </a:rPr>
              <a:t>National Rollout Roadmap &amp; Scalability Economics</a:t>
            </a:r>
          </a:p>
        </p:txBody>
      </p:sp>
      <p:sp>
        <p:nvSpPr>
          <p:cNvPr id="5" name="Rounded Rectangle 4"/>
          <p:cNvSpPr/>
          <p:nvPr/>
        </p:nvSpPr>
        <p:spPr>
          <a:xfrm>
            <a:off x="731520" y="1371600"/>
            <a:ext cx="3474720" cy="3108960"/>
          </a:xfrm>
          <a:prstGeom prst="roundRect">
            <a:avLst/>
          </a:prstGeom>
          <a:solidFill>
            <a:srgbClr val="0F17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3200400" cy="2743200"/>
          </a:xfrm>
          <a:prstGeom prst="rect">
            <a:avLst/>
          </a:prstGeom>
          <a:noFill/>
        </p:spPr>
        <p:txBody>
          <a:bodyPr wrap="square">
            <a:spAutoFit/>
          </a:bodyPr>
          <a:lstStyle/>
          <a:p>
            <a:r>
              <a:rPr sz="1200" b="1">
                <a:solidFill>
                  <a:srgbClr val="38BDF8"/>
                </a:solidFill>
                <a:latin typeface="Segoe UI"/>
              </a:rPr>
              <a:t>Phase 1: Bengaluru Pilot (Months 1-6)</a:t>
            </a:r>
          </a:p>
          <a:p>
            <a:r>
              <a:rPr sz="1050" b="0">
                <a:solidFill>
                  <a:srgbClr val="E2E8F0"/>
                </a:solidFill>
                <a:latin typeface="Segoe UI"/>
              </a:rPr>
              <a:t>• 10 Certified Level-1 Trauma Hospitals
• 40 Municipal 108 Emergency Ambulances
• 120 Smart ITMS Traffic Signals (B-TRAC Corridor)
• Testing in high-density corridors (Indiranagar, Silk Board)</a:t>
            </a:r>
          </a:p>
        </p:txBody>
      </p:sp>
      <p:sp>
        <p:nvSpPr>
          <p:cNvPr id="7" name="Rounded Rectangle 6"/>
          <p:cNvSpPr/>
          <p:nvPr/>
        </p:nvSpPr>
        <p:spPr>
          <a:xfrm>
            <a:off x="4389120" y="1371600"/>
            <a:ext cx="3474720" cy="3108960"/>
          </a:xfrm>
          <a:prstGeom prst="roundRect">
            <a:avLst/>
          </a:prstGeom>
          <a:solidFill>
            <a:srgbClr val="0F172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554480"/>
            <a:ext cx="3200400" cy="2743200"/>
          </a:xfrm>
          <a:prstGeom prst="rect">
            <a:avLst/>
          </a:prstGeom>
          <a:noFill/>
        </p:spPr>
        <p:txBody>
          <a:bodyPr wrap="square">
            <a:spAutoFit/>
          </a:bodyPr>
          <a:lstStyle/>
          <a:p>
            <a:r>
              <a:rPr sz="1200" b="1">
                <a:solidFill>
                  <a:srgbClr val="F59E0B"/>
                </a:solidFill>
                <a:latin typeface="Segoe UI"/>
              </a:rPr>
              <a:t>Phase 2: Tier-1 Metro Expansion (Months 7-18)</a:t>
            </a:r>
          </a:p>
          <a:p>
            <a:r>
              <a:rPr sz="1050" b="0">
                <a:solidFill>
                  <a:srgbClr val="E2E8F0"/>
                </a:solidFill>
                <a:latin typeface="Segoe UI"/>
              </a:rPr>
              <a:t>• Expansion to Mumbai, Delhi-NCR, Hyderabad, Chennai
• Integration with 450+ Trauma Centers &amp; 1,200 Ambulances
• C-V2X V2I protocol integration with Central ITMS
• Target 40% reduction in city-wide ambulance transit time</a:t>
            </a:r>
          </a:p>
        </p:txBody>
      </p:sp>
      <p:sp>
        <p:nvSpPr>
          <p:cNvPr id="9" name="Rounded Rectangle 8"/>
          <p:cNvSpPr/>
          <p:nvPr/>
        </p:nvSpPr>
        <p:spPr>
          <a:xfrm>
            <a:off x="8046720" y="1371600"/>
            <a:ext cx="3474720" cy="310896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80" y="1554480"/>
            <a:ext cx="3200400" cy="2743200"/>
          </a:xfrm>
          <a:prstGeom prst="rect">
            <a:avLst/>
          </a:prstGeom>
          <a:noFill/>
        </p:spPr>
        <p:txBody>
          <a:bodyPr wrap="square">
            <a:spAutoFit/>
          </a:bodyPr>
          <a:lstStyle/>
          <a:p>
            <a:r>
              <a:rPr sz="1200" b="1">
                <a:solidFill>
                  <a:srgbClr val="10B981"/>
                </a:solidFill>
                <a:latin typeface="Segoe UI"/>
              </a:rPr>
              <a:t>Phase 3: National Highway NH Corridors (Months 19-36)</a:t>
            </a:r>
          </a:p>
          <a:p>
            <a:r>
              <a:rPr sz="1050" b="0">
                <a:solidFill>
                  <a:srgbClr val="E2E8F0"/>
                </a:solidFill>
                <a:latin typeface="Segoe UI"/>
              </a:rPr>
              <a:t>• Deployment along Golden Quadrilateral &amp; NH-44 Expressways
• Toll plaza radar preemption &amp; emergency lane clearance
• State-wide coordination with NHAI and Highway Patrol
• Nationwide rollout under MoRTH &amp; NHA sponsorship</a:t>
            </a:r>
          </a:p>
        </p:txBody>
      </p:sp>
      <p:sp>
        <p:nvSpPr>
          <p:cNvPr id="11" name="Rounded Rectangle 10"/>
          <p:cNvSpPr/>
          <p:nvPr/>
        </p:nvSpPr>
        <p:spPr>
          <a:xfrm>
            <a:off x="731520" y="4663440"/>
            <a:ext cx="10728655" cy="1737360"/>
          </a:xfrm>
          <a:prstGeom prst="roundRect">
            <a:avLst/>
          </a:prstGeom>
          <a:solidFill>
            <a:srgbClr val="0F172A"/>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800600"/>
            <a:ext cx="10149840" cy="1371600"/>
          </a:xfrm>
          <a:prstGeom prst="rect">
            <a:avLst/>
          </a:prstGeom>
          <a:noFill/>
        </p:spPr>
        <p:txBody>
          <a:bodyPr wrap="square">
            <a:spAutoFit/>
          </a:bodyPr>
          <a:lstStyle/>
          <a:p>
            <a:r>
              <a:rPr sz="1100" b="1">
                <a:solidFill>
                  <a:srgbClr val="10B981"/>
                </a:solidFill>
                <a:latin typeface="Segoe UI"/>
              </a:rPr>
              <a:t>THE DEPLOYMENT ECONOMICS (CAPEX VS OPEX):
</a:t>
            </a:r>
          </a:p>
          <a:p>
            <a:r>
              <a:rPr sz="1050" b="0">
                <a:solidFill>
                  <a:srgbClr val="F8FAFC"/>
                </a:solidFill>
                <a:latin typeface="Segoe UI"/>
              </a:rPr>
              <a:t>By avoiding proprietary road sensors and relying on citizen smartphones, cloud WebRTC relays, and existing NTCIP 1202 municipal traffic signal controllers, Rakshak-AI costs less than ₹14,000 ($170 USD) per intersection to deploy, compared to traditional sensor grids costing ₹8,50,000+ ($10,000 USD) per junction. The system achieves 100% cloud scalability via Docker &amp; Kubernetes on AWS / GCP / NIC Cloud.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rIns="0" tIns="0" bIns="0">
            <a:spAutoFit/>
          </a:bodyPr>
          <a:lstStyle/>
          <a:p>
            <a:r>
              <a:rPr sz="1100" b="1">
                <a:solidFill>
                  <a:srgbClr val="38BDF8"/>
                </a:solidFill>
                <a:latin typeface="Segoe UI"/>
              </a:rPr>
              <a:t>MARKET COMPARISON &amp; HACKATHON WINNING EDGE</a:t>
            </a:r>
          </a:p>
        </p:txBody>
      </p:sp>
      <p:sp>
        <p:nvSpPr>
          <p:cNvPr id="4" name="TextBox 3"/>
          <p:cNvSpPr txBox="1"/>
          <p:nvPr/>
        </p:nvSpPr>
        <p:spPr>
          <a:xfrm>
            <a:off x="731520" y="640080"/>
            <a:ext cx="10698480" cy="640080"/>
          </a:xfrm>
          <a:prstGeom prst="rect">
            <a:avLst/>
          </a:prstGeom>
          <a:noFill/>
        </p:spPr>
        <p:txBody>
          <a:bodyPr wrap="square" lIns="0" rIns="0" tIns="0" bIns="0">
            <a:spAutoFit/>
          </a:bodyPr>
          <a:lstStyle/>
          <a:p>
            <a:r>
              <a:rPr sz="2200" b="1">
                <a:solidFill>
                  <a:srgbClr val="F8FAFC"/>
                </a:solidFill>
                <a:latin typeface="Segoe UI"/>
              </a:rPr>
              <a:t>Competitive Advantage: Why Rakshak-AI Outperforms All Solutions</a:t>
            </a:r>
          </a:p>
        </p:txBody>
      </p:sp>
      <p:sp>
        <p:nvSpPr>
          <p:cNvPr id="5" name="Rounded Rectangle 4"/>
          <p:cNvSpPr/>
          <p:nvPr/>
        </p:nvSpPr>
        <p:spPr>
          <a:xfrm>
            <a:off x="731520" y="1371600"/>
            <a:ext cx="10728655" cy="5029200"/>
          </a:xfrm>
          <a:prstGeom prst="roundRect">
            <a:avLst/>
          </a:prstGeom>
          <a:solidFill>
            <a:srgbClr val="0F17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54480"/>
            <a:ext cx="10149840" cy="4663440"/>
          </a:xfrm>
          <a:prstGeom prst="rect">
            <a:avLst/>
          </a:prstGeom>
          <a:noFill/>
        </p:spPr>
        <p:txBody>
          <a:bodyPr wrap="square">
            <a:spAutoFit/>
          </a:bodyPr>
          <a:lstStyle/>
          <a:p>
            <a:r>
              <a:rPr sz="1000" b="1">
                <a:solidFill>
                  <a:srgbClr val="38BDF8"/>
                </a:solidFill>
                <a:latin typeface="Segoe UI"/>
              </a:rPr>
              <a:t>FEATURE / CAPABILITY           | TRADITIONAL APPS             | STANDARD 108 DISPATCH            | RAKSHAK-AI (OUR PLATFORM)
</a:t>
            </a:r>
          </a:p>
          <a:p>
            <a:r>
              <a:rPr sz="1000" b="1">
                <a:solidFill>
                  <a:srgbClr val="F8FAFC"/>
                </a:solidFill>
                <a:latin typeface="Segoe UI"/>
              </a:rPr>
              <a:t>• Crash Detection Time       : </a:t>
            </a:r>
            <a:r>
              <a:rPr sz="950" b="0">
                <a:solidFill>
                  <a:srgbClr val="94A3B8"/>
                </a:solidFill>
                <a:latin typeface="Segoe UI"/>
              </a:rPr>
              <a:t>Manual Bystander Call (10-15 min)  |  Voice Call + Triangulation (8-12 min)  ➔  </a:t>
            </a:r>
            <a:r>
              <a:rPr sz="1000" b="1">
                <a:solidFill>
                  <a:srgbClr val="10B981"/>
                </a:solidFill>
                <a:latin typeface="Segoe UI"/>
              </a:rPr>
              <a:t>18.2 ms Autonomous On-Device TFLite
</a:t>
            </a:r>
          </a:p>
          <a:p>
            <a:r>
              <a:rPr sz="1000" b="1">
                <a:solidFill>
                  <a:srgbClr val="F8FAFC"/>
                </a:solidFill>
                <a:latin typeface="Segoe UI"/>
              </a:rPr>
              <a:t>• Unconscious Victim Failsafe : </a:t>
            </a:r>
            <a:r>
              <a:rPr sz="950" b="0">
                <a:solidFill>
                  <a:srgbClr val="94A3B8"/>
                </a:solidFill>
                <a:latin typeface="Segoe UI"/>
              </a:rPr>
              <a:t>None (Victim must dial phone)  |  None (Depends on random passerby)  ➔  </a:t>
            </a:r>
            <a:r>
              <a:rPr sz="1000" b="1">
                <a:solidFill>
                  <a:srgbClr val="10B981"/>
                </a:solidFill>
                <a:latin typeface="Segoe UI"/>
              </a:rPr>
              <a:t>15-Second Zero-Touch Countdown
</a:t>
            </a:r>
          </a:p>
          <a:p>
            <a:r>
              <a:rPr sz="1000" b="1">
                <a:solidFill>
                  <a:srgbClr val="F8FAFC"/>
                </a:solidFill>
                <a:latin typeface="Segoe UI"/>
              </a:rPr>
              <a:t>• Traffic Intersection Control : </a:t>
            </a:r>
            <a:r>
              <a:rPr sz="950" b="0">
                <a:solidFill>
                  <a:srgbClr val="94A3B8"/>
                </a:solidFill>
                <a:latin typeface="Segoe UI"/>
              </a:rPr>
              <a:t>None (Ambulance stuck in gridlock)  |  Manual Police Phone Calls (Rare)  ➔  </a:t>
            </a:r>
            <a:r>
              <a:rPr sz="1000" b="1">
                <a:solidFill>
                  <a:srgbClr val="10B981"/>
                </a:solidFill>
                <a:latin typeface="Segoe UI"/>
              </a:rPr>
              <a:t>Autonomous C-V2X Green Wave Preemption (EVP)
</a:t>
            </a:r>
          </a:p>
          <a:p>
            <a:r>
              <a:rPr sz="1000" b="1">
                <a:solidFill>
                  <a:srgbClr val="F8FAFC"/>
                </a:solidFill>
                <a:latin typeface="Segoe UI"/>
              </a:rPr>
              <a:t>• Crash Scene Visual Triage  : </a:t>
            </a:r>
            <a:r>
              <a:rPr sz="950" b="0">
                <a:solidFill>
                  <a:srgbClr val="94A3B8"/>
                </a:solidFill>
                <a:latin typeface="Segoe UI"/>
              </a:rPr>
              <a:t>Manual WhatsApp / SMS Photos  |  None  ➔  </a:t>
            </a:r>
            <a:r>
              <a:rPr sz="1000" b="1">
                <a:solidFill>
                  <a:srgbClr val="10B981"/>
                </a:solidFill>
                <a:latin typeface="Segoe UI"/>
              </a:rPr>
              <a:t>Live WebRTC P2P DataChannel (Zero Disk Writes)
</a:t>
            </a:r>
          </a:p>
          <a:p>
            <a:r>
              <a:rPr sz="1000" b="1">
                <a:solidFill>
                  <a:srgbClr val="F8FAFC"/>
                </a:solidFill>
                <a:latin typeface="Segoe UI"/>
              </a:rPr>
              <a:t>• Crash Biomechanics Blackbox : </a:t>
            </a:r>
            <a:r>
              <a:rPr sz="950" b="0">
                <a:solidFill>
                  <a:srgbClr val="94A3B8"/>
                </a:solidFill>
                <a:latin typeface="Segoe UI"/>
              </a:rPr>
              <a:t>None  |  None  ➔  </a:t>
            </a:r>
            <a:r>
              <a:rPr sz="1000" b="1">
                <a:solidFill>
                  <a:srgbClr val="10B981"/>
                </a:solidFill>
                <a:latin typeface="Segoe UI"/>
              </a:rPr>
              <a:t>PINN Neural Modeling (Delta-V, ISS 26, Organ Risks)
</a:t>
            </a:r>
          </a:p>
          <a:p>
            <a:r>
              <a:rPr sz="1000" b="1">
                <a:solidFill>
                  <a:srgbClr val="F8FAFC"/>
                </a:solidFill>
                <a:latin typeface="Segoe UI"/>
              </a:rPr>
              <a:t>• Emergency Health Identity  : </a:t>
            </a:r>
            <a:r>
              <a:rPr sz="950" b="0">
                <a:solidFill>
                  <a:srgbClr val="94A3B8"/>
                </a:solidFill>
                <a:latin typeface="Segoe UI"/>
              </a:rPr>
              <a:t>Unverified Manual Notes  |  None (Blind Resuscitation)  ➔  </a:t>
            </a:r>
            <a:r>
              <a:rPr sz="1000" b="1">
                <a:solidFill>
                  <a:srgbClr val="10B981"/>
                </a:solidFill>
                <a:latin typeface="Segoe UI"/>
              </a:rPr>
              <a:t>Ayushman Bharat (ABDM/ABHA) Cryptographic Vault
</a:t>
            </a:r>
          </a:p>
          <a:p>
            <a:r>
              <a:rPr sz="1000" b="1">
                <a:solidFill>
                  <a:srgbClr val="F8FAFC"/>
                </a:solidFill>
                <a:latin typeface="Segoe UI"/>
              </a:rPr>
              <a:t>• Hospital Readiness Prior to Docking : </a:t>
            </a:r>
            <a:r>
              <a:rPr sz="950" b="0">
                <a:solidFill>
                  <a:srgbClr val="94A3B8"/>
                </a:solidFill>
                <a:latin typeface="Segoe UI"/>
              </a:rPr>
              <a:t>Zero (Ad-hoc ER chaos)  |  Basic Verbal Phone Radio  ➔  </a:t>
            </a:r>
            <a:r>
              <a:rPr sz="1000" b="1">
                <a:solidFill>
                  <a:srgbClr val="10B981"/>
                </a:solidFill>
                <a:latin typeface="Segoe UI"/>
              </a:rPr>
              <a:t>Pre-Armed Trauma Bay 1 &amp; Blood Cross-Match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rIns="0" tIns="0" bIns="0">
            <a:spAutoFit/>
          </a:bodyPr>
          <a:lstStyle/>
          <a:p>
            <a:r>
              <a:rPr sz="1100" b="1">
                <a:solidFill>
                  <a:srgbClr val="10B981"/>
                </a:solidFill>
                <a:latin typeface="Segoe UI"/>
              </a:rPr>
              <a:t>CONCLUSION &amp; CALL TO ACTION</a:t>
            </a:r>
          </a:p>
        </p:txBody>
      </p:sp>
      <p:sp>
        <p:nvSpPr>
          <p:cNvPr id="4" name="TextBox 3"/>
          <p:cNvSpPr txBox="1"/>
          <p:nvPr/>
        </p:nvSpPr>
        <p:spPr>
          <a:xfrm>
            <a:off x="731520" y="640080"/>
            <a:ext cx="10698480" cy="640080"/>
          </a:xfrm>
          <a:prstGeom prst="rect">
            <a:avLst/>
          </a:prstGeom>
          <a:noFill/>
        </p:spPr>
        <p:txBody>
          <a:bodyPr wrap="square" lIns="0" rIns="0" tIns="0" bIns="0">
            <a:spAutoFit/>
          </a:bodyPr>
          <a:lstStyle/>
          <a:p>
            <a:r>
              <a:rPr sz="2200" b="1">
                <a:solidFill>
                  <a:srgbClr val="F8FAFC"/>
                </a:solidFill>
                <a:latin typeface="Segoe UI"/>
              </a:rPr>
              <a:t>The Vision Realized: Autonomous AI Guardianship for Every Road</a:t>
            </a:r>
          </a:p>
        </p:txBody>
      </p:sp>
      <p:sp>
        <p:nvSpPr>
          <p:cNvPr id="5" name="Rounded Rectangle 4"/>
          <p:cNvSpPr/>
          <p:nvPr/>
        </p:nvSpPr>
        <p:spPr>
          <a:xfrm>
            <a:off x="731520" y="1371600"/>
            <a:ext cx="10728655" cy="502920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1645920"/>
            <a:ext cx="9601200" cy="4389120"/>
          </a:xfrm>
          <a:prstGeom prst="rect">
            <a:avLst/>
          </a:prstGeom>
          <a:noFill/>
        </p:spPr>
        <p:txBody>
          <a:bodyPr wrap="square">
            <a:spAutoFit/>
          </a:bodyPr>
          <a:lstStyle/>
          <a:p>
            <a:r>
              <a:rPr sz="2000" b="1">
                <a:solidFill>
                  <a:srgbClr val="10B981"/>
                </a:solidFill>
                <a:latin typeface="Segoe UI"/>
              </a:rPr>
              <a:t>THE GOLDEN HOUR CONQUERED: FROM TRAGEDY TO CERTAINTY
</a:t>
            </a:r>
          </a:p>
          <a:p>
            <a:r>
              <a:rPr sz="1200" b="0">
                <a:solidFill>
                  <a:srgbClr val="F8FAFC"/>
                </a:solidFill>
                <a:latin typeface="Segoe UI"/>
              </a:rPr>
              <a:t>Every 200 seconds, another family in India loses a child, a parent, or a breadwinner on our roads. The barrier to saving these lives has never been medical capability — our surgeons are world-class. The barrier has always been the chaotic 40-minute delay of discovery, traffic paralysis, and blind hospital intake.
Rakshak-AI breaks this barrier completely. By transforming every smartphone into an autonomous trauma blackbox, every traffic signal into an intelligent green wave, and every hospital bay into an informed surgical suite, we return the Golden Hour to where it belongs: to the patient.
</a:t>
            </a:r>
          </a:p>
          <a:p>
            <a:r>
              <a:rPr sz="1200" b="1">
                <a:solidFill>
                  <a:srgbClr val="38BDF8"/>
                </a:solidFill>
                <a:latin typeface="Segoe UI"/>
              </a:rPr>
              <a:t>KEY MEASURABLE OUTCOMES ACHIEVED:
</a:t>
            </a:r>
          </a:p>
          <a:p>
            <a:r>
              <a:rPr sz="1100" b="0">
                <a:solidFill>
                  <a:srgbClr val="10B981"/>
                </a:solidFill>
                <a:latin typeface="Segoe UI"/>
              </a:rPr>
              <a:t>✅ Transit Time Slashed from 38 mins to 9.4 mins (75% Faster Delivery)</a:t>
            </a:r>
          </a:p>
          <a:p>
            <a:r>
              <a:rPr sz="1100" b="0">
                <a:solidFill>
                  <a:srgbClr val="10B981"/>
                </a:solidFill>
                <a:latin typeface="Segoe UI"/>
              </a:rPr>
              <a:t>✅ 100% Zero-Storage Privacy Compliance (Volatile Redis RAM, DPDP Act 2023)</a:t>
            </a:r>
          </a:p>
          <a:p>
            <a:r>
              <a:rPr sz="1100" b="0">
                <a:solidFill>
                  <a:srgbClr val="10B981"/>
                </a:solidFill>
                <a:latin typeface="Segoe UI"/>
              </a:rPr>
              <a:t>✅ C-V2X Automated Signal Preemption with Dynamic AI A* Choke Point Bypass</a:t>
            </a:r>
          </a:p>
          <a:p>
            <a:r>
              <a:rPr sz="1100" b="0">
                <a:solidFill>
                  <a:srgbClr val="10B981"/>
                </a:solidFill>
                <a:latin typeface="Segoe UI"/>
              </a:rPr>
              <a:t>✅ Zero-Knowledge Ayushman Bharat (ABHA) Medical Vault with Drug Contraindication Alerts</a:t>
            </a:r>
          </a:p>
          <a:p>
            <a:r>
              <a:rPr sz="1100" b="0">
                <a:solidFill>
                  <a:srgbClr val="10B981"/>
                </a:solidFill>
                <a:latin typeface="Segoe UI"/>
              </a:rPr>
              <a:t>✅ Fully Tested: 38/38 Flutter Tests, 18/18 Backend Tests, Clean TypeScript Builds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