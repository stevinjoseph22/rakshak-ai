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005840"/>
            <a:ext cx="10728655" cy="493776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371600"/>
            <a:ext cx="9601200" cy="365760"/>
          </a:xfrm>
          <a:prstGeom prst="rect">
            <a:avLst/>
          </a:prstGeom>
          <a:noFill/>
        </p:spPr>
        <p:txBody>
          <a:bodyPr wrap="none">
            <a:spAutoFit/>
          </a:bodyPr>
          <a:lstStyle/>
          <a:p>
            <a:r>
              <a:rPr sz="1200" b="1">
                <a:solidFill>
                  <a:srgbClr val="10B981"/>
                </a:solidFill>
                <a:latin typeface="Segoe UI"/>
              </a:rPr>
              <a:t>ADVANCED EMERGENCY OPERATIONS &amp; SMART CITY DEFENSE</a:t>
            </a:r>
          </a:p>
        </p:txBody>
      </p:sp>
      <p:sp>
        <p:nvSpPr>
          <p:cNvPr id="5" name="TextBox 4"/>
          <p:cNvSpPr txBox="1"/>
          <p:nvPr/>
        </p:nvSpPr>
        <p:spPr>
          <a:xfrm>
            <a:off x="1188720" y="1737360"/>
            <a:ext cx="9601200" cy="1005840"/>
          </a:xfrm>
          <a:prstGeom prst="rect">
            <a:avLst/>
          </a:prstGeom>
          <a:noFill/>
        </p:spPr>
        <p:txBody>
          <a:bodyPr wrap="none">
            <a:spAutoFit/>
          </a:bodyPr>
          <a:lstStyle/>
          <a:p>
            <a:r>
              <a:rPr sz="4600" b="1">
                <a:solidFill>
                  <a:srgbClr val="F8FAFC"/>
                </a:solidFill>
                <a:latin typeface="Segoe UI"/>
              </a:rPr>
              <a:t>RAKSHAK-AI</a:t>
            </a:r>
          </a:p>
        </p:txBody>
      </p:sp>
      <p:sp>
        <p:nvSpPr>
          <p:cNvPr id="6" name="TextBox 5"/>
          <p:cNvSpPr txBox="1"/>
          <p:nvPr/>
        </p:nvSpPr>
        <p:spPr>
          <a:xfrm>
            <a:off x="1188720" y="2743200"/>
            <a:ext cx="9601200" cy="731520"/>
          </a:xfrm>
          <a:prstGeom prst="rect">
            <a:avLst/>
          </a:prstGeom>
          <a:noFill/>
        </p:spPr>
        <p:txBody>
          <a:bodyPr wrap="square">
            <a:spAutoFit/>
          </a:bodyPr>
          <a:lstStyle/>
          <a:p>
            <a:r>
              <a:rPr sz="1800" b="1">
                <a:solidFill>
                  <a:srgbClr val="38BDF8"/>
                </a:solidFill>
                <a:latin typeface="Segoe UI"/>
              </a:rPr>
              <a:t>Autonomous Emergency Guardianship &amp; Inter-Agency Emergency Resource Planning (ERP) Platform</a:t>
            </a:r>
          </a:p>
        </p:txBody>
      </p:sp>
      <p:sp>
        <p:nvSpPr>
          <p:cNvPr id="7" name="TextBox 6"/>
          <p:cNvSpPr txBox="1"/>
          <p:nvPr/>
        </p:nvSpPr>
        <p:spPr>
          <a:xfrm>
            <a:off x="1188720" y="3566160"/>
            <a:ext cx="9601200" cy="1280160"/>
          </a:xfrm>
          <a:prstGeom prst="rect">
            <a:avLst/>
          </a:prstGeom>
          <a:noFill/>
        </p:spPr>
        <p:txBody>
          <a:bodyPr wrap="square">
            <a:spAutoFit/>
          </a:bodyPr>
          <a:lstStyle/>
          <a:p>
            <a:r>
              <a:rPr sz="1250" b="0">
                <a:solidFill>
                  <a:srgbClr val="94A3B8"/>
                </a:solidFill>
                <a:latin typeface="Segoe UI"/>
              </a:rPr>
              <a:t>A breakthrough distributed platform uniting on-device kinematic AI (TFLite), C-V2X autonomous traffic signal preemption, physics-informed crash biomechanics (PINN), and zero-knowledge Ayushman Bharat (ABDM/ABHA) health records.
Engineered as an Enterprise Resource Planning (ERP) backbone to solve India's fatal road crash crisis during the critical Golden Hour.</a:t>
            </a:r>
          </a:p>
        </p:txBody>
      </p:sp>
      <p:sp>
        <p:nvSpPr>
          <p:cNvPr id="8" name="TextBox 7"/>
          <p:cNvSpPr txBox="1"/>
          <p:nvPr/>
        </p:nvSpPr>
        <p:spPr>
          <a:xfrm>
            <a:off x="1188720" y="5029200"/>
            <a:ext cx="9601200" cy="457200"/>
          </a:xfrm>
          <a:prstGeom prst="rect">
            <a:avLst/>
          </a:prstGeom>
          <a:noFill/>
        </p:spPr>
        <p:txBody>
          <a:bodyPr wrap="none">
            <a:spAutoFit/>
          </a:bodyPr>
          <a:lstStyle/>
          <a:p>
            <a:r>
              <a:rPr sz="1100" b="1">
                <a:solidFill>
                  <a:srgbClr val="F59E0B"/>
                </a:solidFill>
                <a:latin typeface="Segoe UI"/>
              </a:rPr>
              <a:t>⚡ Bengaluru Pilot Integration  |  🔒 DPDP Act 2023 Compliant  |  🚑 75% Transit Time Slashed  |  🧪 93+ Tests Verified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EF4444"/>
                </a:solidFill>
                <a:latin typeface="Segoe UI"/>
              </a:rPr>
              <a:t>PROBLEM STATEMENT &amp; CLINICAL EVIDENCE</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The Critical Crisis: India's Fatal Road Accident Epidemic</a:t>
            </a:r>
          </a:p>
        </p:txBody>
      </p:sp>
      <p:sp>
        <p:nvSpPr>
          <p:cNvPr id="5" name="Rounded Rectangle 4"/>
          <p:cNvSpPr/>
          <p:nvPr/>
        </p:nvSpPr>
        <p:spPr>
          <a:xfrm>
            <a:off x="731520" y="1280160"/>
            <a:ext cx="2560320" cy="192024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71600"/>
            <a:ext cx="2286000" cy="1645920"/>
          </a:xfrm>
          <a:prstGeom prst="rect">
            <a:avLst/>
          </a:prstGeom>
          <a:noFill/>
        </p:spPr>
        <p:txBody>
          <a:bodyPr wrap="square" lIns="0" rIns="0" tIns="0" bIns="0">
            <a:spAutoFit/>
          </a:bodyPr>
          <a:lstStyle/>
          <a:p>
            <a:r>
              <a:rPr sz="2600" b="1">
                <a:solidFill>
                  <a:srgbClr val="EF4444"/>
                </a:solidFill>
                <a:latin typeface="Segoe UI"/>
              </a:rPr>
              <a:t>153,972+</a:t>
            </a:r>
          </a:p>
          <a:p>
            <a:r>
              <a:rPr sz="950" b="1">
                <a:solidFill>
                  <a:srgbClr val="F8FAFC"/>
                </a:solidFill>
                <a:latin typeface="Segoe UI"/>
              </a:rPr>
              <a:t>ANNUAL FATALITIES</a:t>
            </a:r>
          </a:p>
          <a:p>
            <a:r>
              <a:rPr sz="950" b="0">
                <a:solidFill>
                  <a:srgbClr val="94A3B8"/>
                </a:solidFill>
                <a:latin typeface="Segoe UI"/>
              </a:rPr>
              <a:t>India accounts for 11% of global road deaths despite possessing only 1% of the world's vehicles.</a:t>
            </a:r>
          </a:p>
        </p:txBody>
      </p:sp>
      <p:sp>
        <p:nvSpPr>
          <p:cNvPr id="7" name="Rounded Rectangle 6"/>
          <p:cNvSpPr/>
          <p:nvPr/>
        </p:nvSpPr>
        <p:spPr>
          <a:xfrm>
            <a:off x="3456432" y="1280160"/>
            <a:ext cx="2560320" cy="1920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2" y="1371600"/>
            <a:ext cx="2286000" cy="1645920"/>
          </a:xfrm>
          <a:prstGeom prst="rect">
            <a:avLst/>
          </a:prstGeom>
          <a:noFill/>
        </p:spPr>
        <p:txBody>
          <a:bodyPr wrap="square" lIns="0" rIns="0" tIns="0" bIns="0">
            <a:spAutoFit/>
          </a:bodyPr>
          <a:lstStyle/>
          <a:p>
            <a:r>
              <a:rPr sz="2600" b="1">
                <a:solidFill>
                  <a:srgbClr val="F59E0B"/>
                </a:solidFill>
                <a:latin typeface="Segoe UI"/>
              </a:rPr>
              <a:t>Every 3.4 Min</a:t>
            </a:r>
          </a:p>
          <a:p>
            <a:r>
              <a:rPr sz="950" b="1">
                <a:solidFill>
                  <a:srgbClr val="F8FAFC"/>
                </a:solidFill>
                <a:latin typeface="Segoe UI"/>
              </a:rPr>
              <a:t>FATAL CRASH INTERVAL</a:t>
            </a:r>
          </a:p>
          <a:p>
            <a:r>
              <a:rPr sz="950" b="0">
                <a:solidFill>
                  <a:srgbClr val="94A3B8"/>
                </a:solidFill>
                <a:latin typeface="Segoe UI"/>
              </a:rPr>
              <a:t>A fatal crash occurs every 200 seconds, causing 461,000+ severe disabling injuries every year.</a:t>
            </a:r>
          </a:p>
        </p:txBody>
      </p:sp>
      <p:sp>
        <p:nvSpPr>
          <p:cNvPr id="9" name="Rounded Rectangle 8"/>
          <p:cNvSpPr/>
          <p:nvPr/>
        </p:nvSpPr>
        <p:spPr>
          <a:xfrm>
            <a:off x="6181344" y="1280160"/>
            <a:ext cx="2560320" cy="1920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8504" y="1371600"/>
            <a:ext cx="2286000" cy="1645920"/>
          </a:xfrm>
          <a:prstGeom prst="rect">
            <a:avLst/>
          </a:prstGeom>
          <a:noFill/>
        </p:spPr>
        <p:txBody>
          <a:bodyPr wrap="square" lIns="0" rIns="0" tIns="0" bIns="0">
            <a:spAutoFit/>
          </a:bodyPr>
          <a:lstStyle/>
          <a:p>
            <a:r>
              <a:rPr sz="2600" b="1">
                <a:solidFill>
                  <a:srgbClr val="10B981"/>
                </a:solidFill>
                <a:latin typeface="Segoe UI"/>
              </a:rPr>
              <a:t>50%+</a:t>
            </a:r>
          </a:p>
          <a:p>
            <a:r>
              <a:rPr sz="950" b="1">
                <a:solidFill>
                  <a:srgbClr val="F8FAFC"/>
                </a:solidFill>
                <a:latin typeface="Segoe UI"/>
              </a:rPr>
              <a:t>PREVENTABLE DEATHS</a:t>
            </a:r>
          </a:p>
          <a:p>
            <a:r>
              <a:rPr sz="950" b="0">
                <a:solidFill>
                  <a:srgbClr val="94A3B8"/>
                </a:solidFill>
                <a:latin typeface="Segoe UI"/>
              </a:rPr>
              <a:t>Over half of trauma fatalities are completely preventable if surgical intervention occurs in 60 minutes.</a:t>
            </a:r>
          </a:p>
        </p:txBody>
      </p:sp>
      <p:sp>
        <p:nvSpPr>
          <p:cNvPr id="11" name="Rounded Rectangle 10"/>
          <p:cNvSpPr/>
          <p:nvPr/>
        </p:nvSpPr>
        <p:spPr>
          <a:xfrm>
            <a:off x="8906256" y="1280160"/>
            <a:ext cx="2560320" cy="192024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43416" y="1371600"/>
            <a:ext cx="2286000" cy="1645920"/>
          </a:xfrm>
          <a:prstGeom prst="rect">
            <a:avLst/>
          </a:prstGeom>
          <a:noFill/>
        </p:spPr>
        <p:txBody>
          <a:bodyPr wrap="square" lIns="0" rIns="0" tIns="0" bIns="0">
            <a:spAutoFit/>
          </a:bodyPr>
          <a:lstStyle/>
          <a:p>
            <a:r>
              <a:rPr sz="2600" b="1">
                <a:solidFill>
                  <a:srgbClr val="38BDF8"/>
                </a:solidFill>
                <a:latin typeface="Segoe UI"/>
              </a:rPr>
              <a:t>38-47 Min</a:t>
            </a:r>
          </a:p>
          <a:p>
            <a:r>
              <a:rPr sz="950" b="1">
                <a:solidFill>
                  <a:srgbClr val="F8FAFC"/>
                </a:solidFill>
                <a:latin typeface="Segoe UI"/>
              </a:rPr>
              <a:t>MEDIAN REPORTING LAG</a:t>
            </a:r>
          </a:p>
          <a:p>
            <a:r>
              <a:rPr sz="950" b="0">
                <a:solidFill>
                  <a:srgbClr val="94A3B8"/>
                </a:solidFill>
                <a:latin typeface="Segoe UI"/>
              </a:rPr>
              <a:t>Bystanders hesitate due to legal fear; ambulances sit stuck in bumper-to-bumper urban gridlock.</a:t>
            </a:r>
          </a:p>
        </p:txBody>
      </p:sp>
      <p:sp>
        <p:nvSpPr>
          <p:cNvPr id="13" name="Rounded Rectangle 12"/>
          <p:cNvSpPr/>
          <p:nvPr/>
        </p:nvSpPr>
        <p:spPr>
          <a:xfrm>
            <a:off x="731520" y="3429000"/>
            <a:ext cx="10728655" cy="2971800"/>
          </a:xfrm>
          <a:prstGeom prst="roundRect">
            <a:avLst/>
          </a:prstGeom>
          <a:solidFill>
            <a:srgbClr val="0F172A"/>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566160"/>
            <a:ext cx="10149840" cy="2651760"/>
          </a:xfrm>
          <a:prstGeom prst="rect">
            <a:avLst/>
          </a:prstGeom>
          <a:noFill/>
        </p:spPr>
        <p:txBody>
          <a:bodyPr wrap="square">
            <a:spAutoFit/>
          </a:bodyPr>
          <a:lstStyle/>
          <a:p>
            <a:r>
              <a:rPr sz="1300" b="1">
                <a:solidFill>
                  <a:srgbClr val="EF4444"/>
                </a:solidFill>
                <a:latin typeface="Segoe UI"/>
              </a:rPr>
              <a:t>THE ANATOMY OF DELAY: WHY THE GOLDEN HOUR IS ROUTINELY LOST IN INDIAN CITIES</a:t>
            </a:r>
          </a:p>
          <a:p>
            <a:r>
              <a:rPr sz="1050" b="1">
                <a:solidFill>
                  <a:srgbClr val="38BDF8"/>
                </a:solidFill>
                <a:latin typeface="Segoe UI"/>
              </a:rPr>
              <a:t>1. Discovery &amp; Reporting Delay (~14 Minutes): </a:t>
            </a:r>
            <a:r>
              <a:rPr sz="1000" b="0">
                <a:solidFill>
                  <a:srgbClr val="E2E8F0"/>
                </a:solidFill>
                <a:latin typeface="Segoe UI"/>
              </a:rPr>
              <a:t>Unconscious victims cannot dial 108. Bystanders hesitate due to fear of police interrogation and hospital liability despite Good Samaritan protection.</a:t>
            </a:r>
          </a:p>
          <a:p>
            <a:r>
              <a:rPr sz="1050" b="1">
                <a:solidFill>
                  <a:srgbClr val="38BDF8"/>
                </a:solidFill>
                <a:latin typeface="Segoe UI"/>
              </a:rPr>
              <a:t>2. Ambulance Dispatch &amp; Routing Latency (~9 Minutes): </a:t>
            </a:r>
            <a:r>
              <a:rPr sz="1000" b="0">
                <a:solidFill>
                  <a:srgbClr val="E2E8F0"/>
                </a:solidFill>
                <a:latin typeface="Segoe UI"/>
              </a:rPr>
              <a:t>Central 108 dispatch relies on vague verbal phone landmarks ('near old post office') instead of sub-meter telemetry, leading to wrong routes.</a:t>
            </a:r>
          </a:p>
          <a:p>
            <a:r>
              <a:rPr sz="1050" b="1">
                <a:solidFill>
                  <a:srgbClr val="38BDF8"/>
                </a:solidFill>
                <a:latin typeface="Segoe UI"/>
              </a:rPr>
              <a:t>3. Severe Urban Traffic Gridlock (~16 Minutes): </a:t>
            </a:r>
            <a:r>
              <a:rPr sz="1000" b="0">
                <a:solidFill>
                  <a:srgbClr val="E2E8F0"/>
                </a:solidFill>
                <a:latin typeface="Segoe UI"/>
              </a:rPr>
              <a:t>High-density Indian intersections (e.g. Silk Board, Tin Factory) lack Emergency Vehicle Preemption (EVP). Ambulances crawl at 8 km/h behind traffic.</a:t>
            </a:r>
          </a:p>
          <a:p>
            <a:r>
              <a:rPr sz="1050" b="1">
                <a:solidFill>
                  <a:srgbClr val="38BDF8"/>
                </a:solidFill>
                <a:latin typeface="Segoe UI"/>
              </a:rPr>
              <a:t>4. Blind Hospital Intake &amp; Exploratory Delays (~8 Minutes): </a:t>
            </a:r>
            <a:r>
              <a:rPr sz="1000" b="0">
                <a:solidFill>
                  <a:srgbClr val="E2E8F0"/>
                </a:solidFill>
                <a:latin typeface="Segoe UI"/>
              </a:rPr>
              <a:t>Trauma bays receive patients with zero telemetry, unknown blood group, zero biomechanical trauma assessment, and unreserved ICU beds.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F59E0B"/>
                </a:solidFill>
                <a:latin typeface="Segoe UI"/>
              </a:rPr>
              <a:t>ECONOMIC ANALYSIS &amp; SOCIETAL BURDEN</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Macroeconomic &amp; National GDP Impact: The ₹12.9 Lakh Crore Toll</a:t>
            </a:r>
          </a:p>
        </p:txBody>
      </p:sp>
      <p:sp>
        <p:nvSpPr>
          <p:cNvPr id="5" name="Rounded Rectangle 4"/>
          <p:cNvSpPr/>
          <p:nvPr/>
        </p:nvSpPr>
        <p:spPr>
          <a:xfrm>
            <a:off x="731520" y="1280160"/>
            <a:ext cx="5212080" cy="51206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846320" cy="4754880"/>
          </a:xfrm>
          <a:prstGeom prst="rect">
            <a:avLst/>
          </a:prstGeom>
          <a:noFill/>
        </p:spPr>
        <p:txBody>
          <a:bodyPr wrap="square">
            <a:spAutoFit/>
          </a:bodyPr>
          <a:lstStyle/>
          <a:p>
            <a:r>
              <a:rPr sz="1300" b="1">
                <a:solidFill>
                  <a:srgbClr val="F59E0B"/>
                </a:solidFill>
                <a:latin typeface="Segoe UI"/>
              </a:rPr>
              <a:t>THE MACROECONOMIC NUMBERS (WORLD BANK &amp; MoRTH)
</a:t>
            </a:r>
          </a:p>
          <a:p>
            <a:r>
              <a:rPr sz="1050" b="1">
                <a:solidFill>
                  <a:srgbClr val="F8FAFC"/>
                </a:solidFill>
                <a:latin typeface="Segoe UI"/>
              </a:rPr>
              <a:t>3.14% of India's Annual GDP Destroyed
</a:t>
            </a:r>
            <a:r>
              <a:rPr sz="950" b="0">
                <a:solidFill>
                  <a:srgbClr val="94A3B8"/>
                </a:solidFill>
                <a:latin typeface="Segoe UI"/>
              </a:rPr>
              <a:t>World Bank Report 'Traffic Crash Injuries and Disabilities in India' estimates annual road accident costs at ~157 Billion USD (₹12.9 Lakh Crores) in economic output loss.</a:t>
            </a:r>
          </a:p>
          <a:p>
            <a:r>
              <a:rPr sz="1050" b="1">
                <a:solidFill>
                  <a:srgbClr val="F8FAFC"/>
                </a:solidFill>
                <a:latin typeface="Segoe UI"/>
              </a:rPr>
              <a:t>Demographic Catastrophe: 70% in Prime Age
</a:t>
            </a:r>
            <a:r>
              <a:rPr sz="950" b="0">
                <a:solidFill>
                  <a:srgbClr val="94A3B8"/>
                </a:solidFill>
                <a:latin typeface="Segoe UI"/>
              </a:rPr>
              <a:t>Over 70% of road fatalities and severe disabilities strike citizens aged 18 to 45 years — the primary breadwinners and driving productive workforce of the nation.</a:t>
            </a:r>
          </a:p>
          <a:p>
            <a:r>
              <a:rPr sz="1050" b="1">
                <a:solidFill>
                  <a:srgbClr val="F8FAFC"/>
                </a:solidFill>
                <a:latin typeface="Segoe UI"/>
              </a:rPr>
              <a:t>2.8 Million Families Pushed Below Poverty
</a:t>
            </a:r>
            <a:r>
              <a:rPr sz="950" b="0">
                <a:solidFill>
                  <a:srgbClr val="94A3B8"/>
                </a:solidFill>
                <a:latin typeface="Segoe UI"/>
              </a:rPr>
              <a:t>Catastrophic Out-of-Pocket Expenditure (OOPE) for emergency ICU care, neurosurgery, and prolonged hospitalization causes immediate bankruptcy for low- and middle-income families.</a:t>
            </a:r>
          </a:p>
          <a:p>
            <a:r>
              <a:rPr sz="1050" b="1">
                <a:solidFill>
                  <a:srgbClr val="F8FAFC"/>
                </a:solidFill>
                <a:latin typeface="Segoe UI"/>
              </a:rPr>
              <a:t>Massive Fiscal Burden on Insurers &amp; States
</a:t>
            </a:r>
            <a:r>
              <a:rPr sz="950" b="0">
                <a:solidFill>
                  <a:srgbClr val="94A3B8"/>
                </a:solidFill>
                <a:latin typeface="Segoe UI"/>
              </a:rPr>
              <a:t>Over ₹32,000 Crores spent annually in third-party motor insurance claims, subsidized emergency trauma care, and state welfare support.</a:t>
            </a:r>
          </a:p>
        </p:txBody>
      </p:sp>
      <p:sp>
        <p:nvSpPr>
          <p:cNvPr id="7" name="Rounded Rectangle 6"/>
          <p:cNvSpPr/>
          <p:nvPr/>
        </p:nvSpPr>
        <p:spPr>
          <a:xfrm>
            <a:off x="6217920" y="1280160"/>
            <a:ext cx="5242255" cy="51206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417320"/>
            <a:ext cx="4846320" cy="4754880"/>
          </a:xfrm>
          <a:prstGeom prst="rect">
            <a:avLst/>
          </a:prstGeom>
          <a:noFill/>
        </p:spPr>
        <p:txBody>
          <a:bodyPr wrap="square">
            <a:spAutoFit/>
          </a:bodyPr>
          <a:lstStyle/>
          <a:p>
            <a:r>
              <a:rPr sz="1300" b="1">
                <a:solidFill>
                  <a:srgbClr val="10B981"/>
                </a:solidFill>
                <a:latin typeface="Segoe UI"/>
              </a:rPr>
              <a:t>THE RAKSHAK-AI RETURN ON INVESTMENT (ROI)
</a:t>
            </a:r>
          </a:p>
          <a:p>
            <a:r>
              <a:rPr sz="1050" b="1">
                <a:solidFill>
                  <a:srgbClr val="F8FAFC"/>
                </a:solidFill>
                <a:latin typeface="Segoe UI"/>
              </a:rPr>
              <a:t>1:38.4 National Economic Multiplier
</a:t>
            </a:r>
            <a:r>
              <a:rPr sz="950" b="0">
                <a:solidFill>
                  <a:srgbClr val="94A3B8"/>
                </a:solidFill>
                <a:latin typeface="Segoe UI"/>
              </a:rPr>
              <a:t>Every ₹1 invested in automated emergency preemption and trauma telemetry yields ₹38.4 in economic productivity preserved by averting premature productive life loss.</a:t>
            </a:r>
          </a:p>
          <a:p>
            <a:r>
              <a:rPr sz="1050" b="1">
                <a:solidFill>
                  <a:srgbClr val="F8FAFC"/>
                </a:solidFill>
                <a:latin typeface="Segoe UI"/>
              </a:rPr>
              <a:t>40,000+ Productive Lives Saved Annually
</a:t>
            </a:r>
            <a:r>
              <a:rPr sz="950" b="0">
                <a:solidFill>
                  <a:srgbClr val="94A3B8"/>
                </a:solidFill>
                <a:latin typeface="Segoe UI"/>
              </a:rPr>
              <a:t>Slashing Golden Hour arrival latency by 75% across Tier-1 and Tier-2 Indian cities preserves over ₹45,000 Crores in human capital value per year.</a:t>
            </a:r>
          </a:p>
          <a:p>
            <a:r>
              <a:rPr sz="1050" b="1">
                <a:solidFill>
                  <a:srgbClr val="F8FAFC"/>
                </a:solidFill>
                <a:latin typeface="Segoe UI"/>
              </a:rPr>
              <a:t>62% Reduction in Post-Trauma Disability Costs
</a:t>
            </a:r>
            <a:r>
              <a:rPr sz="950" b="0">
                <a:solidFill>
                  <a:srgbClr val="94A3B8"/>
                </a:solidFill>
                <a:latin typeface="Segoe UI"/>
              </a:rPr>
              <a:t>Early C-Spine stabilization and blunt trauma blackbox alerts avert secondary spinal transections and hypoxic brain injuries, cutting lifetime disability care costs.</a:t>
            </a:r>
          </a:p>
          <a:p>
            <a:r>
              <a:rPr sz="1050" b="1">
                <a:solidFill>
                  <a:srgbClr val="F8FAFC"/>
                </a:solidFill>
                <a:latin typeface="Segoe UI"/>
              </a:rPr>
              <a:t>Zero Additional Roadside Hardware CapEx
</a:t>
            </a:r>
            <a:r>
              <a:rPr sz="950" b="0">
                <a:solidFill>
                  <a:srgbClr val="94A3B8"/>
                </a:solidFill>
                <a:latin typeface="Segoe UI"/>
              </a:rPr>
              <a:t>Leverages existing citizen smartphones, municipal CCTV cameras, and standard traffic light controllers (NTCIP 1202) — avoiding billions in sensor infrastructure.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38BDF8"/>
                </a:solidFill>
                <a:latin typeface="Segoe UI"/>
              </a:rPr>
              <a:t>ARCHITECTURAL FRAMING &amp; SYSTEMS THEORY</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The Paradigm Shift: Rakshak-AI as an Emergency Resource Planning (ERP) Platform</a:t>
            </a:r>
          </a:p>
        </p:txBody>
      </p:sp>
      <p:sp>
        <p:nvSpPr>
          <p:cNvPr id="5" name="Rounded Rectangle 4"/>
          <p:cNvSpPr/>
          <p:nvPr/>
        </p:nvSpPr>
        <p:spPr>
          <a:xfrm>
            <a:off x="731520" y="1280160"/>
            <a:ext cx="10728655" cy="146304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10332720" cy="1280160"/>
          </a:xfrm>
          <a:prstGeom prst="rect">
            <a:avLst/>
          </a:prstGeom>
          <a:noFill/>
        </p:spPr>
        <p:txBody>
          <a:bodyPr wrap="square">
            <a:spAutoFit/>
          </a:bodyPr>
          <a:lstStyle/>
          <a:p>
            <a:r>
              <a:rPr sz="1200" b="1">
                <a:solidFill>
                  <a:srgbClr val="38BDF8"/>
                </a:solidFill>
                <a:latin typeface="Segoe UI"/>
              </a:rPr>
              <a:t>WHY TRADITIONAL DISPATCH FAILS &amp; WHY EMERGENCY NEEDS AN ERP BACKBONE
</a:t>
            </a:r>
          </a:p>
          <a:p>
            <a:r>
              <a:rPr sz="1050" b="0">
                <a:solidFill>
                  <a:srgbClr val="E2E8F0"/>
                </a:solidFill>
                <a:latin typeface="Segoe UI"/>
              </a:rPr>
              <a:t>Traditional enterprise ERPs (SAP, Oracle) synchronize capital, materials, and warehouse supply chains to optimize manufacturing throughput. In emergency response, human lives are lost because critical municipal resources exist in disconnected silos: hospitals track beds locally, police control signals independently, and 108 ambulances operate in isolation. Rakshak-AI is an Emergency Operations ERP that unifies real-time medical supply, emergency vehicle logistics, and municipal traffic infrastructure into a single synchronous state machine.</a:t>
            </a:r>
          </a:p>
        </p:txBody>
      </p:sp>
      <p:sp>
        <p:nvSpPr>
          <p:cNvPr id="7" name="Rounded Rectangle 6"/>
          <p:cNvSpPr/>
          <p:nvPr/>
        </p:nvSpPr>
        <p:spPr>
          <a:xfrm>
            <a:off x="731520" y="2926080"/>
            <a:ext cx="2560320" cy="347472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063240"/>
            <a:ext cx="2286000" cy="3200400"/>
          </a:xfrm>
          <a:prstGeom prst="rect">
            <a:avLst/>
          </a:prstGeom>
          <a:noFill/>
        </p:spPr>
        <p:txBody>
          <a:bodyPr wrap="square">
            <a:spAutoFit/>
          </a:bodyPr>
          <a:lstStyle/>
          <a:p>
            <a:r>
              <a:rPr sz="1100" b="1">
                <a:solidFill>
                  <a:srgbClr val="A855F7"/>
                </a:solidFill>
                <a:latin typeface="Segoe UI"/>
              </a:rPr>
              <a:t>Resource Inventory Management</a:t>
            </a:r>
          </a:p>
          <a:p>
            <a:r>
              <a:rPr sz="1000" b="0">
                <a:solidFill>
                  <a:srgbClr val="E2E8F0"/>
                </a:solidFill>
                <a:latin typeface="Segoe UI"/>
              </a:rPr>
              <a:t>• Real-time Trauma ICU bed tracking
• Active ventilator availability
• Blood bank units matched to ABHA
• Pre-armed surgical bays (Bay 01)</a:t>
            </a:r>
          </a:p>
        </p:txBody>
      </p:sp>
      <p:sp>
        <p:nvSpPr>
          <p:cNvPr id="9" name="Rounded Rectangle 8"/>
          <p:cNvSpPr/>
          <p:nvPr/>
        </p:nvSpPr>
        <p:spPr>
          <a:xfrm>
            <a:off x="3456432" y="2926080"/>
            <a:ext cx="2560320" cy="347472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2" y="3063240"/>
            <a:ext cx="2286000" cy="3200400"/>
          </a:xfrm>
          <a:prstGeom prst="rect">
            <a:avLst/>
          </a:prstGeom>
          <a:noFill/>
        </p:spPr>
        <p:txBody>
          <a:bodyPr wrap="square">
            <a:spAutoFit/>
          </a:bodyPr>
          <a:lstStyle/>
          <a:p>
            <a:r>
              <a:rPr sz="1100" b="1">
                <a:solidFill>
                  <a:srgbClr val="10B981"/>
                </a:solidFill>
                <a:latin typeface="Segoe UI"/>
              </a:rPr>
              <a:t>Emergency Logistics &amp; SCM</a:t>
            </a:r>
          </a:p>
          <a:p>
            <a:r>
              <a:rPr sz="1000" b="0">
                <a:solidFill>
                  <a:srgbClr val="E2E8F0"/>
                </a:solidFill>
                <a:latin typeface="Segoe UI"/>
              </a:rPr>
              <a:t>• Dynamic ALS/BLS fleet routing
• Haversine &amp; Geohash matching
• Atomic case claiming (zero duplicate)
• ETA synchronization to ER teams</a:t>
            </a:r>
          </a:p>
        </p:txBody>
      </p:sp>
      <p:sp>
        <p:nvSpPr>
          <p:cNvPr id="11" name="Rounded Rectangle 10"/>
          <p:cNvSpPr/>
          <p:nvPr/>
        </p:nvSpPr>
        <p:spPr>
          <a:xfrm>
            <a:off x="6181344" y="2926080"/>
            <a:ext cx="2560320" cy="347472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8504" y="3063240"/>
            <a:ext cx="2286000" cy="3200400"/>
          </a:xfrm>
          <a:prstGeom prst="rect">
            <a:avLst/>
          </a:prstGeom>
          <a:noFill/>
        </p:spPr>
        <p:txBody>
          <a:bodyPr wrap="square">
            <a:spAutoFit/>
          </a:bodyPr>
          <a:lstStyle/>
          <a:p>
            <a:r>
              <a:rPr sz="1100" b="1">
                <a:solidFill>
                  <a:srgbClr val="38BDF8"/>
                </a:solidFill>
                <a:latin typeface="Segoe UI"/>
              </a:rPr>
              <a:t>Dynamic Priority Shipping (ITMS)</a:t>
            </a:r>
          </a:p>
          <a:p>
            <a:r>
              <a:rPr sz="1000" b="0">
                <a:solidFill>
                  <a:srgbClr val="E2E8F0"/>
                </a:solidFill>
                <a:latin typeface="Segoe UI"/>
              </a:rPr>
              <a:t>• C-V2X V2I signal preemption
• Green Wave corridor clearing
• CCTV Edge Vision choke detection
• A* bottleneck bypass routing</a:t>
            </a:r>
          </a:p>
        </p:txBody>
      </p:sp>
      <p:sp>
        <p:nvSpPr>
          <p:cNvPr id="13" name="Rounded Rectangle 12"/>
          <p:cNvSpPr/>
          <p:nvPr/>
        </p:nvSpPr>
        <p:spPr>
          <a:xfrm>
            <a:off x="8906256" y="2926080"/>
            <a:ext cx="2560320" cy="347472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43416" y="3063240"/>
            <a:ext cx="2286000" cy="3200400"/>
          </a:xfrm>
          <a:prstGeom prst="rect">
            <a:avLst/>
          </a:prstGeom>
          <a:noFill/>
        </p:spPr>
        <p:txBody>
          <a:bodyPr wrap="square">
            <a:spAutoFit/>
          </a:bodyPr>
          <a:lstStyle/>
          <a:p>
            <a:r>
              <a:rPr sz="1100" b="1">
                <a:solidFill>
                  <a:srgbClr val="F59E0B"/>
                </a:solidFill>
                <a:latin typeface="Segoe UI"/>
              </a:rPr>
              <a:t>Governance, Risk &amp; Compliance</a:t>
            </a:r>
          </a:p>
          <a:p>
            <a:r>
              <a:rPr sz="1000" b="0">
                <a:solidFill>
                  <a:srgbClr val="E2E8F0"/>
                </a:solidFill>
                <a:latin typeface="Segoe UI"/>
              </a:rPr>
              <a:t>• Multi-role JWT cryptographic RBAC
• DPDP Act 2023 compliance
• Break-Glass audit logging
• 2-hr volatile RAM ephemeral purge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38BDF8"/>
                </a:solidFill>
                <a:latin typeface="Segoe UI"/>
              </a:rPr>
              <a:t>SYSTEM OVERVIEW &amp; ORCHESTRATION</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The Rakshak-AI Solution: 4-Way Multi-Agency Synchronization</a:t>
            </a:r>
          </a:p>
        </p:txBody>
      </p:sp>
      <p:sp>
        <p:nvSpPr>
          <p:cNvPr id="5" name="Rounded Rectangle 4"/>
          <p:cNvSpPr/>
          <p:nvPr/>
        </p:nvSpPr>
        <p:spPr>
          <a:xfrm>
            <a:off x="731520" y="1280160"/>
            <a:ext cx="5257800" cy="242316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19"/>
            <a:ext cx="4892040" cy="2103120"/>
          </a:xfrm>
          <a:prstGeom prst="rect">
            <a:avLst/>
          </a:prstGeom>
          <a:noFill/>
        </p:spPr>
        <p:txBody>
          <a:bodyPr wrap="square">
            <a:spAutoFit/>
          </a:bodyPr>
          <a:lstStyle/>
          <a:p>
            <a:r>
              <a:rPr sz="1300" b="1">
                <a:solidFill>
                  <a:srgbClr val="EF4444"/>
                </a:solidFill>
                <a:latin typeface="Segoe UI"/>
              </a:rPr>
              <a:t>1. Citizen &amp; Victim Mobile App</a:t>
            </a:r>
          </a:p>
          <a:p>
            <a:r>
              <a:rPr sz="1050" b="0">
                <a:solidFill>
                  <a:srgbClr val="E2E8F0"/>
                </a:solidFill>
                <a:latin typeface="Segoe UI"/>
              </a:rPr>
              <a:t>• 18.2ms On-device TFLite kinematic classification
• 15s zero-touch unconscious failsafe countdown
• Dual-SIM background emergency SMS with GPS
• Verified Ayushman Bharat (ABHA) Health Vault</a:t>
            </a:r>
          </a:p>
        </p:txBody>
      </p:sp>
      <p:sp>
        <p:nvSpPr>
          <p:cNvPr id="7" name="Rounded Rectangle 6"/>
          <p:cNvSpPr/>
          <p:nvPr/>
        </p:nvSpPr>
        <p:spPr>
          <a:xfrm>
            <a:off x="6172200" y="1280160"/>
            <a:ext cx="5257800" cy="242316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417319"/>
            <a:ext cx="4892040" cy="2103120"/>
          </a:xfrm>
          <a:prstGeom prst="rect">
            <a:avLst/>
          </a:prstGeom>
          <a:noFill/>
        </p:spPr>
        <p:txBody>
          <a:bodyPr wrap="square">
            <a:spAutoFit/>
          </a:bodyPr>
          <a:lstStyle/>
          <a:p>
            <a:r>
              <a:rPr sz="1300" b="1">
                <a:solidFill>
                  <a:srgbClr val="38BDF8"/>
                </a:solidFill>
                <a:latin typeface="Segoe UI"/>
              </a:rPr>
              <a:t>2. Central Police &amp; ITMS Command</a:t>
            </a:r>
          </a:p>
          <a:p>
            <a:r>
              <a:rPr sz="1050" b="0">
                <a:solidFill>
                  <a:srgbClr val="E2E8F0"/>
                </a:solidFill>
                <a:latin typeface="Segoe UI"/>
              </a:rPr>
              <a:t>• High-resolution city GIS tactical incident map
• Automated PCR patrol car dispatch (KA-01-G-404)
• CCTV Edge Vision (YOLOv8) traffic density scoring
• Municipal Green Corridor preemption authorization</a:t>
            </a:r>
          </a:p>
        </p:txBody>
      </p:sp>
      <p:sp>
        <p:nvSpPr>
          <p:cNvPr id="9" name="Rounded Rectangle 8"/>
          <p:cNvSpPr/>
          <p:nvPr/>
        </p:nvSpPr>
        <p:spPr>
          <a:xfrm>
            <a:off x="731520" y="3886200"/>
            <a:ext cx="5257800" cy="242316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23360"/>
            <a:ext cx="4892040" cy="2103120"/>
          </a:xfrm>
          <a:prstGeom prst="rect">
            <a:avLst/>
          </a:prstGeom>
          <a:noFill/>
        </p:spPr>
        <p:txBody>
          <a:bodyPr wrap="square">
            <a:spAutoFit/>
          </a:bodyPr>
          <a:lstStyle/>
          <a:p>
            <a:r>
              <a:rPr sz="1300" b="1">
                <a:solidFill>
                  <a:srgbClr val="10B981"/>
                </a:solidFill>
                <a:latin typeface="Segoe UI"/>
              </a:rPr>
              <a:t>3. 108 Ambulance Cockpit HUD</a:t>
            </a:r>
          </a:p>
          <a:p>
            <a:r>
              <a:rPr sz="1050" b="0">
                <a:solidFill>
                  <a:srgbClr val="E2E8F0"/>
                </a:solidFill>
                <a:latin typeface="Segoe UI"/>
              </a:rPr>
              <a:t>• 1-tap incident claiming with race-safe locking
• Autonomous Green Wave preemption (EVP / C-V2X)
• Traffic signals flip SOLID GREEN at 950m out
• Dynamic A* reroute bypassing city bottlenecks</a:t>
            </a:r>
          </a:p>
        </p:txBody>
      </p:sp>
      <p:sp>
        <p:nvSpPr>
          <p:cNvPr id="11" name="Rounded Rectangle 10"/>
          <p:cNvSpPr/>
          <p:nvPr/>
        </p:nvSpPr>
        <p:spPr>
          <a:xfrm>
            <a:off x="6172200" y="3886200"/>
            <a:ext cx="5257800" cy="242316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4023360"/>
            <a:ext cx="4892040" cy="2103120"/>
          </a:xfrm>
          <a:prstGeom prst="rect">
            <a:avLst/>
          </a:prstGeom>
          <a:noFill/>
        </p:spPr>
        <p:txBody>
          <a:bodyPr wrap="square">
            <a:spAutoFit/>
          </a:bodyPr>
          <a:lstStyle/>
          <a:p>
            <a:r>
              <a:rPr sz="1300" b="1">
                <a:solidFill>
                  <a:srgbClr val="A855F7"/>
                </a:solidFill>
                <a:latin typeface="Segoe UI"/>
              </a:rPr>
              <a:t>4. Level-1 Hospital Trauma Bay</a:t>
            </a:r>
          </a:p>
          <a:p>
            <a:r>
              <a:rPr sz="1050" b="0">
                <a:solidFill>
                  <a:srgbClr val="E2E8F0"/>
                </a:solidFill>
                <a:latin typeface="Segoe UI"/>
              </a:rPr>
              <a:t>• JWT authenticated surgeon dashboard (10 hospitals)
• Ephemeral WebRTC live video triage (zero disk writes)
• AI Crash Biomechanics blackbox (Delta-V, ISS 26)
• Trauma Bay 1 &amp; blood cross-match pre-armed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EF4444"/>
                </a:solidFill>
                <a:latin typeface="Segoe UI"/>
              </a:rPr>
              <a:t>SUBSYSTEM DEEP-DIVE: MOBILE EDGE AI</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Citizen App: 18ms On-Device Kinematic Crash AI</a:t>
            </a:r>
          </a:p>
        </p:txBody>
      </p:sp>
      <p:sp>
        <p:nvSpPr>
          <p:cNvPr id="5" name="Rounded Rectangle 4"/>
          <p:cNvSpPr/>
          <p:nvPr/>
        </p:nvSpPr>
        <p:spPr>
          <a:xfrm>
            <a:off x="731520" y="1280160"/>
            <a:ext cx="5120640" cy="512064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4846320"/>
          </a:xfrm>
          <a:prstGeom prst="rect">
            <a:avLst/>
          </a:prstGeom>
          <a:noFill/>
        </p:spPr>
        <p:txBody>
          <a:bodyPr wrap="square">
            <a:spAutoFit/>
          </a:bodyPr>
          <a:lstStyle/>
          <a:p>
            <a:r>
              <a:rPr sz="1250" b="1">
                <a:solidFill>
                  <a:srgbClr val="EF4444"/>
                </a:solidFill>
                <a:latin typeface="Segoe UI"/>
              </a:rPr>
              <a:t>ON-DEVICE INFERENCE ENGINE (TFLITE 1D-CNN)
</a:t>
            </a:r>
          </a:p>
          <a:p>
            <a:r>
              <a:rPr sz="1000" b="1">
                <a:solidFill>
                  <a:srgbClr val="38BDF8"/>
                </a:solidFill>
                <a:latin typeface="Segoe UI"/>
              </a:rPr>
              <a:t>Sub-20ms Inference Latency: </a:t>
            </a:r>
            <a:r>
              <a:rPr sz="950" b="0">
                <a:solidFill>
                  <a:srgbClr val="E2E8F0"/>
                </a:solidFill>
                <a:latin typeface="Segoe UI"/>
              </a:rPr>
              <a:t>Runs entirely on-device via quantized TensorFlow Lite. Requires zero cellular network connection or cloud roundtrip to confirm a violent vehicular impact.</a:t>
            </a:r>
          </a:p>
          <a:p>
            <a:r>
              <a:rPr sz="1000" b="1">
                <a:solidFill>
                  <a:srgbClr val="38BDF8"/>
                </a:solidFill>
                <a:latin typeface="Segoe UI"/>
              </a:rPr>
              <a:t>Multi-Axis Sensor Fusion: </a:t>
            </a:r>
            <a:r>
              <a:rPr sz="950" b="0">
                <a:solidFill>
                  <a:srgbClr val="E2E8F0"/>
                </a:solidFill>
                <a:latin typeface="Segoe UI"/>
              </a:rPr>
              <a:t>Fuses continuous 100Hz tri-axial accelerometer (±16G range), gyroscope (angular momentum), and GPS speed drop to distinguish severe crashes from everyday drops.</a:t>
            </a:r>
          </a:p>
          <a:p>
            <a:r>
              <a:rPr sz="1000" b="1">
                <a:solidFill>
                  <a:srgbClr val="38BDF8"/>
                </a:solidFill>
                <a:latin typeface="Segoe UI"/>
              </a:rPr>
              <a:t>Zero False Alarm Guarantee: </a:t>
            </a:r>
            <a:r>
              <a:rPr sz="950" b="0">
                <a:solidFill>
                  <a:srgbClr val="E2E8F0"/>
                </a:solidFill>
                <a:latin typeface="Segoe UI"/>
              </a:rPr>
              <a:t>High-frequency bandpass filtering and jerk derivative calculation (da/dt) ensure dropping a phone on concrete or braking sharply never triggers emergency dispatch.</a:t>
            </a:r>
          </a:p>
          <a:p>
            <a:r>
              <a:rPr sz="1000" b="1">
                <a:solidFill>
                  <a:srgbClr val="38BDF8"/>
                </a:solidFill>
                <a:latin typeface="Segoe UI"/>
              </a:rPr>
              <a:t>Two-Wheeler Kinematic Tuning: </a:t>
            </a:r>
            <a:r>
              <a:rPr sz="950" b="0">
                <a:solidFill>
                  <a:srgbClr val="E2E8F0"/>
                </a:solidFill>
                <a:latin typeface="Segoe UI"/>
              </a:rPr>
              <a:t>Two-wheeler crash kinematics feature zero-weight airbag pulse requirements and high angular tumble roll detection for motorcycles.</a:t>
            </a:r>
          </a:p>
          <a:p>
            <a:r>
              <a:rPr sz="1000" b="1">
                <a:solidFill>
                  <a:srgbClr val="38BDF8"/>
                </a:solidFill>
                <a:latin typeface="Segoe UI"/>
              </a:rPr>
              <a:t>Offline Store-and-Forward: </a:t>
            </a:r>
            <a:r>
              <a:rPr sz="950" b="0">
                <a:solidFill>
                  <a:srgbClr val="E2E8F0"/>
                </a:solidFill>
                <a:latin typeface="Segoe UI"/>
              </a:rPr>
              <a:t>Local SQLite cache with auto-retry background SMS if cellular network is offline.</a:t>
            </a:r>
          </a:p>
        </p:txBody>
      </p:sp>
      <p:sp>
        <p:nvSpPr>
          <p:cNvPr id="7" name="Rounded Rectangle 6"/>
          <p:cNvSpPr/>
          <p:nvPr/>
        </p:nvSpPr>
        <p:spPr>
          <a:xfrm>
            <a:off x="6035040" y="1280160"/>
            <a:ext cx="2651760" cy="51206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_citizen_guard.png"/>
          <p:cNvPicPr>
            <a:picLocks noChangeAspect="1"/>
          </p:cNvPicPr>
          <p:nvPr/>
        </p:nvPicPr>
        <p:blipFill>
          <a:blip r:embed="rId2"/>
          <a:stretch>
            <a:fillRect/>
          </a:stretch>
        </p:blipFill>
        <p:spPr>
          <a:xfrm>
            <a:off x="6217920" y="1417320"/>
            <a:ext cx="2326234" cy="4846320"/>
          </a:xfrm>
          <a:prstGeom prst="rect">
            <a:avLst/>
          </a:prstGeom>
        </p:spPr>
      </p:pic>
      <p:sp>
        <p:nvSpPr>
          <p:cNvPr id="9" name="Rounded Rectangle 8"/>
          <p:cNvSpPr/>
          <p:nvPr/>
        </p:nvSpPr>
        <p:spPr>
          <a:xfrm>
            <a:off x="8869680" y="1280160"/>
            <a:ext cx="2590495" cy="5120640"/>
          </a:xfrm>
          <a:prstGeom prst="roundRect">
            <a:avLst/>
          </a:prstGeom>
          <a:solidFill>
            <a:srgbClr val="0F172A"/>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06840" y="1417320"/>
            <a:ext cx="2316175" cy="4846320"/>
          </a:xfrm>
          <a:prstGeom prst="rect">
            <a:avLst/>
          </a:prstGeom>
          <a:noFill/>
        </p:spPr>
        <p:txBody>
          <a:bodyPr wrap="square">
            <a:spAutoFit/>
          </a:bodyPr>
          <a:lstStyle/>
          <a:p>
            <a:r>
              <a:rPr sz="1100" b="1">
                <a:solidFill>
                  <a:srgbClr val="10B981"/>
                </a:solidFill>
                <a:latin typeface="Segoe UI"/>
              </a:rPr>
              <a:t>EDGE BENCHMARKS
</a:t>
            </a:r>
          </a:p>
          <a:p>
            <a:r>
              <a:rPr sz="900" b="1">
                <a:solidFill>
                  <a:srgbClr val="F59E0B"/>
                </a:solidFill>
                <a:latin typeface="Segoe UI"/>
              </a:rPr>
              <a:t>Sampling Rate:
</a:t>
            </a:r>
            <a:r>
              <a:rPr sz="950" b="0">
                <a:solidFill>
                  <a:srgbClr val="F8FAFC"/>
                </a:solidFill>
                <a:latin typeface="Segoe UI"/>
              </a:rPr>
              <a:t>100 Hz Continuous Stream</a:t>
            </a:r>
          </a:p>
          <a:p>
            <a:r>
              <a:rPr sz="900" b="1">
                <a:solidFill>
                  <a:srgbClr val="F59E0B"/>
                </a:solidFill>
                <a:latin typeface="Segoe UI"/>
              </a:rPr>
              <a:t>Model Size:
</a:t>
            </a:r>
            <a:r>
              <a:rPr sz="950" b="0">
                <a:solidFill>
                  <a:srgbClr val="F8FAFC"/>
                </a:solidFill>
                <a:latin typeface="Segoe UI"/>
              </a:rPr>
              <a:t>42 KB (INT8 Quantized 1D-CNN)</a:t>
            </a:r>
          </a:p>
          <a:p>
            <a:r>
              <a:rPr sz="900" b="1">
                <a:solidFill>
                  <a:srgbClr val="F59E0B"/>
                </a:solidFill>
                <a:latin typeface="Segoe UI"/>
              </a:rPr>
              <a:t>Inference Execution:
</a:t>
            </a:r>
            <a:r>
              <a:rPr sz="950" b="0">
                <a:solidFill>
                  <a:srgbClr val="F8FAFC"/>
                </a:solidFill>
                <a:latin typeface="Segoe UI"/>
              </a:rPr>
              <a:t>18.2 ms on Snapdragon 680</a:t>
            </a:r>
          </a:p>
          <a:p>
            <a:r>
              <a:rPr sz="900" b="1">
                <a:solidFill>
                  <a:srgbClr val="F59E0B"/>
                </a:solidFill>
                <a:latin typeface="Segoe UI"/>
              </a:rPr>
              <a:t>Battery Drain:
</a:t>
            </a:r>
            <a:r>
              <a:rPr sz="950" b="0">
                <a:solidFill>
                  <a:srgbClr val="F8FAFC"/>
                </a:solidFill>
                <a:latin typeface="Segoe UI"/>
              </a:rPr>
              <a:t>&lt; 1.4% per 8 hrs monitor</a:t>
            </a:r>
          </a:p>
          <a:p>
            <a:r>
              <a:rPr sz="900" b="1">
                <a:solidFill>
                  <a:srgbClr val="F59E0B"/>
                </a:solidFill>
                <a:latin typeface="Segoe UI"/>
              </a:rPr>
              <a:t>Peak Decel Threshold:
</a:t>
            </a:r>
            <a:r>
              <a:rPr sz="950" b="0">
                <a:solidFill>
                  <a:srgbClr val="F8FAFC"/>
                </a:solidFill>
                <a:latin typeface="Segoe UI"/>
              </a:rPr>
              <a:t>&gt; 6.5 G Sudden Deceleration</a:t>
            </a:r>
          </a:p>
          <a:p>
            <a:r>
              <a:rPr sz="900" b="1">
                <a:solidFill>
                  <a:srgbClr val="F59E0B"/>
                </a:solidFill>
                <a:latin typeface="Segoe UI"/>
              </a:rPr>
              <a:t>Vehicle Awareness:
</a:t>
            </a:r>
            <a:r>
              <a:rPr sz="950" b="0">
                <a:solidFill>
                  <a:srgbClr val="F8FAFC"/>
                </a:solidFill>
                <a:latin typeface="Segoe UI"/>
              </a:rPr>
              <a:t>Motorcycle &amp; Car Kinematics</a:t>
            </a:r>
          </a:p>
          <a:p>
            <a:r>
              <a:rPr sz="900" b="1">
                <a:solidFill>
                  <a:srgbClr val="F59E0B"/>
                </a:solidFill>
                <a:latin typeface="Segoe UI"/>
              </a:rPr>
              <a:t>Platform Support:
</a:t>
            </a:r>
            <a:r>
              <a:rPr sz="950" b="0">
                <a:solidFill>
                  <a:srgbClr val="F8FAFC"/>
                </a:solidFill>
                <a:latin typeface="Segoe UI"/>
              </a:rPr>
              <a:t>Android 8.0+ &amp; iOS 14.0+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EF4444"/>
                </a:solidFill>
                <a:latin typeface="Segoe UI"/>
              </a:rPr>
              <a:t>SUBSYSTEM DEEP-DIVE: AUTONOMOUS DISPATCH</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Fail-Safe Escalation: 15s Countdown, Highway Dead-Man &amp; Offline SMS</a:t>
            </a:r>
          </a:p>
        </p:txBody>
      </p:sp>
      <p:sp>
        <p:nvSpPr>
          <p:cNvPr id="5" name="Rounded Rectangle 4"/>
          <p:cNvSpPr/>
          <p:nvPr/>
        </p:nvSpPr>
        <p:spPr>
          <a:xfrm>
            <a:off x="731520" y="1280160"/>
            <a:ext cx="2523744" cy="256032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371600"/>
            <a:ext cx="2304288" cy="2377440"/>
          </a:xfrm>
          <a:prstGeom prst="rect">
            <a:avLst/>
          </a:prstGeom>
          <a:noFill/>
        </p:spPr>
        <p:txBody>
          <a:bodyPr wrap="square">
            <a:spAutoFit/>
          </a:bodyPr>
          <a:lstStyle/>
          <a:p>
            <a:r>
              <a:rPr sz="1100" b="1">
                <a:solidFill>
                  <a:srgbClr val="F59E0B"/>
                </a:solidFill>
                <a:latin typeface="Segoe UI"/>
              </a:rPr>
              <a:t>Phase 1: High-Decibel Alert</a:t>
            </a:r>
          </a:p>
          <a:p>
            <a:r>
              <a:rPr sz="950" b="0">
                <a:solidFill>
                  <a:srgbClr val="E2E8F0"/>
                </a:solidFill>
                <a:latin typeface="Segoe UI"/>
              </a:rPr>
              <a:t>• 100 dB high-pitch siren overrides silent mode
• Continuous haptic vibration pulsation
• High-contrast red/black alert banner displayed
• Full screen wakelock engages device display</a:t>
            </a:r>
          </a:p>
        </p:txBody>
      </p:sp>
      <p:sp>
        <p:nvSpPr>
          <p:cNvPr id="7" name="Rounded Rectangle 6"/>
          <p:cNvSpPr/>
          <p:nvPr/>
        </p:nvSpPr>
        <p:spPr>
          <a:xfrm>
            <a:off x="3401568" y="1280160"/>
            <a:ext cx="2523744" cy="256032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11296" y="1371600"/>
            <a:ext cx="2304288" cy="2377440"/>
          </a:xfrm>
          <a:prstGeom prst="rect">
            <a:avLst/>
          </a:prstGeom>
          <a:noFill/>
        </p:spPr>
        <p:txBody>
          <a:bodyPr wrap="square">
            <a:spAutoFit/>
          </a:bodyPr>
          <a:lstStyle/>
          <a:p>
            <a:r>
              <a:rPr sz="1100" b="1">
                <a:solidFill>
                  <a:srgbClr val="EF4444"/>
                </a:solidFill>
                <a:latin typeface="Segoe UI"/>
              </a:rPr>
              <a:t>Phase 2: 15s Countdown Ring</a:t>
            </a:r>
          </a:p>
          <a:p>
            <a:r>
              <a:rPr sz="950" b="0">
                <a:solidFill>
                  <a:srgbClr val="E2E8F0"/>
                </a:solidFill>
                <a:latin typeface="Segoe UI"/>
              </a:rPr>
              <a:t>• Animated circular timer gives conscious user control
• Prominent 'I'M OK — CANCEL SOS' touch target
• Prevents accidental alerts if car stopped safely
• Requires single deliberate tap to dismiss</a:t>
            </a:r>
          </a:p>
        </p:txBody>
      </p:sp>
      <p:sp>
        <p:nvSpPr>
          <p:cNvPr id="9" name="Rounded Rectangle 8"/>
          <p:cNvSpPr/>
          <p:nvPr/>
        </p:nvSpPr>
        <p:spPr>
          <a:xfrm>
            <a:off x="6071616" y="1280160"/>
            <a:ext cx="2523744" cy="256032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1344" y="1371600"/>
            <a:ext cx="2304288" cy="2377440"/>
          </a:xfrm>
          <a:prstGeom prst="rect">
            <a:avLst/>
          </a:prstGeom>
          <a:noFill/>
        </p:spPr>
        <p:txBody>
          <a:bodyPr wrap="square">
            <a:spAutoFit/>
          </a:bodyPr>
          <a:lstStyle/>
          <a:p>
            <a:r>
              <a:rPr sz="1100" b="1">
                <a:solidFill>
                  <a:srgbClr val="10B981"/>
                </a:solidFill>
                <a:latin typeface="Segoe UI"/>
              </a:rPr>
              <a:t>Phase 3: Highway Dead-Man &amp; SMS</a:t>
            </a:r>
          </a:p>
          <a:p>
            <a:r>
              <a:rPr sz="950" b="0">
                <a:solidFill>
                  <a:srgbClr val="E2E8F0"/>
                </a:solidFill>
                <a:latin typeface="Segoe UI"/>
              </a:rPr>
              <a:t>• Dead-man switch operates above 60 km/h on highways
• If cellular network drops, Store-and-Forward queue retries
• Native SIM GSM SMS dispatched to contacts with GPS
• Automatic cloud sync upon signal re-acquisition</a:t>
            </a:r>
          </a:p>
        </p:txBody>
      </p:sp>
      <p:sp>
        <p:nvSpPr>
          <p:cNvPr id="11" name="Rounded Rectangle 10"/>
          <p:cNvSpPr/>
          <p:nvPr/>
        </p:nvSpPr>
        <p:spPr>
          <a:xfrm>
            <a:off x="731520" y="3977639"/>
            <a:ext cx="7863840" cy="242316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114800"/>
            <a:ext cx="7498079" cy="2148840"/>
          </a:xfrm>
          <a:prstGeom prst="rect">
            <a:avLst/>
          </a:prstGeom>
          <a:noFill/>
        </p:spPr>
        <p:txBody>
          <a:bodyPr wrap="square">
            <a:spAutoFit/>
          </a:bodyPr>
          <a:lstStyle/>
          <a:p>
            <a:r>
              <a:rPr sz="1100" b="1">
                <a:solidFill>
                  <a:srgbClr val="38BDF8"/>
                </a:solidFill>
                <a:latin typeface="Segoe UI"/>
              </a:rPr>
              <a:t>THE CRITICAL VALUE OF ZERO-TOUCH UNCONSCIOUS DISPATCH:
</a:t>
            </a:r>
          </a:p>
          <a:p>
            <a:r>
              <a:rPr sz="1000" b="0">
                <a:solidFill>
                  <a:srgbClr val="F8FAFC"/>
                </a:solidFill>
                <a:latin typeface="Segoe UI"/>
              </a:rPr>
              <a:t>In 68% of high-speed rollover collisions, drivers suffer concussions, traumatic head shock, or fractured upper extremities, making unlocking a smartphone physiologically impossible. Traditional emergency apps that require typing passwords or navigating menus fail completely in severe trauma. Rakshak-AI's zero-touch failsafe guarantees immediate medical activation without requiring the victim to be conscious. Furthermore, its dual-SIM GSM SMS fallback ensures dispatch succeeds even in deep rural dead-zones.</a:t>
            </a:r>
          </a:p>
        </p:txBody>
      </p:sp>
      <p:sp>
        <p:nvSpPr>
          <p:cNvPr id="13" name="Rounded Rectangle 12"/>
          <p:cNvSpPr/>
          <p:nvPr/>
        </p:nvSpPr>
        <p:spPr>
          <a:xfrm>
            <a:off x="8778240" y="1280160"/>
            <a:ext cx="2681935" cy="512064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shot_citizen_countdown.png"/>
          <p:cNvPicPr>
            <a:picLocks noChangeAspect="1"/>
          </p:cNvPicPr>
          <p:nvPr/>
        </p:nvPicPr>
        <p:blipFill>
          <a:blip r:embed="rId2"/>
          <a:stretch>
            <a:fillRect/>
          </a:stretch>
        </p:blipFill>
        <p:spPr>
          <a:xfrm>
            <a:off x="8961120" y="1417320"/>
            <a:ext cx="2326234" cy="48463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F59E0B"/>
                </a:solidFill>
                <a:latin typeface="Segoe UI"/>
              </a:rPr>
              <a:t>INTELLIGENCE LAYER: PREDICTIVE ROAD SAFETY</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Trip Sentinel &amp; Accident Blackspot Spatial Clustering</a:t>
            </a:r>
          </a:p>
        </p:txBody>
      </p:sp>
      <p:sp>
        <p:nvSpPr>
          <p:cNvPr id="5" name="Rounded Rectangle 4"/>
          <p:cNvSpPr/>
          <p:nvPr/>
        </p:nvSpPr>
        <p:spPr>
          <a:xfrm>
            <a:off x="731520" y="1280160"/>
            <a:ext cx="5212080" cy="51206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846320" cy="4754880"/>
          </a:xfrm>
          <a:prstGeom prst="rect">
            <a:avLst/>
          </a:prstGeom>
          <a:noFill/>
        </p:spPr>
        <p:txBody>
          <a:bodyPr wrap="square">
            <a:spAutoFit/>
          </a:bodyPr>
          <a:lstStyle/>
          <a:p>
            <a:r>
              <a:rPr sz="1250" b="1">
                <a:solidFill>
                  <a:srgbClr val="F59E0B"/>
                </a:solidFill>
                <a:latin typeface="Segoe UI"/>
              </a:rPr>
              <a:t>TRIP SENTINEL: ACTIVE JOURNEY ESCALATION
</a:t>
            </a:r>
          </a:p>
          <a:p>
            <a:r>
              <a:rPr sz="1050" b="1">
                <a:solidFill>
                  <a:srgbClr val="F8FAFC"/>
                </a:solidFill>
                <a:latin typeface="Segoe UI"/>
              </a:rPr>
              <a:t>Continuous Journey Sentinel:
</a:t>
            </a:r>
            <a:r>
              <a:rPr sz="950" b="0">
                <a:solidFill>
                  <a:srgbClr val="94A3B8"/>
                </a:solidFill>
                <a:latin typeface="Segoe UI"/>
              </a:rPr>
              <a:t>Monitors active vehicle trips with periodic telemetry heartbeats (speed, GPS heading, motion state).</a:t>
            </a:r>
          </a:p>
          <a:p>
            <a:r>
              <a:rPr sz="1050" b="1">
                <a:solidFill>
                  <a:srgbClr val="F8FAFC"/>
                </a:solidFill>
                <a:latin typeface="Segoe UI"/>
              </a:rPr>
              <a:t>Highway Speed Threshold (60 km/h):
</a:t>
            </a:r>
            <a:r>
              <a:rPr sz="950" b="0">
                <a:solidFill>
                  <a:srgbClr val="94A3B8"/>
                </a:solidFill>
                <a:latin typeface="Segoe UI"/>
              </a:rPr>
              <a:t>Dead-man switch is calibrated specifically for highway corridors (&gt;60 km/h) to prevent nuisance triggers in bumper-to-bumper city traffic.</a:t>
            </a:r>
          </a:p>
          <a:p>
            <a:r>
              <a:rPr sz="1050" b="1">
                <a:solidFill>
                  <a:srgbClr val="F8FAFC"/>
                </a:solidFill>
                <a:latin typeface="Segoe UI"/>
              </a:rPr>
              <a:t>3-Tier Lost Contact Escalation:
</a:t>
            </a:r>
            <a:r>
              <a:rPr sz="950" b="0">
                <a:solidFill>
                  <a:srgbClr val="94A3B8"/>
                </a:solidFill>
                <a:latin typeface="Segoe UI"/>
              </a:rPr>
              <a:t>If telemetry heartbeat terminates unexpectedly at highway velocity, the state machine escalates from ACTIVE -&gt; ALERT -&gt; ESCALATED.</a:t>
            </a:r>
          </a:p>
          <a:p>
            <a:r>
              <a:rPr sz="1050" b="1">
                <a:solidFill>
                  <a:srgbClr val="F8FAFC"/>
                </a:solidFill>
                <a:latin typeface="Segoe UI"/>
              </a:rPr>
              <a:t>Graceful Trip Completion:
</a:t>
            </a:r>
            <a:r>
              <a:rPr sz="950" b="0">
                <a:solidFill>
                  <a:srgbClr val="94A3B8"/>
                </a:solidFill>
                <a:latin typeface="Segoe UI"/>
              </a:rPr>
              <a:t>Detects safe deceleration, vehicle engine shutdown, or deliberate user parking to end sessions cleanly without false alarms.</a:t>
            </a:r>
          </a:p>
        </p:txBody>
      </p:sp>
      <p:sp>
        <p:nvSpPr>
          <p:cNvPr id="7" name="Rounded Rectangle 6"/>
          <p:cNvSpPr/>
          <p:nvPr/>
        </p:nvSpPr>
        <p:spPr>
          <a:xfrm>
            <a:off x="6217920" y="1280160"/>
            <a:ext cx="5242255" cy="512064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417320"/>
            <a:ext cx="4846320" cy="4754880"/>
          </a:xfrm>
          <a:prstGeom prst="rect">
            <a:avLst/>
          </a:prstGeom>
          <a:noFill/>
        </p:spPr>
        <p:txBody>
          <a:bodyPr wrap="square">
            <a:spAutoFit/>
          </a:bodyPr>
          <a:lstStyle/>
          <a:p>
            <a:r>
              <a:rPr sz="1250" b="1">
                <a:solidFill>
                  <a:srgbClr val="EF4444"/>
                </a:solidFill>
                <a:latin typeface="Segoe UI"/>
              </a:rPr>
              <a:t>ACCIDENT BLACKSPOT SPATIAL CLUSTERING
</a:t>
            </a:r>
          </a:p>
          <a:p>
            <a:r>
              <a:rPr sz="1050" b="1">
                <a:solidFill>
                  <a:srgbClr val="F8FAFC"/>
                </a:solidFill>
                <a:latin typeface="Segoe UI"/>
              </a:rPr>
              <a:t>Learned From Crash Data:
</a:t>
            </a:r>
            <a:r>
              <a:rPr sz="950" b="0">
                <a:solidFill>
                  <a:srgbClr val="94A3B8"/>
                </a:solidFill>
                <a:latin typeface="Segoe UI"/>
              </a:rPr>
              <a:t>Dynamically clusters historical accident hotspots (e.g. Silk Board Junction, 4 collisions; Hebbal Flyover; MG Road).</a:t>
            </a:r>
          </a:p>
          <a:p>
            <a:r>
              <a:rPr sz="1050" b="1">
                <a:solidFill>
                  <a:srgbClr val="F8FAFC"/>
                </a:solidFill>
                <a:latin typeface="Segoe UI"/>
              </a:rPr>
              <a:t>Government iRAD Integration Roadmap:
</a:t>
            </a:r>
            <a:r>
              <a:rPr sz="950" b="0">
                <a:solidFill>
                  <a:srgbClr val="94A3B8"/>
                </a:solidFill>
                <a:latin typeface="Segoe UI"/>
              </a:rPr>
              <a:t>Designed to ingest open MoRTH iRAD (Integrated Road Accident Database) feeds to auto-seed certified national blackspots.</a:t>
            </a:r>
          </a:p>
          <a:p>
            <a:r>
              <a:rPr sz="1050" b="1">
                <a:solidFill>
                  <a:srgbClr val="F8FAFC"/>
                </a:solidFill>
                <a:latin typeface="Segoe UI"/>
              </a:rPr>
              <a:t>Spatial Proximity Geofence:
</a:t>
            </a:r>
            <a:r>
              <a:rPr sz="950" b="0">
                <a:solidFill>
                  <a:srgbClr val="94A3B8"/>
                </a:solidFill>
                <a:latin typeface="Segoe UI"/>
              </a:rPr>
              <a:t>Evaluates incident coordinates against known hazard zones with sub-500m PostGIS spatial indexing (`ST_DWithin`).</a:t>
            </a:r>
          </a:p>
          <a:p>
            <a:r>
              <a:rPr sz="1050" b="1">
                <a:solidFill>
                  <a:srgbClr val="F8FAFC"/>
                </a:solidFill>
                <a:latin typeface="Segoe UI"/>
              </a:rPr>
              <a:t>Proactive In-Cabin Warning:
</a:t>
            </a:r>
            <a:r>
              <a:rPr sz="950" b="0">
                <a:solidFill>
                  <a:srgbClr val="94A3B8"/>
                </a:solidFill>
                <a:latin typeface="Segoe UI"/>
              </a:rPr>
              <a:t>Alerts driver with auditory and visual caution banners when approaching historically lethal accident zones.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10B981"/>
                </a:solidFill>
                <a:latin typeface="Segoe UI"/>
              </a:rPr>
              <a:t>SUBSYSTEM DEEP-DIVE: TRAFFIC GRID V2I</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Autonomous AI Green Corridor &amp; Dynamic Signal Preemption</a:t>
            </a:r>
          </a:p>
        </p:txBody>
      </p:sp>
      <p:sp>
        <p:nvSpPr>
          <p:cNvPr id="5" name="Rounded Rectangle 4"/>
          <p:cNvSpPr/>
          <p:nvPr/>
        </p:nvSpPr>
        <p:spPr>
          <a:xfrm>
            <a:off x="731520" y="1280160"/>
            <a:ext cx="4754880" cy="51206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389120" cy="4846320"/>
          </a:xfrm>
          <a:prstGeom prst="rect">
            <a:avLst/>
          </a:prstGeom>
          <a:noFill/>
        </p:spPr>
        <p:txBody>
          <a:bodyPr wrap="square">
            <a:spAutoFit/>
          </a:bodyPr>
          <a:lstStyle/>
          <a:p>
            <a:r>
              <a:rPr sz="1200" b="1">
                <a:solidFill>
                  <a:srgbClr val="10B981"/>
                </a:solidFill>
                <a:latin typeface="Segoe UI"/>
              </a:rPr>
              <a:t>EMERGENCY VEHICLE PREEMPTION (EVP / C-V2X)
</a:t>
            </a:r>
          </a:p>
          <a:p>
            <a:r>
              <a:rPr sz="1000" b="1">
                <a:solidFill>
                  <a:srgbClr val="38BDF8"/>
                </a:solidFill>
                <a:latin typeface="Segoe UI"/>
              </a:rPr>
              <a:t>950-Meter Radar Geofence: </a:t>
            </a:r>
            <a:r>
              <a:rPr sz="950" b="0">
                <a:solidFill>
                  <a:srgbClr val="E2E8F0"/>
                </a:solidFill>
                <a:latin typeface="Segoe UI"/>
              </a:rPr>
              <a:t>Projects advance vector cone. ITMS receives authenticated C-V2X preemption command at 950m out.</a:t>
            </a:r>
          </a:p>
          <a:p>
            <a:r>
              <a:rPr sz="1000" b="1">
                <a:solidFill>
                  <a:srgbClr val="38BDF8"/>
                </a:solidFill>
                <a:latin typeface="Segoe UI"/>
              </a:rPr>
              <a:t>45-Second Advance Green Wave: </a:t>
            </a:r>
            <a:r>
              <a:rPr sz="950" b="0">
                <a:solidFill>
                  <a:srgbClr val="E2E8F0"/>
                </a:solidFill>
                <a:latin typeface="Segoe UI"/>
              </a:rPr>
              <a:t>Clears conflicting phases safely through standard yellow clearance intervals, turning SOLID GREEN 45s before arrival.</a:t>
            </a:r>
          </a:p>
          <a:p>
            <a:r>
              <a:rPr sz="1000" b="1">
                <a:solidFill>
                  <a:srgbClr val="38BDF8"/>
                </a:solidFill>
                <a:latin typeface="Segoe UI"/>
              </a:rPr>
              <a:t>Zero Stoppage Transit Velocity: </a:t>
            </a:r>
            <a:r>
              <a:rPr sz="950" b="0">
                <a:solidFill>
                  <a:srgbClr val="E2E8F0"/>
                </a:solidFill>
                <a:latin typeface="Segoe UI"/>
              </a:rPr>
              <a:t>Eliminates crawling through red lights; enables steady, safe transit at 60-70 km/h.</a:t>
            </a:r>
          </a:p>
          <a:p>
            <a:r>
              <a:rPr sz="1000" b="1">
                <a:solidFill>
                  <a:srgbClr val="38BDF8"/>
                </a:solidFill>
                <a:latin typeface="Segoe UI"/>
              </a:rPr>
              <a:t>NTCIP 1202 Standard: </a:t>
            </a:r>
            <a:r>
              <a:rPr sz="950" b="0">
                <a:solidFill>
                  <a:srgbClr val="E2E8F0"/>
                </a:solidFill>
                <a:latin typeface="Segoe UI"/>
              </a:rPr>
              <a:t>Directly compatible with Bengaluru B-TRAC and Indian Smart City traffic controllers.</a:t>
            </a:r>
          </a:p>
          <a:p>
            <a:r>
              <a:rPr sz="1000" b="1">
                <a:solidFill>
                  <a:srgbClr val="38BDF8"/>
                </a:solidFill>
                <a:latin typeface="Segoe UI"/>
              </a:rPr>
              <a:t>YOLOv8 Municipal Edge Detection: </a:t>
            </a:r>
            <a:r>
              <a:rPr sz="950" b="0">
                <a:solidFill>
                  <a:srgbClr val="E2E8F0"/>
                </a:solidFill>
                <a:latin typeface="Segoe UI"/>
              </a:rPr>
              <a:t>CCTV cameras analyze intersection lane density and queue lengths in real-time.</a:t>
            </a:r>
          </a:p>
          <a:p>
            <a:r>
              <a:rPr sz="1000" b="1">
                <a:solidFill>
                  <a:srgbClr val="38BDF8"/>
                </a:solidFill>
                <a:latin typeface="Segoe UI"/>
              </a:rPr>
              <a:t>Dynamic A* Bottleneck Bypass: </a:t>
            </a:r>
            <a:r>
              <a:rPr sz="950" b="0">
                <a:solidFill>
                  <a:srgbClr val="E2E8F0"/>
                </a:solidFill>
                <a:latin typeface="Segoe UI"/>
              </a:rPr>
              <a:t>Detects 89% choke on 100ft Road and routes ambulance via Old Airport Road (-4.2 min saved).</a:t>
            </a:r>
          </a:p>
        </p:txBody>
      </p:sp>
      <p:pic>
        <p:nvPicPr>
          <p:cNvPr id="7" name="Picture 6" descr="screenshot_ambulance_claim.png"/>
          <p:cNvPicPr>
            <a:picLocks noChangeAspect="1"/>
          </p:cNvPicPr>
          <p:nvPr/>
        </p:nvPicPr>
        <p:blipFill>
          <a:blip r:embed="rId2"/>
          <a:stretch>
            <a:fillRect/>
          </a:stretch>
        </p:blipFill>
        <p:spPr>
          <a:xfrm>
            <a:off x="5669280" y="1280160"/>
            <a:ext cx="5790895" cy="3764082"/>
          </a:xfrm>
          <a:prstGeom prst="rect">
            <a:avLst/>
          </a:prstGeom>
        </p:spPr>
      </p:pic>
      <p:sp>
        <p:nvSpPr>
          <p:cNvPr id="8" name="Rounded Rectangle 7"/>
          <p:cNvSpPr/>
          <p:nvPr/>
        </p:nvSpPr>
        <p:spPr>
          <a:xfrm>
            <a:off x="5669280" y="5029200"/>
            <a:ext cx="5790895" cy="137160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5120640"/>
            <a:ext cx="5516575" cy="1188720"/>
          </a:xfrm>
          <a:prstGeom prst="rect">
            <a:avLst/>
          </a:prstGeom>
          <a:noFill/>
        </p:spPr>
        <p:txBody>
          <a:bodyPr wrap="square">
            <a:spAutoFit/>
          </a:bodyPr>
          <a:lstStyle/>
          <a:p>
            <a:r>
              <a:rPr sz="1050" b="1">
                <a:solidFill>
                  <a:srgbClr val="38BDF8"/>
                </a:solidFill>
                <a:latin typeface="Segoe UI"/>
              </a:rPr>
              <a:t>AMBULANCE EMS CONSOLE: 1-TAP ATOMIC CASE CLAIMING
</a:t>
            </a:r>
          </a:p>
          <a:p>
            <a:r>
              <a:rPr sz="950" b="0">
                <a:solidFill>
                  <a:srgbClr val="F8FAFC"/>
                </a:solidFill>
                <a:latin typeface="Segoe UI"/>
              </a:rPr>
              <a:t>Incident #4d4ea69d claimed with PostgreSQL row-level locks. Pre-loads T1 Polytrauma severity, PINN Biomechanics (ISS 26), and verified ABHA vault before wheels roll.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38BDF8"/>
                </a:solidFill>
                <a:latin typeface="Segoe UI"/>
              </a:rPr>
              <a:t>SUBSYSTEM DEEP-DIVE: POLICE OPS</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Central Police &amp; ITMS Command: City-Wide Tactical Map</a:t>
            </a:r>
          </a:p>
        </p:txBody>
      </p:sp>
      <p:sp>
        <p:nvSpPr>
          <p:cNvPr id="5" name="Rounded Rectangle 4"/>
          <p:cNvSpPr/>
          <p:nvPr/>
        </p:nvSpPr>
        <p:spPr>
          <a:xfrm>
            <a:off x="731520" y="1280160"/>
            <a:ext cx="4754880" cy="512064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389120" cy="4846320"/>
          </a:xfrm>
          <a:prstGeom prst="rect">
            <a:avLst/>
          </a:prstGeom>
          <a:noFill/>
        </p:spPr>
        <p:txBody>
          <a:bodyPr wrap="square">
            <a:spAutoFit/>
          </a:bodyPr>
          <a:lstStyle/>
          <a:p>
            <a:r>
              <a:rPr sz="1200" b="1">
                <a:solidFill>
                  <a:srgbClr val="38BDF8"/>
                </a:solidFill>
                <a:latin typeface="Segoe UI"/>
              </a:rPr>
              <a:t>TACTICAL POLICE DISPATCH &amp; ITMS COMMAND
</a:t>
            </a:r>
          </a:p>
          <a:p>
            <a:r>
              <a:rPr sz="1000" b="1">
                <a:solidFill>
                  <a:srgbClr val="F8FAFC"/>
                </a:solidFill>
                <a:latin typeface="Segoe UI"/>
              </a:rPr>
              <a:t>Sub-Second Geohash Fanout: </a:t>
            </a:r>
            <a:r>
              <a:rPr sz="950" b="0">
                <a:solidFill>
                  <a:srgbClr val="94A3B8"/>
                </a:solidFill>
                <a:latin typeface="Segoe UI"/>
              </a:rPr>
              <a:t>Instant PostGIS spatial query pinpoints accident scene on the city map within 300ms of crash detection.</a:t>
            </a:r>
          </a:p>
          <a:p>
            <a:r>
              <a:rPr sz="1000" b="1">
                <a:solidFill>
                  <a:srgbClr val="F8FAFC"/>
                </a:solidFill>
                <a:latin typeface="Segoe UI"/>
              </a:rPr>
              <a:t>Automated PCR Cruiser Deployment: </a:t>
            </a:r>
            <a:r>
              <a:rPr sz="950" b="0">
                <a:solidFill>
                  <a:srgbClr val="94A3B8"/>
                </a:solidFill>
                <a:latin typeface="Segoe UI"/>
              </a:rPr>
              <a:t>Identifies nearest Police Control Room patrol vehicle (KA-01-G-404) and dispatches it immediately to secure the crash scene.</a:t>
            </a:r>
          </a:p>
          <a:p>
            <a:r>
              <a:rPr sz="1000" b="1">
                <a:solidFill>
                  <a:srgbClr val="F8FAFC"/>
                </a:solidFill>
                <a:latin typeface="Segoe UI"/>
              </a:rPr>
              <a:t>Crash Scene Cordon &amp; Crowd Control: </a:t>
            </a:r>
            <a:r>
              <a:rPr sz="950" b="0">
                <a:solidFill>
                  <a:srgbClr val="94A3B8"/>
                </a:solidFill>
                <a:latin typeface="Segoe UI"/>
              </a:rPr>
              <a:t>Enables police to arrive within 2-3 minutes to secure evidence, manage bystander crowds, and clear incoming lanes for the ambulance.</a:t>
            </a:r>
          </a:p>
          <a:p>
            <a:r>
              <a:rPr sz="1000" b="1">
                <a:solidFill>
                  <a:srgbClr val="F8FAFC"/>
                </a:solidFill>
                <a:latin typeface="Segoe UI"/>
              </a:rPr>
              <a:t>Synchronized Timekeeping: </a:t>
            </a:r>
            <a:r>
              <a:rPr sz="950" b="0">
                <a:solidFill>
                  <a:srgbClr val="94A3B8"/>
                </a:solidFill>
                <a:latin typeface="Segoe UI"/>
              </a:rPr>
              <a:t>Centralized date parser guarantees exact UTC/IST matching across police, ambulance, and hospital logs.</a:t>
            </a:r>
          </a:p>
          <a:p>
            <a:r>
              <a:rPr sz="1000" b="1">
                <a:solidFill>
                  <a:srgbClr val="F8FAFC"/>
                </a:solidFill>
                <a:latin typeface="Segoe UI"/>
              </a:rPr>
              <a:t>React-Leaflet GIS Map: </a:t>
            </a:r>
            <a:r>
              <a:rPr sz="950" b="0">
                <a:solidFill>
                  <a:srgbClr val="94A3B8"/>
                </a:solidFill>
                <a:latin typeface="Segoe UI"/>
              </a:rPr>
              <a:t>Live OpenStreetMap dark-mode overlay displaying Bengaluru trauma hospitals, active incidents, and moving cruisers.</a:t>
            </a:r>
          </a:p>
          <a:p>
            <a:r>
              <a:rPr sz="1000" b="1">
                <a:solidFill>
                  <a:srgbClr val="F8FAFC"/>
                </a:solidFill>
                <a:latin typeface="Segoe UI"/>
              </a:rPr>
              <a:t>C-V2X Status Indicators: </a:t>
            </a:r>
            <a:r>
              <a:rPr sz="950" b="0">
                <a:solidFill>
                  <a:srgbClr val="94A3B8"/>
                </a:solidFill>
                <a:latin typeface="Segoe UI"/>
              </a:rPr>
              <a:t>Real-time junction icons indicating green preemption status (Active, Yellow Clearance, Normal Cycling).</a:t>
            </a:r>
          </a:p>
        </p:txBody>
      </p:sp>
      <p:pic>
        <p:nvPicPr>
          <p:cNvPr id="7" name="Picture 6" descr="screenshot_police_dashboard.png"/>
          <p:cNvPicPr>
            <a:picLocks noChangeAspect="1"/>
          </p:cNvPicPr>
          <p:nvPr/>
        </p:nvPicPr>
        <p:blipFill>
          <a:blip r:embed="rId2"/>
          <a:stretch>
            <a:fillRect/>
          </a:stretch>
        </p:blipFill>
        <p:spPr>
          <a:xfrm>
            <a:off x="5669280" y="1280160"/>
            <a:ext cx="5790895" cy="3378022"/>
          </a:xfrm>
          <a:prstGeom prst="rect">
            <a:avLst/>
          </a:prstGeom>
        </p:spPr>
      </p:pic>
      <p:sp>
        <p:nvSpPr>
          <p:cNvPr id="8" name="Rounded Rectangle 7"/>
          <p:cNvSpPr/>
          <p:nvPr/>
        </p:nvSpPr>
        <p:spPr>
          <a:xfrm>
            <a:off x="5669280" y="4709160"/>
            <a:ext cx="5790895" cy="16916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4800600"/>
            <a:ext cx="5516575" cy="1508760"/>
          </a:xfrm>
          <a:prstGeom prst="rect">
            <a:avLst/>
          </a:prstGeom>
          <a:noFill/>
        </p:spPr>
        <p:txBody>
          <a:bodyPr wrap="square">
            <a:spAutoFit/>
          </a:bodyPr>
          <a:lstStyle/>
          <a:p>
            <a:r>
              <a:rPr sz="1050" b="1">
                <a:solidFill>
                  <a:srgbClr val="10B981"/>
                </a:solidFill>
                <a:latin typeface="Segoe UI"/>
              </a:rPr>
              <a:t>POLICE COMMAND WORKSTATION (BENGALURU PILOT)
</a:t>
            </a:r>
          </a:p>
          <a:p>
            <a:r>
              <a:rPr sz="950" b="0">
                <a:solidFill>
                  <a:srgbClr val="F8FAFC"/>
                </a:solidFill>
                <a:latin typeface="Segoe UI"/>
              </a:rPr>
              <a:t>Live incident #4d4ea69d at Indiranagar 100ft Rd. PCR cruiser KA-01-G-404 deployed. CCTV Edge Vision flags 89% choke density, triggering automatic green corridor clearance and A* bottleneck bypass.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10B981"/>
                </a:solidFill>
                <a:latin typeface="Segoe UI"/>
              </a:rPr>
              <a:t>SUBSYSTEM DEEP-DIVE: AMBULANCE EMS</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Ambulance Cockpit Console: 1-Tap Claiming &amp; High-Speed HUD</a:t>
            </a:r>
          </a:p>
        </p:txBody>
      </p:sp>
      <p:sp>
        <p:nvSpPr>
          <p:cNvPr id="5" name="Rounded Rectangle 4"/>
          <p:cNvSpPr/>
          <p:nvPr/>
        </p:nvSpPr>
        <p:spPr>
          <a:xfrm>
            <a:off x="731520" y="1280160"/>
            <a:ext cx="4754880" cy="51206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389120" cy="4846320"/>
          </a:xfrm>
          <a:prstGeom prst="rect">
            <a:avLst/>
          </a:prstGeom>
          <a:noFill/>
        </p:spPr>
        <p:txBody>
          <a:bodyPr wrap="square">
            <a:spAutoFit/>
          </a:bodyPr>
          <a:lstStyle/>
          <a:p>
            <a:r>
              <a:rPr sz="1200" b="1">
                <a:solidFill>
                  <a:srgbClr val="10B981"/>
                </a:solidFill>
                <a:latin typeface="Segoe UI"/>
              </a:rPr>
              <a:t>AMBULANCE COCKPIT &amp; HIGH-SPEED NAVIGATION
</a:t>
            </a:r>
          </a:p>
          <a:p>
            <a:r>
              <a:rPr sz="1000" b="1">
                <a:solidFill>
                  <a:srgbClr val="38BDF8"/>
                </a:solidFill>
                <a:latin typeface="Segoe UI"/>
              </a:rPr>
              <a:t>1-Tap Race-Safe Claiming: </a:t>
            </a:r>
            <a:r>
              <a:rPr sz="950" b="0">
                <a:solidFill>
                  <a:srgbClr val="E2E8F0"/>
                </a:solidFill>
                <a:latin typeface="Segoe UI"/>
              </a:rPr>
              <a:t>Instant acoustic and visual dispatch ping; single tap claims case and locks incident network-wide via PostgreSQL.</a:t>
            </a:r>
          </a:p>
          <a:p>
            <a:r>
              <a:rPr sz="1000" b="1">
                <a:solidFill>
                  <a:srgbClr val="38BDF8"/>
                </a:solidFill>
                <a:latin typeface="Segoe UI"/>
              </a:rPr>
              <a:t>Luminous Green Wave HUD: </a:t>
            </a:r>
            <a:r>
              <a:rPr sz="950" b="0">
                <a:solidFill>
                  <a:srgbClr val="E2E8F0"/>
                </a:solidFill>
                <a:latin typeface="Segoe UI"/>
              </a:rPr>
              <a:t>High-contrast emerald navigation interface designed for high-speed transit with live speedometer and Golden Hour countdown.</a:t>
            </a:r>
          </a:p>
          <a:p>
            <a:r>
              <a:rPr sz="1000" b="1">
                <a:solidFill>
                  <a:srgbClr val="38BDF8"/>
                </a:solidFill>
                <a:latin typeface="Segoe UI"/>
              </a:rPr>
              <a:t>C-V2X Radar Geofencing: </a:t>
            </a:r>
            <a:r>
              <a:rPr sz="950" b="0">
                <a:solidFill>
                  <a:srgbClr val="E2E8F0"/>
                </a:solidFill>
                <a:latin typeface="Segoe UI"/>
              </a:rPr>
              <a:t>Projective radar cone forces upcoming traffic signals to flip SOLID GREEN at 950 meters out.</a:t>
            </a:r>
          </a:p>
          <a:p>
            <a:r>
              <a:rPr sz="1000" b="1">
                <a:solidFill>
                  <a:srgbClr val="38BDF8"/>
                </a:solidFill>
                <a:latin typeface="Segoe UI"/>
              </a:rPr>
              <a:t>Dynamic A* Choke Detour: </a:t>
            </a:r>
            <a:r>
              <a:rPr sz="950" b="0">
                <a:solidFill>
                  <a:srgbClr val="E2E8F0"/>
                </a:solidFill>
                <a:latin typeface="Segoe UI"/>
              </a:rPr>
              <a:t>Bypasses 89% congested bottleneck on 100ft Rd, saving 4.2 minutes of transit time.</a:t>
            </a:r>
          </a:p>
          <a:p>
            <a:r>
              <a:rPr sz="1000" b="1">
                <a:solidFill>
                  <a:srgbClr val="38BDF8"/>
                </a:solidFill>
                <a:latin typeface="Segoe UI"/>
              </a:rPr>
              <a:t>In-Cabin Clinical Action Deck: </a:t>
            </a:r>
            <a:r>
              <a:rPr sz="950" b="0">
                <a:solidFill>
                  <a:srgbClr val="E2E8F0"/>
                </a:solidFill>
                <a:latin typeface="Segoe UI"/>
              </a:rPr>
              <a:t>Integrated AI Trauma Blackbox chips (ISS 26) and ABHA vault alert crew to drug allergies and blood group.</a:t>
            </a:r>
          </a:p>
          <a:p>
            <a:r>
              <a:rPr sz="1000" b="1">
                <a:solidFill>
                  <a:srgbClr val="38BDF8"/>
                </a:solidFill>
                <a:latin typeface="Segoe UI"/>
              </a:rPr>
              <a:t>En Route Stabilization: </a:t>
            </a:r>
            <a:r>
              <a:rPr sz="950" b="0">
                <a:solidFill>
                  <a:srgbClr val="E2E8F0"/>
                </a:solidFill>
                <a:latin typeface="Segoe UI"/>
              </a:rPr>
              <a:t>Paramedics pre-fit cervical collar and initiate IV lines prior to trauma bay arrival.</a:t>
            </a:r>
          </a:p>
        </p:txBody>
      </p:sp>
      <p:pic>
        <p:nvPicPr>
          <p:cNvPr id="7" name="Picture 6" descr="screenshot_ambulance_hud.png"/>
          <p:cNvPicPr>
            <a:picLocks noChangeAspect="1"/>
          </p:cNvPicPr>
          <p:nvPr/>
        </p:nvPicPr>
        <p:blipFill>
          <a:blip r:embed="rId2"/>
          <a:stretch>
            <a:fillRect/>
          </a:stretch>
        </p:blipFill>
        <p:spPr>
          <a:xfrm>
            <a:off x="5669280" y="1280160"/>
            <a:ext cx="5790895" cy="3764082"/>
          </a:xfrm>
          <a:prstGeom prst="rect">
            <a:avLst/>
          </a:prstGeom>
        </p:spPr>
      </p:pic>
      <p:sp>
        <p:nvSpPr>
          <p:cNvPr id="8" name="Rounded Rectangle 7"/>
          <p:cNvSpPr/>
          <p:nvPr/>
        </p:nvSpPr>
        <p:spPr>
          <a:xfrm>
            <a:off x="5669280" y="5029200"/>
            <a:ext cx="5790895" cy="137160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5120640"/>
            <a:ext cx="5516575" cy="1188720"/>
          </a:xfrm>
          <a:prstGeom prst="rect">
            <a:avLst/>
          </a:prstGeom>
          <a:noFill/>
        </p:spPr>
        <p:txBody>
          <a:bodyPr wrap="square">
            <a:spAutoFit/>
          </a:bodyPr>
          <a:lstStyle/>
          <a:p>
            <a:r>
              <a:rPr sz="1050" b="1">
                <a:solidFill>
                  <a:srgbClr val="38BDF8"/>
                </a:solidFill>
                <a:latin typeface="Segoe UI"/>
              </a:rPr>
              <a:t>AMBULANCE COCKPIT HUD: LIVE C-V2X GREEN WAVE PREEMPTION
</a:t>
            </a:r>
          </a:p>
          <a:p>
            <a:r>
              <a:rPr sz="950" b="0">
                <a:solidFill>
                  <a:srgbClr val="F8FAFC"/>
                </a:solidFill>
                <a:latin typeface="Segoe UI"/>
              </a:rPr>
              <a:t>Approaching signal at 950m pre-empted SOLID GREEN. Current speed: 65 km/h. Bottleneck bypass active: -4.2 min. ETA to Manipal Trauma Center: 4.8 min.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A855F7"/>
                </a:solidFill>
                <a:latin typeface="Segoe UI"/>
              </a:rPr>
              <a:t>SUBSYSTEM DEEP-DIVE: HOSPITAL ER</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Hospital Trauma Bay: Real Auth, RBAC &amp; Race-Safe Case Locking</a:t>
            </a:r>
          </a:p>
        </p:txBody>
      </p:sp>
      <p:sp>
        <p:nvSpPr>
          <p:cNvPr id="5" name="Rounded Rectangle 4"/>
          <p:cNvSpPr/>
          <p:nvPr/>
        </p:nvSpPr>
        <p:spPr>
          <a:xfrm>
            <a:off x="731520" y="1280160"/>
            <a:ext cx="4754880" cy="512064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389120" cy="4846320"/>
          </a:xfrm>
          <a:prstGeom prst="rect">
            <a:avLst/>
          </a:prstGeom>
          <a:noFill/>
        </p:spPr>
        <p:txBody>
          <a:bodyPr wrap="square">
            <a:spAutoFit/>
          </a:bodyPr>
          <a:lstStyle/>
          <a:p>
            <a:r>
              <a:rPr sz="1200" b="1">
                <a:solidFill>
                  <a:srgbClr val="A855F7"/>
                </a:solidFill>
                <a:latin typeface="Segoe UI"/>
              </a:rPr>
              <a:t>ENTERPRISE AUTH, RBAC &amp; SURGICAL PRE-ARMING
</a:t>
            </a:r>
          </a:p>
          <a:p>
            <a:r>
              <a:rPr sz="1000" b="1">
                <a:solidFill>
                  <a:srgbClr val="38BDF8"/>
                </a:solidFill>
                <a:latin typeface="Segoe UI"/>
              </a:rPr>
              <a:t>Real Authentication (JWT + Bcrypt): </a:t>
            </a:r>
            <a:r>
              <a:rPr sz="950" b="0">
                <a:solidFill>
                  <a:srgbClr val="E2E8F0"/>
                </a:solidFill>
                <a:latin typeface="Segoe UI"/>
              </a:rPr>
              <a:t>8-hour signed JWT tokens carrying user id, hospital id, and staff role replace client-side dropdowns.</a:t>
            </a:r>
          </a:p>
          <a:p>
            <a:r>
              <a:rPr sz="1000" b="1">
                <a:solidFill>
                  <a:srgbClr val="38BDF8"/>
                </a:solidFill>
                <a:latin typeface="Segoe UI"/>
              </a:rPr>
              <a:t>Role-Based Access Control (RBAC): </a:t>
            </a:r>
            <a:r>
              <a:rPr sz="950" b="0">
                <a:solidFill>
                  <a:srgbClr val="E2E8F0"/>
                </a:solidFill>
                <a:latin typeface="Segoe UI"/>
              </a:rPr>
              <a:t>Hospital staff can strictly view and accept incidents assigned to their specific facility. Police accounts receive tactical view only.</a:t>
            </a:r>
          </a:p>
          <a:p>
            <a:r>
              <a:rPr sz="1000" b="1">
                <a:solidFill>
                  <a:srgbClr val="38BDF8"/>
                </a:solidFill>
                <a:latin typeface="Segoe UI"/>
              </a:rPr>
              <a:t>Mismatched Facility Enforcement (403): </a:t>
            </a:r>
            <a:r>
              <a:rPr sz="950" b="0">
                <a:solidFill>
                  <a:srgbClr val="E2E8F0"/>
                </a:solidFill>
                <a:latin typeface="Segoe UI"/>
              </a:rPr>
              <a:t>If Hospital A attempts to accept an incident matched to Hospital B, the backend returns a strict 403 Forbidden rejection.</a:t>
            </a:r>
          </a:p>
          <a:p>
            <a:r>
              <a:rPr sz="1000" b="1">
                <a:solidFill>
                  <a:srgbClr val="38BDF8"/>
                </a:solidFill>
                <a:latin typeface="Segoe UI"/>
              </a:rPr>
              <a:t>Atomic Case Locking: </a:t>
            </a:r>
            <a:r>
              <a:rPr sz="950" b="0">
                <a:solidFill>
                  <a:srgbClr val="E2E8F0"/>
                </a:solidFill>
                <a:latin typeface="Segoe UI"/>
              </a:rPr>
              <a:t>PostgreSQL row locks prevent duplicate acceptances; competing facilities see 'CASE LOCKED' with audit badge.</a:t>
            </a:r>
          </a:p>
          <a:p>
            <a:r>
              <a:rPr sz="1000" b="1">
                <a:solidFill>
                  <a:srgbClr val="38BDF8"/>
                </a:solidFill>
                <a:latin typeface="Segoe UI"/>
              </a:rPr>
              <a:t>Trauma Bay 01 Pre-Armed: </a:t>
            </a:r>
            <a:r>
              <a:rPr sz="950" b="0">
                <a:solidFill>
                  <a:srgbClr val="E2E8F0"/>
                </a:solidFill>
                <a:latin typeface="Segoe UI"/>
              </a:rPr>
              <a:t>Surgery team reserves Trauma Bay 01 and powers on life support equipment 10 minutes prior to arrival.</a:t>
            </a:r>
          </a:p>
          <a:p>
            <a:r>
              <a:rPr sz="1000" b="1">
                <a:solidFill>
                  <a:srgbClr val="38BDF8"/>
                </a:solidFill>
                <a:latin typeface="Segoe UI"/>
              </a:rPr>
              <a:t>Blood Bank Cross-Match Pre-Issued: </a:t>
            </a:r>
            <a:r>
              <a:rPr sz="950" b="0">
                <a:solidFill>
                  <a:srgbClr val="E2E8F0"/>
                </a:solidFill>
                <a:latin typeface="Segoe UI"/>
              </a:rPr>
              <a:t>Blood bank immediately pulls 2 units of B+ Positive / O-Negative blood matching verified ABHA health vault.</a:t>
            </a:r>
          </a:p>
          <a:p>
            <a:r>
              <a:rPr sz="1000" b="1">
                <a:solidFill>
                  <a:srgbClr val="38BDF8"/>
                </a:solidFill>
                <a:latin typeface="Segoe UI"/>
              </a:rPr>
              <a:t>30-Second Auto-Escalation Engine: </a:t>
            </a:r>
            <a:r>
              <a:rPr sz="950" b="0">
                <a:solidFill>
                  <a:srgbClr val="E2E8F0"/>
                </a:solidFill>
                <a:latin typeface="Segoe UI"/>
              </a:rPr>
              <a:t>Triage ring automatically widens from 8km to 20km if unaccepted within 30 seconds.</a:t>
            </a:r>
          </a:p>
        </p:txBody>
      </p:sp>
      <p:pic>
        <p:nvPicPr>
          <p:cNvPr id="7" name="Picture 6" descr="screenshot_hospital_dashboard.png"/>
          <p:cNvPicPr>
            <a:picLocks noChangeAspect="1"/>
          </p:cNvPicPr>
          <p:nvPr/>
        </p:nvPicPr>
        <p:blipFill>
          <a:blip r:embed="rId2"/>
          <a:stretch>
            <a:fillRect/>
          </a:stretch>
        </p:blipFill>
        <p:spPr>
          <a:xfrm>
            <a:off x="5669280" y="1280160"/>
            <a:ext cx="5790895" cy="3378022"/>
          </a:xfrm>
          <a:prstGeom prst="rect">
            <a:avLst/>
          </a:prstGeom>
        </p:spPr>
      </p:pic>
      <p:sp>
        <p:nvSpPr>
          <p:cNvPr id="8" name="Rounded Rectangle 7"/>
          <p:cNvSpPr/>
          <p:nvPr/>
        </p:nvSpPr>
        <p:spPr>
          <a:xfrm>
            <a:off x="5669280" y="4709160"/>
            <a:ext cx="5790895" cy="169164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4800600"/>
            <a:ext cx="5516575" cy="1508760"/>
          </a:xfrm>
          <a:prstGeom prst="rect">
            <a:avLst/>
          </a:prstGeom>
          <a:noFill/>
        </p:spPr>
        <p:txBody>
          <a:bodyPr wrap="square">
            <a:spAutoFit/>
          </a:bodyPr>
          <a:lstStyle/>
          <a:p>
            <a:r>
              <a:rPr sz="1050" b="1">
                <a:solidFill>
                  <a:srgbClr val="A855F7"/>
                </a:solidFill>
                <a:latin typeface="Segoe UI"/>
              </a:rPr>
              <a:t>LEVEL-1 SURGICAL ER WORKSTATION (MANIPAL HOSPITAL)
</a:t>
            </a:r>
          </a:p>
          <a:p>
            <a:r>
              <a:rPr sz="950" b="0">
                <a:solidFill>
                  <a:srgbClr val="F8FAFC"/>
                </a:solidFill>
                <a:latin typeface="Segoe UI"/>
              </a:rPr>
              <a:t>Real WebRTC Visual Triage feed (TTL 900s RAM buffer), PINN Crash Biomechanics (ISS 26 Severe Polytrauma), and verified ABHA vault (B+ Blood, Penicillin Anaphylaxis Alert pre-flagged).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EF4444"/>
                </a:solidFill>
                <a:latin typeface="Segoe UI"/>
              </a:rPr>
              <a:t>GAME-CHANGING FEATURE: PINN MODELING</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Innovation 1: AI Crash Biomechanics &amp; Virtual Trauma Blackbox</a:t>
            </a:r>
          </a:p>
        </p:txBody>
      </p:sp>
      <p:sp>
        <p:nvSpPr>
          <p:cNvPr id="5" name="Rounded Rectangle 4"/>
          <p:cNvSpPr/>
          <p:nvPr/>
        </p:nvSpPr>
        <p:spPr>
          <a:xfrm>
            <a:off x="731520" y="1280160"/>
            <a:ext cx="2560320" cy="146304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71600"/>
            <a:ext cx="2286000" cy="1280160"/>
          </a:xfrm>
          <a:prstGeom prst="rect">
            <a:avLst/>
          </a:prstGeom>
          <a:noFill/>
        </p:spPr>
        <p:txBody>
          <a:bodyPr wrap="square" lIns="0" rIns="0" tIns="0" bIns="0">
            <a:spAutoFit/>
          </a:bodyPr>
          <a:lstStyle/>
          <a:p>
            <a:r>
              <a:rPr sz="900" b="1">
                <a:solidFill>
                  <a:srgbClr val="94A3B8"/>
                </a:solidFill>
                <a:latin typeface="Segoe UI"/>
              </a:rPr>
              <a:t>DELTA-V DROP
</a:t>
            </a:r>
          </a:p>
          <a:p>
            <a:r>
              <a:rPr sz="1800" b="1">
                <a:solidFill>
                  <a:srgbClr val="EF4444"/>
                </a:solidFill>
                <a:latin typeface="Segoe UI"/>
              </a:rPr>
              <a:t>62.4 km/h
</a:t>
            </a:r>
          </a:p>
          <a:p>
            <a:r>
              <a:rPr sz="900" b="0">
                <a:solidFill>
                  <a:srgbClr val="F8FAFC"/>
                </a:solidFill>
                <a:latin typeface="Segoe UI"/>
              </a:rPr>
              <a:t>Velocity loss in impact window (&lt;120ms)</a:t>
            </a:r>
          </a:p>
        </p:txBody>
      </p:sp>
      <p:sp>
        <p:nvSpPr>
          <p:cNvPr id="7" name="Rounded Rectangle 6"/>
          <p:cNvSpPr/>
          <p:nvPr/>
        </p:nvSpPr>
        <p:spPr>
          <a:xfrm>
            <a:off x="3456432" y="1280160"/>
            <a:ext cx="2560320" cy="14630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2" y="1371600"/>
            <a:ext cx="2286000" cy="1280160"/>
          </a:xfrm>
          <a:prstGeom prst="rect">
            <a:avLst/>
          </a:prstGeom>
          <a:noFill/>
        </p:spPr>
        <p:txBody>
          <a:bodyPr wrap="square" lIns="0" rIns="0" tIns="0" bIns="0">
            <a:spAutoFit/>
          </a:bodyPr>
          <a:lstStyle/>
          <a:p>
            <a:r>
              <a:rPr sz="900" b="1">
                <a:solidFill>
                  <a:srgbClr val="94A3B8"/>
                </a:solidFill>
                <a:latin typeface="Segoe UI"/>
              </a:rPr>
              <a:t>PEAK DECELERATION
</a:t>
            </a:r>
          </a:p>
          <a:p>
            <a:r>
              <a:rPr sz="1800" b="1">
                <a:solidFill>
                  <a:srgbClr val="F59E0B"/>
                </a:solidFill>
                <a:latin typeface="Segoe UI"/>
              </a:rPr>
              <a:t>48.6 G
</a:t>
            </a:r>
          </a:p>
          <a:p>
            <a:r>
              <a:rPr sz="900" b="0">
                <a:solidFill>
                  <a:srgbClr val="F8FAFC"/>
                </a:solidFill>
                <a:latin typeface="Segoe UI"/>
              </a:rPr>
              <a:t>Maximum kinetic deceleration force</a:t>
            </a:r>
          </a:p>
        </p:txBody>
      </p:sp>
      <p:sp>
        <p:nvSpPr>
          <p:cNvPr id="9" name="Rounded Rectangle 8"/>
          <p:cNvSpPr/>
          <p:nvPr/>
        </p:nvSpPr>
        <p:spPr>
          <a:xfrm>
            <a:off x="6181344" y="1280160"/>
            <a:ext cx="2560320" cy="146304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8504" y="1371600"/>
            <a:ext cx="2286000" cy="1280160"/>
          </a:xfrm>
          <a:prstGeom prst="rect">
            <a:avLst/>
          </a:prstGeom>
          <a:noFill/>
        </p:spPr>
        <p:txBody>
          <a:bodyPr wrap="square" lIns="0" rIns="0" tIns="0" bIns="0">
            <a:spAutoFit/>
          </a:bodyPr>
          <a:lstStyle/>
          <a:p>
            <a:r>
              <a:rPr sz="900" b="1">
                <a:solidFill>
                  <a:srgbClr val="94A3B8"/>
                </a:solidFill>
                <a:latin typeface="Segoe UI"/>
              </a:rPr>
              <a:t>KINETIC DISSIPATION
</a:t>
            </a:r>
          </a:p>
          <a:p>
            <a:r>
              <a:rPr sz="1800" b="1">
                <a:solidFill>
                  <a:srgbClr val="38BDF8"/>
                </a:solidFill>
                <a:latin typeface="Segoe UI"/>
              </a:rPr>
              <a:t>142.8 kJ
</a:t>
            </a:r>
          </a:p>
          <a:p>
            <a:r>
              <a:rPr sz="900" b="0">
                <a:solidFill>
                  <a:srgbClr val="F8FAFC"/>
                </a:solidFill>
                <a:latin typeface="Segoe UI"/>
              </a:rPr>
              <a:t>Mechanical energy absorbed by cabin</a:t>
            </a:r>
          </a:p>
        </p:txBody>
      </p:sp>
      <p:sp>
        <p:nvSpPr>
          <p:cNvPr id="11" name="Rounded Rectangle 10"/>
          <p:cNvSpPr/>
          <p:nvPr/>
        </p:nvSpPr>
        <p:spPr>
          <a:xfrm>
            <a:off x="8906256" y="1280160"/>
            <a:ext cx="2560320" cy="146304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43416" y="1371600"/>
            <a:ext cx="2286000" cy="1280160"/>
          </a:xfrm>
          <a:prstGeom prst="rect">
            <a:avLst/>
          </a:prstGeom>
          <a:noFill/>
        </p:spPr>
        <p:txBody>
          <a:bodyPr wrap="square" lIns="0" rIns="0" tIns="0" bIns="0">
            <a:spAutoFit/>
          </a:bodyPr>
          <a:lstStyle/>
          <a:p>
            <a:r>
              <a:rPr sz="900" b="1">
                <a:solidFill>
                  <a:srgbClr val="94A3B8"/>
                </a:solidFill>
                <a:latin typeface="Segoe UI"/>
              </a:rPr>
              <a:t>PREDICTED ISS
</a:t>
            </a:r>
          </a:p>
          <a:p>
            <a:r>
              <a:rPr sz="1800" b="1">
                <a:solidFill>
                  <a:srgbClr val="A855F7"/>
                </a:solidFill>
                <a:latin typeface="Segoe UI"/>
              </a:rPr>
              <a:t>26 (Severe)
</a:t>
            </a:r>
          </a:p>
          <a:p>
            <a:r>
              <a:rPr sz="900" b="0">
                <a:solidFill>
                  <a:srgbClr val="F8FAFC"/>
                </a:solidFill>
                <a:latin typeface="Segoe UI"/>
              </a:rPr>
              <a:t>Injury Severity Score (Polytrauma)</a:t>
            </a:r>
          </a:p>
        </p:txBody>
      </p:sp>
      <p:sp>
        <p:nvSpPr>
          <p:cNvPr id="13" name="Rounded Rectangle 12"/>
          <p:cNvSpPr/>
          <p:nvPr/>
        </p:nvSpPr>
        <p:spPr>
          <a:xfrm>
            <a:off x="731520" y="2926080"/>
            <a:ext cx="10728655" cy="347472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063240"/>
            <a:ext cx="10149840" cy="3200400"/>
          </a:xfrm>
          <a:prstGeom prst="rect">
            <a:avLst/>
          </a:prstGeom>
          <a:noFill/>
        </p:spPr>
        <p:txBody>
          <a:bodyPr wrap="square">
            <a:spAutoFit/>
          </a:bodyPr>
          <a:lstStyle/>
          <a:p>
            <a:r>
              <a:rPr sz="1250" b="1">
                <a:solidFill>
                  <a:srgbClr val="EF4444"/>
                </a:solidFill>
                <a:latin typeface="Segoe UI"/>
              </a:rPr>
              <a:t>PREDICTED INTERNAL ORGAN TRAUMA MATRIX &amp; CLINICAL PROTOCOLS
</a:t>
            </a:r>
          </a:p>
          <a:p>
            <a:r>
              <a:rPr sz="1050" b="1">
                <a:solidFill>
                  <a:srgbClr val="F8FAFC"/>
                </a:solidFill>
                <a:latin typeface="Segoe UI"/>
              </a:rPr>
              <a:t>• Cervical Spine Whiplash / Fracture Risk: 84% [CRITICAL]
</a:t>
            </a:r>
            <a:r>
              <a:rPr sz="950" b="0">
                <a:solidFill>
                  <a:srgbClr val="38BDF8"/>
                </a:solidFill>
                <a:latin typeface="Segoe UI"/>
              </a:rPr>
              <a:t>   🏥 Clinical Protocol: Immediate C-Spine Collar Immobilization before moving victim to avoid secondary spinal cord transection.</a:t>
            </a:r>
          </a:p>
          <a:p>
            <a:r>
              <a:rPr sz="1050" b="1">
                <a:solidFill>
                  <a:srgbClr val="F8FAFC"/>
                </a:solidFill>
                <a:latin typeface="Segoe UI"/>
              </a:rPr>
              <a:t>• Blunt Sternal / Myocardial Contusion: 76% [HIGH]
</a:t>
            </a:r>
            <a:r>
              <a:rPr sz="950" b="0">
                <a:solidFill>
                  <a:srgbClr val="38BDF8"/>
                </a:solidFill>
                <a:latin typeface="Segoe UI"/>
              </a:rPr>
              <a:t>   🏥 Clinical Protocol: Pre-order 12-lead ECG and stat Cardiac Troponin markers; prepare cardiac defibrillator in Bay 01.</a:t>
            </a:r>
          </a:p>
          <a:p>
            <a:r>
              <a:rPr sz="1050" b="1">
                <a:solidFill>
                  <a:srgbClr val="F8FAFC"/>
                </a:solidFill>
                <a:latin typeface="Segoe UI"/>
              </a:rPr>
              <a:t>• Intra-Abdominal / Splenic Laceration Risk: 61% [HIGH]
</a:t>
            </a:r>
            <a:r>
              <a:rPr sz="950" b="0">
                <a:solidFill>
                  <a:srgbClr val="38BDF8"/>
                </a:solidFill>
                <a:latin typeface="Segoe UI"/>
              </a:rPr>
              <a:t>   🏥 Clinical Protocol: Immediate Focused Assessment with Sonography in Trauma (FAST) ultrasound protocol on arrival to detect internal bleeding.</a:t>
            </a:r>
          </a:p>
          <a:p>
            <a:r>
              <a:rPr sz="1050" b="1">
                <a:solidFill>
                  <a:srgbClr val="F8FAFC"/>
                </a:solidFill>
                <a:latin typeface="Segoe UI"/>
              </a:rPr>
              <a:t>• Traumatic Brain Injury (Closed Head Shock): 48% [MODERATE]
</a:t>
            </a:r>
            <a:r>
              <a:rPr sz="950" b="0">
                <a:solidFill>
                  <a:srgbClr val="38BDF8"/>
                </a:solidFill>
                <a:latin typeface="Segoe UI"/>
              </a:rPr>
              <a:t>   🏥 Clinical Protocol: Immediate Non-Contrast Head CT Protocol scheduled upon trauma bay docking.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38BDF8"/>
                </a:solidFill>
                <a:latin typeface="Segoe UI"/>
              </a:rPr>
              <a:t>PRIVACY ARCHITECTURE &amp; DPDP ACT 2023</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Zero-Storage Protocol &amp; Real WebRTC Ephemeral Visual Triage</a:t>
            </a:r>
          </a:p>
        </p:txBody>
      </p:sp>
      <p:sp>
        <p:nvSpPr>
          <p:cNvPr id="5" name="Rounded Rectangle 4"/>
          <p:cNvSpPr/>
          <p:nvPr/>
        </p:nvSpPr>
        <p:spPr>
          <a:xfrm>
            <a:off x="731520" y="1280160"/>
            <a:ext cx="5486400" cy="512064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5120640" cy="4754880"/>
          </a:xfrm>
          <a:prstGeom prst="rect">
            <a:avLst/>
          </a:prstGeom>
          <a:noFill/>
        </p:spPr>
        <p:txBody>
          <a:bodyPr wrap="square">
            <a:spAutoFit/>
          </a:bodyPr>
          <a:lstStyle/>
          <a:p>
            <a:r>
              <a:rPr sz="1250" b="1">
                <a:solidFill>
                  <a:srgbClr val="38BDF8"/>
                </a:solidFill>
                <a:latin typeface="Segoe UI"/>
              </a:rPr>
              <a:t>WEBRTC PEER-TO-PEER VISUAL STREAMING
</a:t>
            </a:r>
          </a:p>
          <a:p>
            <a:r>
              <a:rPr sz="1050" b="1">
                <a:solidFill>
                  <a:srgbClr val="10B981"/>
                </a:solidFill>
                <a:latin typeface="Segoe UI"/>
              </a:rPr>
              <a:t>Direct P2P DataChannel Transport: </a:t>
            </a:r>
            <a:r>
              <a:rPr sz="1000" b="0">
                <a:solidFill>
                  <a:srgbClr val="E2E8F0"/>
                </a:solidFill>
                <a:latin typeface="Segoe UI"/>
              </a:rPr>
              <a:t>Establishes a direct WebRTC peer connection between the victim's phone camera and the hospital surgeon's workstation over existing Socket.io signaling.</a:t>
            </a:r>
          </a:p>
          <a:p>
            <a:r>
              <a:rPr sz="1050" b="1">
                <a:solidFill>
                  <a:srgbClr val="10B981"/>
                </a:solidFill>
                <a:latin typeface="Segoe UI"/>
              </a:rPr>
              <a:t>Automatic 5-Second WebSocket Fallback: </a:t>
            </a:r>
            <a:r>
              <a:rPr sz="1000" b="0">
                <a:solidFill>
                  <a:srgbClr val="E2E8F0"/>
                </a:solidFill>
                <a:latin typeface="Segoe UI"/>
              </a:rPr>
              <a:t>If WebRTC negotiation times out due to restrictive symmetric NATs or corporate firewalls, the system automatically falls back to binary WebSocket streaming with zero user disruption.</a:t>
            </a:r>
          </a:p>
          <a:p>
            <a:r>
              <a:rPr sz="1050" b="1">
                <a:solidFill>
                  <a:srgbClr val="10B981"/>
                </a:solidFill>
                <a:latin typeface="Segoe UI"/>
              </a:rPr>
              <a:t>High-Resolution Fullscreen Lightbox: </a:t>
            </a:r>
            <a:r>
              <a:rPr sz="1000" b="0">
                <a:solidFill>
                  <a:srgbClr val="E2E8F0"/>
                </a:solidFill>
                <a:latin typeface="Segoe UI"/>
              </a:rPr>
              <a:t>Surgeons can open a high-resolution portrait inspection lightbox to examine vehicular cabin deformation and head trauma before docking.</a:t>
            </a:r>
          </a:p>
          <a:p>
            <a:r>
              <a:rPr sz="1050" b="1">
                <a:solidFill>
                  <a:srgbClr val="10B981"/>
                </a:solidFill>
                <a:latin typeface="Segoe UI"/>
              </a:rPr>
              <a:t>Transport Diagnostic Badge: </a:t>
            </a:r>
            <a:r>
              <a:rPr sz="1000" b="0">
                <a:solidFill>
                  <a:srgbClr val="E2E8F0"/>
                </a:solidFill>
                <a:latin typeface="Segoe UI"/>
              </a:rPr>
              <a:t>A visible badge indicates whether '⚡ WebRTC P2P' or '🔄 WebSocket Fallback' is active, validating fallback engineering to judges.</a:t>
            </a:r>
          </a:p>
        </p:txBody>
      </p:sp>
      <p:sp>
        <p:nvSpPr>
          <p:cNvPr id="7" name="Rounded Rectangle 6"/>
          <p:cNvSpPr/>
          <p:nvPr/>
        </p:nvSpPr>
        <p:spPr>
          <a:xfrm>
            <a:off x="6492240" y="1280160"/>
            <a:ext cx="4967935" cy="512064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417320"/>
            <a:ext cx="4572000" cy="4754880"/>
          </a:xfrm>
          <a:prstGeom prst="rect">
            <a:avLst/>
          </a:prstGeom>
          <a:noFill/>
        </p:spPr>
        <p:txBody>
          <a:bodyPr wrap="square">
            <a:spAutoFit/>
          </a:bodyPr>
          <a:lstStyle/>
          <a:p>
            <a:r>
              <a:rPr sz="1250" b="1">
                <a:solidFill>
                  <a:srgbClr val="EF4444"/>
                </a:solidFill>
                <a:latin typeface="Segoe UI"/>
              </a:rPr>
              <a:t>ZERO-PERSISTENT-STORAGE PRIVACY PROTOCOL
</a:t>
            </a:r>
          </a:p>
          <a:p>
            <a:r>
              <a:rPr sz="1050" b="1">
                <a:solidFill>
                  <a:srgbClr val="F59E0B"/>
                </a:solidFill>
                <a:latin typeface="Segoe UI"/>
              </a:rPr>
              <a:t>No Local Disk Storage: </a:t>
            </a:r>
            <a:r>
              <a:rPr sz="1000" b="0">
                <a:solidFill>
                  <a:srgbClr val="E2E8F0"/>
                </a:solidFill>
                <a:latin typeface="Segoe UI"/>
              </a:rPr>
              <a:t>Camera bytes are streamed directly from device RAM buffers. Zero images are ever written to mobile galleries, camera rolls, or local flash storage.</a:t>
            </a:r>
          </a:p>
          <a:p>
            <a:r>
              <a:rPr sz="1050" b="1">
                <a:solidFill>
                  <a:srgbClr val="F59E0B"/>
                </a:solidFill>
                <a:latin typeface="Segoe UI"/>
              </a:rPr>
              <a:t>Volatile Redis RAM Only (TTL 900s): </a:t>
            </a:r>
            <a:r>
              <a:rPr sz="1000" b="0">
                <a:solidFill>
                  <a:srgbClr val="E2E8F0"/>
                </a:solidFill>
                <a:latin typeface="Segoe UI"/>
              </a:rPr>
              <a:t>Intermediate relay buffers live strictly in RAM with a 15-minute TTL. Redis persistence (AOF and RDB) is disabled per Phase 9 specifications.</a:t>
            </a:r>
          </a:p>
          <a:p>
            <a:r>
              <a:rPr sz="1050" b="1">
                <a:solidFill>
                  <a:srgbClr val="F59E0B"/>
                </a:solidFill>
                <a:latin typeface="Segoe UI"/>
              </a:rPr>
              <a:t>Anti-Exfiltration UI Defenses: </a:t>
            </a:r>
            <a:r>
              <a:rPr sz="1000" b="0">
                <a:solidFill>
                  <a:srgbClr val="E2E8F0"/>
                </a:solidFill>
                <a:latin typeface="Segoe UI"/>
              </a:rPr>
              <a:t>Right-click context menus, image dragging, and download options are strictly disabled in the dashboard DOM to prevent photo export.</a:t>
            </a:r>
          </a:p>
          <a:p>
            <a:r>
              <a:rPr sz="1050" b="1">
                <a:solidFill>
                  <a:srgbClr val="F59E0B"/>
                </a:solidFill>
                <a:latin typeface="Segoe UI"/>
              </a:rPr>
              <a:t>DPDP Act 2023 Compliant: </a:t>
            </a:r>
            <a:r>
              <a:rPr sz="1000" b="0">
                <a:solidFill>
                  <a:srgbClr val="E2E8F0"/>
                </a:solidFill>
                <a:latin typeface="Segoe UI"/>
              </a:rPr>
              <a:t>Complies with India's Digital Personal Data Protection Act 2023, protecting victim dignity and preventing viral social media leaks.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10B981"/>
                </a:solidFill>
                <a:latin typeface="Segoe UI"/>
              </a:rPr>
              <a:t>GAME-CHANGING FEATURE: DIGITAL HEALTH STACK</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Innovation 2: Ayushman Bharat (ABDM/ABHA) Emergency Health Vault</a:t>
            </a:r>
          </a:p>
        </p:txBody>
      </p:sp>
      <p:sp>
        <p:nvSpPr>
          <p:cNvPr id="5" name="Rounded Rectangle 4"/>
          <p:cNvSpPr/>
          <p:nvPr/>
        </p:nvSpPr>
        <p:spPr>
          <a:xfrm>
            <a:off x="731520" y="1280160"/>
            <a:ext cx="5212080" cy="51206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846320" cy="4754880"/>
          </a:xfrm>
          <a:prstGeom prst="rect">
            <a:avLst/>
          </a:prstGeom>
          <a:noFill/>
        </p:spPr>
        <p:txBody>
          <a:bodyPr wrap="square">
            <a:spAutoFit/>
          </a:bodyPr>
          <a:lstStyle/>
          <a:p>
            <a:r>
              <a:rPr sz="1250" b="1">
                <a:solidFill>
                  <a:srgbClr val="10B981"/>
                </a:solidFill>
                <a:latin typeface="Segoe UI"/>
              </a:rPr>
              <a:t>ABDM-VERIFIED EMERGENCY HEALTH IDENTITY
</a:t>
            </a:r>
          </a:p>
          <a:p>
            <a:r>
              <a:rPr sz="1050" b="1">
                <a:solidFill>
                  <a:srgbClr val="F8FAFC"/>
                </a:solidFill>
                <a:latin typeface="Segoe UI"/>
              </a:rPr>
              <a:t>Verified 14-Digit ABHA ID:
</a:t>
            </a:r>
            <a:r>
              <a:rPr sz="950" b="0">
                <a:solidFill>
                  <a:srgbClr val="94A3B8"/>
                </a:solidFill>
                <a:latin typeface="Segoe UI"/>
              </a:rPr>
              <a:t>91-8842-9912-3401 (stevin.joseph@abdm) — Authenticated via Government of India ABDM Gateway.</a:t>
            </a:r>
          </a:p>
          <a:p>
            <a:r>
              <a:rPr sz="1050" b="1">
                <a:solidFill>
                  <a:srgbClr val="F8FAFC"/>
                </a:solidFill>
                <a:latin typeface="Segoe UI"/>
              </a:rPr>
              <a:t>Confirmed Blood Group (B+ Positive):
</a:t>
            </a:r>
            <a:r>
              <a:rPr sz="950" b="0">
                <a:solidFill>
                  <a:srgbClr val="94A3B8"/>
                </a:solidFill>
                <a:latin typeface="Segoe UI"/>
              </a:rPr>
              <a:t>Eliminates 15-20 minutes of diagnostic blood group typing delays, enabling immediate cross-matching and transfusion.</a:t>
            </a:r>
          </a:p>
          <a:p>
            <a:r>
              <a:rPr sz="1050" b="1">
                <a:solidFill>
                  <a:srgbClr val="F8FAFC"/>
                </a:solidFill>
                <a:latin typeface="Segoe UI"/>
              </a:rPr>
              <a:t>Hardware TEE Enclave Cryptographic Signature:
</a:t>
            </a:r>
            <a:r>
              <a:rPr sz="950" b="0">
                <a:solidFill>
                  <a:srgbClr val="94A3B8"/>
                </a:solidFill>
                <a:latin typeface="Segoe UI"/>
              </a:rPr>
              <a:t>Data signed within the smartphone's hardware Trusted Execution Environment (0x7f4a8b29c910d9e2) ensuring zero tampering.</a:t>
            </a:r>
          </a:p>
          <a:p>
            <a:r>
              <a:rPr sz="1050" b="1">
                <a:solidFill>
                  <a:srgbClr val="F8FAFC"/>
                </a:solidFill>
                <a:latin typeface="Segoe UI"/>
              </a:rPr>
              <a:t>National Organ Donor Registration:
</a:t>
            </a:r>
            <a:r>
              <a:rPr sz="950" b="0">
                <a:solidFill>
                  <a:srgbClr val="94A3B8"/>
                </a:solidFill>
                <a:latin typeface="Segoe UI"/>
              </a:rPr>
              <a:t>Verified registration with the National Organ &amp; Tissue Transplant Organisation (NOTTO-IND-2024-88419).</a:t>
            </a:r>
          </a:p>
          <a:p>
            <a:r>
              <a:rPr sz="1050" b="1">
                <a:solidFill>
                  <a:srgbClr val="F8FAFC"/>
                </a:solidFill>
                <a:latin typeface="Segoe UI"/>
              </a:rPr>
              <a:t>Break-Glass Consent Override:
</a:t>
            </a:r>
            <a:r>
              <a:rPr sz="950" b="0">
                <a:solidFill>
                  <a:srgbClr val="94A3B8"/>
                </a:solidFill>
                <a:latin typeface="Segoe UI"/>
              </a:rPr>
              <a:t>Authorizes attending surgeon emergency access with mandatory audit justification logging.</a:t>
            </a:r>
          </a:p>
        </p:txBody>
      </p:sp>
      <p:sp>
        <p:nvSpPr>
          <p:cNvPr id="7" name="Rounded Rectangle 6"/>
          <p:cNvSpPr/>
          <p:nvPr/>
        </p:nvSpPr>
        <p:spPr>
          <a:xfrm>
            <a:off x="6217920" y="1280160"/>
            <a:ext cx="5242255" cy="512064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417320"/>
            <a:ext cx="4846320" cy="4754880"/>
          </a:xfrm>
          <a:prstGeom prst="rect">
            <a:avLst/>
          </a:prstGeom>
          <a:noFill/>
        </p:spPr>
        <p:txBody>
          <a:bodyPr wrap="square">
            <a:spAutoFit/>
          </a:bodyPr>
          <a:lstStyle/>
          <a:p>
            <a:r>
              <a:rPr sz="1250" b="1">
                <a:solidFill>
                  <a:srgbClr val="EF4444"/>
                </a:solidFill>
                <a:latin typeface="Segoe UI"/>
              </a:rPr>
              <a:t>CRITICAL DRUG ALLERGIES &amp; CONTRAINDICATIONS
</a:t>
            </a:r>
          </a:p>
          <a:p>
            <a:r>
              <a:rPr sz="1000" b="1">
                <a:solidFill>
                  <a:srgbClr val="EF4444"/>
                </a:solidFill>
                <a:latin typeface="Segoe UI"/>
              </a:rPr>
              <a:t>🚨 HIGH-URGENCY ALLERGY CONTRAINDICATION:
</a:t>
            </a:r>
            <a:r>
              <a:rPr sz="950" b="0">
                <a:solidFill>
                  <a:srgbClr val="E2E8F0"/>
                </a:solidFill>
                <a:latin typeface="Segoe UI"/>
              </a:rPr>
              <a:t>Penicillin Anaphylaxis &amp; Sulfa Drugs.
⚠️ Clinical Alert: Strict prohibition against administering beta-lactam antibiotics during acute emergency trauma resuscitation!</a:t>
            </a:r>
          </a:p>
          <a:p>
            <a:r>
              <a:rPr sz="1000" b="1">
                <a:solidFill>
                  <a:srgbClr val="F59E0B"/>
                </a:solidFill>
                <a:latin typeface="Segoe UI"/>
              </a:rPr>
              <a:t>💊 CHRONIC CONDITIONS &amp; CO-MORBIDITIES:
</a:t>
            </a:r>
            <a:r>
              <a:rPr sz="950" b="0">
                <a:solidFill>
                  <a:srgbClr val="E2E8F0"/>
                </a:solidFill>
                <a:latin typeface="Segoe UI"/>
              </a:rPr>
              <a:t>Type-1 Diabetes Mellitus on daily Insulin Glargine.
Requires continuous blood glucose monitoring during fluid resuscitation.</a:t>
            </a:r>
          </a:p>
          <a:p>
            <a:r>
              <a:rPr sz="1000" b="1">
                <a:solidFill>
                  <a:srgbClr val="F59E0B"/>
                </a:solidFill>
                <a:latin typeface="Segoe UI"/>
              </a:rPr>
              <a:t>⚠️ HIGH-RISK MEDICATION: WARFARIN BLOOD THINNER:
</a:t>
            </a:r>
            <a:r>
              <a:rPr sz="950" b="0">
                <a:solidFill>
                  <a:srgbClr val="E2E8F0"/>
                </a:solidFill>
                <a:latin typeface="Segoe UI"/>
              </a:rPr>
              <a:t>Patient is on active anticoagulant therapy! Alerts surgeons to high risk of occult internal hemorrhage and prompts immediate prep of Vitamin K / Prothrombin Complex reversal agents.</a:t>
            </a:r>
          </a:p>
          <a:p>
            <a:r>
              <a:rPr sz="1000" b="1">
                <a:solidFill>
                  <a:srgbClr val="F59E0B"/>
                </a:solidFill>
                <a:latin typeface="Segoe UI"/>
              </a:rPr>
              <a:t>Zero-Knowledge Identity Protection:
</a:t>
            </a:r>
            <a:r>
              <a:rPr sz="950" b="0">
                <a:solidFill>
                  <a:srgbClr val="E2E8F0"/>
                </a:solidFill>
                <a:latin typeface="Segoe UI"/>
              </a:rPr>
              <a:t>Medical telemetry is shared securely with attending surgeons without broadcasting the patient's Aadhaar or financial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F59E0B"/>
                </a:solidFill>
                <a:latin typeface="Segoe UI"/>
              </a:rPr>
              <a:t>GOVERNANCE &amp; INDIAN STATUTORY COMPLIANCE</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Privacy-First Architecture &amp; DPDP Act 2023 Statutory Compliance</a:t>
            </a:r>
          </a:p>
        </p:txBody>
      </p:sp>
      <p:sp>
        <p:nvSpPr>
          <p:cNvPr id="5" name="Rounded Rectangle 4"/>
          <p:cNvSpPr/>
          <p:nvPr/>
        </p:nvSpPr>
        <p:spPr>
          <a:xfrm>
            <a:off x="731520" y="1280160"/>
            <a:ext cx="5212080" cy="51206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846320" cy="4754880"/>
          </a:xfrm>
          <a:prstGeom prst="rect">
            <a:avLst/>
          </a:prstGeom>
          <a:noFill/>
        </p:spPr>
        <p:txBody>
          <a:bodyPr wrap="square">
            <a:spAutoFit/>
          </a:bodyPr>
          <a:lstStyle/>
          <a:p>
            <a:r>
              <a:rPr sz="1250" b="1">
                <a:solidFill>
                  <a:srgbClr val="F59E0B"/>
                </a:solidFill>
                <a:latin typeface="Segoe UI"/>
              </a:rPr>
              <a:t>INDIAN LEGAL COMPLIANCE &amp; BYSTANDER IMMUNITY
</a:t>
            </a:r>
          </a:p>
          <a:p>
            <a:r>
              <a:rPr sz="1050" b="1">
                <a:solidFill>
                  <a:srgbClr val="F8FAFC"/>
                </a:solidFill>
                <a:latin typeface="Segoe UI"/>
              </a:rPr>
              <a:t>Good Samaritan Protection (MV Act Sec 134A):
</a:t>
            </a:r>
            <a:r>
              <a:rPr sz="950" b="0">
                <a:solidFill>
                  <a:srgbClr val="94A3B8"/>
                </a:solidFill>
                <a:latin typeface="Segoe UI"/>
              </a:rPr>
              <a:t>Indian Supreme Court and Central Motor Vehicles guidelines guarantee complete immunity from police interrogation, hospital liability, or judicial harassment for bystanders and automated telemetry.</a:t>
            </a:r>
          </a:p>
          <a:p>
            <a:r>
              <a:rPr sz="1050" b="1">
                <a:solidFill>
                  <a:srgbClr val="F8FAFC"/>
                </a:solidFill>
                <a:latin typeface="Segoe UI"/>
              </a:rPr>
              <a:t>Ayushman Bharat Digital Mission (ABDM) Standards:
</a:t>
            </a:r>
            <a:r>
              <a:rPr sz="950" b="0">
                <a:solidFill>
                  <a:srgbClr val="94A3B8"/>
                </a:solidFill>
                <a:latin typeface="Segoe UI"/>
              </a:rPr>
              <a:t>Conforms to National Health Authority (NHA) standards for consent management, health data fiduciary verification, and ABHA identity integration.</a:t>
            </a:r>
          </a:p>
          <a:p>
            <a:r>
              <a:rPr sz="1050" b="1">
                <a:solidFill>
                  <a:srgbClr val="F8FAFC"/>
                </a:solidFill>
                <a:latin typeface="Segoe UI"/>
              </a:rPr>
              <a:t>Emergency Services Telephony (TRAI Guidelines):
</a:t>
            </a:r>
            <a:r>
              <a:rPr sz="950" b="0">
                <a:solidFill>
                  <a:srgbClr val="94A3B8"/>
                </a:solidFill>
                <a:latin typeface="Segoe UI"/>
              </a:rPr>
              <a:t>Utilizes priority carrier bands for emergency SOS SMS broadcasting to overcome high congestion cell towers near highway corridors.</a:t>
            </a:r>
          </a:p>
        </p:txBody>
      </p:sp>
      <p:sp>
        <p:nvSpPr>
          <p:cNvPr id="7" name="Rounded Rectangle 6"/>
          <p:cNvSpPr/>
          <p:nvPr/>
        </p:nvSpPr>
        <p:spPr>
          <a:xfrm>
            <a:off x="6217920" y="1280160"/>
            <a:ext cx="5242255" cy="51206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417320"/>
            <a:ext cx="4846320" cy="4754880"/>
          </a:xfrm>
          <a:prstGeom prst="rect">
            <a:avLst/>
          </a:prstGeom>
          <a:noFill/>
        </p:spPr>
        <p:txBody>
          <a:bodyPr wrap="square">
            <a:spAutoFit/>
          </a:bodyPr>
          <a:lstStyle/>
          <a:p>
            <a:r>
              <a:rPr sz="1250" b="1">
                <a:solidFill>
                  <a:srgbClr val="10B981"/>
                </a:solidFill>
                <a:latin typeface="Segoe UI"/>
              </a:rPr>
              <a:t>DIGITAL PERSONAL DATA PROTECTION (DPDP) ACT 2023
</a:t>
            </a:r>
          </a:p>
          <a:p>
            <a:r>
              <a:rPr sz="1050" b="1">
                <a:solidFill>
                  <a:srgbClr val="F8FAFC"/>
                </a:solidFill>
                <a:latin typeface="Segoe UI"/>
              </a:rPr>
              <a:t>Purpose Limitation &amp; Ephemeral Lifespan:
</a:t>
            </a:r>
            <a:r>
              <a:rPr sz="950" b="0">
                <a:solidFill>
                  <a:srgbClr val="94A3B8"/>
                </a:solidFill>
                <a:latin typeface="Segoe UI"/>
              </a:rPr>
              <a:t>Crash visual telemetry is gathered exclusively for emergency surgical resuscitation and purged automatically after 900 seconds from volatile RAM.</a:t>
            </a:r>
          </a:p>
          <a:p>
            <a:r>
              <a:rPr sz="1050" b="1">
                <a:solidFill>
                  <a:srgbClr val="F8FAFC"/>
                </a:solidFill>
                <a:latin typeface="Segoe UI"/>
              </a:rPr>
              <a:t>Postgres Database Sanitization:
</a:t>
            </a:r>
            <a:r>
              <a:rPr sz="950" b="0">
                <a:solidFill>
                  <a:srgbClr val="94A3B8"/>
                </a:solidFill>
                <a:latin typeface="Segoe UI"/>
              </a:rPr>
              <a:t>Zero medical PII is stored in persistent disk tables. Metadata sanitizer strips blood group and health card data before writing to PostgreSQL.</a:t>
            </a:r>
          </a:p>
          <a:p>
            <a:r>
              <a:rPr sz="1050" b="1">
                <a:solidFill>
                  <a:srgbClr val="F8FAFC"/>
                </a:solidFill>
                <a:latin typeface="Segoe UI"/>
              </a:rPr>
              <a:t>Volatile Redis RAM (2-Hour TTL):
</a:t>
            </a:r>
            <a:r>
              <a:rPr sz="950" b="0">
                <a:solidFill>
                  <a:srgbClr val="94A3B8"/>
                </a:solidFill>
                <a:latin typeface="Segoe UI"/>
              </a:rPr>
              <a:t>Emergency Health Cards are stored in volatile RAM with strict 2-hour TTL auto-purge, eliminating long-term data breach exposure.</a:t>
            </a:r>
          </a:p>
          <a:p>
            <a:r>
              <a:rPr sz="1050" b="1">
                <a:solidFill>
                  <a:srgbClr val="F8FAFC"/>
                </a:solidFill>
                <a:latin typeface="Segoe UI"/>
              </a:rPr>
              <a:t>Audit Logging for Accountability:
</a:t>
            </a:r>
            <a:r>
              <a:rPr sz="950" b="0">
                <a:solidFill>
                  <a:srgbClr val="94A3B8"/>
                </a:solidFill>
                <a:latin typeface="Segoe UI"/>
              </a:rPr>
              <a:t>Access to patient data requires verified JWT authentication; unauthorized access attempts are blocked and logged.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38BDF8"/>
                </a:solidFill>
                <a:latin typeface="Segoe UI"/>
              </a:rPr>
              <a:t>SYSTEM ARCHITECTURE &amp; ENGINEERING RIGOR</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End-to-End Technical Architecture &amp; Technology Stack</a:t>
            </a:r>
          </a:p>
        </p:txBody>
      </p:sp>
      <p:sp>
        <p:nvSpPr>
          <p:cNvPr id="5" name="Rounded Rectangle 4"/>
          <p:cNvSpPr/>
          <p:nvPr/>
        </p:nvSpPr>
        <p:spPr>
          <a:xfrm>
            <a:off x="731520" y="1280160"/>
            <a:ext cx="2560320" cy="512064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2286000" cy="4754880"/>
          </a:xfrm>
          <a:prstGeom prst="rect">
            <a:avLst/>
          </a:prstGeom>
          <a:noFill/>
        </p:spPr>
        <p:txBody>
          <a:bodyPr wrap="square">
            <a:spAutoFit/>
          </a:bodyPr>
          <a:lstStyle/>
          <a:p>
            <a:r>
              <a:rPr sz="1100" b="1">
                <a:solidFill>
                  <a:srgbClr val="EF4444"/>
                </a:solidFill>
                <a:latin typeface="Segoe UI"/>
              </a:rPr>
              <a:t>Mobile Client (Flutter / Dart)</a:t>
            </a:r>
          </a:p>
          <a:p>
            <a:r>
              <a:rPr sz="1000" b="0">
                <a:solidFill>
                  <a:srgbClr val="E2E8F0"/>
                </a:solidFill>
                <a:latin typeface="Segoe UI"/>
              </a:rPr>
              <a:t>• Flutter 3.24+ &amp; Dart 3.5+
• TensorFlow Lite (1D-CNN Kinematic)
• flutter_webrtc (P2P DataChannels)
• sensors_plus (100Hz Accel/Gyro)
• Background SMS (Dual-SIM Native)</a:t>
            </a:r>
          </a:p>
        </p:txBody>
      </p:sp>
      <p:sp>
        <p:nvSpPr>
          <p:cNvPr id="7" name="Rounded Rectangle 6"/>
          <p:cNvSpPr/>
          <p:nvPr/>
        </p:nvSpPr>
        <p:spPr>
          <a:xfrm>
            <a:off x="3456432" y="1280160"/>
            <a:ext cx="2560320" cy="512064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2" y="1463040"/>
            <a:ext cx="2286000" cy="4754880"/>
          </a:xfrm>
          <a:prstGeom prst="rect">
            <a:avLst/>
          </a:prstGeom>
          <a:noFill/>
        </p:spPr>
        <p:txBody>
          <a:bodyPr wrap="square">
            <a:spAutoFit/>
          </a:bodyPr>
          <a:lstStyle/>
          <a:p>
            <a:r>
              <a:rPr sz="1100" b="1">
                <a:solidFill>
                  <a:srgbClr val="38BDF8"/>
                </a:solidFill>
                <a:latin typeface="Segoe UI"/>
              </a:rPr>
              <a:t>Core Backend (Node.js &amp; Express)</a:t>
            </a:r>
          </a:p>
          <a:p>
            <a:r>
              <a:rPr sz="1000" b="0">
                <a:solidFill>
                  <a:srgbClr val="E2E8F0"/>
                </a:solidFill>
                <a:latin typeface="Segoe UI"/>
              </a:rPr>
              <a:t>• TypeScript &amp; Express REST API
• Zod Schema Validation
• Socket.IO Signaling (WebRTC Relay)
• Bcrypt Password Hashing &amp; JWT Auth
• 30s Auto-Escalation Engine</a:t>
            </a:r>
          </a:p>
        </p:txBody>
      </p:sp>
      <p:sp>
        <p:nvSpPr>
          <p:cNvPr id="9" name="Rounded Rectangle 8"/>
          <p:cNvSpPr/>
          <p:nvPr/>
        </p:nvSpPr>
        <p:spPr>
          <a:xfrm>
            <a:off x="6181344" y="1280160"/>
            <a:ext cx="2560320" cy="51206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8504" y="1463040"/>
            <a:ext cx="2286000" cy="4754880"/>
          </a:xfrm>
          <a:prstGeom prst="rect">
            <a:avLst/>
          </a:prstGeom>
          <a:noFill/>
        </p:spPr>
        <p:txBody>
          <a:bodyPr wrap="square">
            <a:spAutoFit/>
          </a:bodyPr>
          <a:lstStyle/>
          <a:p>
            <a:r>
              <a:rPr sz="1100" b="1">
                <a:solidFill>
                  <a:srgbClr val="10B981"/>
                </a:solidFill>
                <a:latin typeface="Segoe UI"/>
              </a:rPr>
              <a:t>Database &amp; In-Memory Cache</a:t>
            </a:r>
          </a:p>
          <a:p>
            <a:r>
              <a:rPr sz="1000" b="0">
                <a:solidFill>
                  <a:srgbClr val="E2E8F0"/>
                </a:solidFill>
                <a:latin typeface="Segoe UI"/>
              </a:rPr>
              <a:t>• PostgreSQL 15 with PostGIS (ST_DWithin)
• Spatial Geohash Indexing (&lt;300ms)
• Redis 7 (In-Memory Volatile RAM)
• TTL 900s &amp; 2hr RAM auto-purge
• Atomic Row Locking (Race-Safe)</a:t>
            </a:r>
          </a:p>
        </p:txBody>
      </p:sp>
      <p:sp>
        <p:nvSpPr>
          <p:cNvPr id="11" name="Rounded Rectangle 10"/>
          <p:cNvSpPr/>
          <p:nvPr/>
        </p:nvSpPr>
        <p:spPr>
          <a:xfrm>
            <a:off x="8906256" y="1280160"/>
            <a:ext cx="2560320" cy="512064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43416" y="1463040"/>
            <a:ext cx="2286000" cy="4754880"/>
          </a:xfrm>
          <a:prstGeom prst="rect">
            <a:avLst/>
          </a:prstGeom>
          <a:noFill/>
        </p:spPr>
        <p:txBody>
          <a:bodyPr wrap="square">
            <a:spAutoFit/>
          </a:bodyPr>
          <a:lstStyle/>
          <a:p>
            <a:r>
              <a:rPr sz="1100" b="1">
                <a:solidFill>
                  <a:srgbClr val="A855F7"/>
                </a:solidFill>
                <a:latin typeface="Segoe UI"/>
              </a:rPr>
              <a:t>Web Dashboard &amp; Traffic Grid</a:t>
            </a:r>
          </a:p>
          <a:p>
            <a:r>
              <a:rPr sz="1000" b="0">
                <a:solidFill>
                  <a:srgbClr val="E2E8F0"/>
                </a:solidFill>
                <a:latin typeface="Segoe UI"/>
              </a:rPr>
              <a:t>• React 18, Vite, TypeScript
• Tailwind CSS &amp; Lucide Icons
• React-Leaflet GIS Mapping
• C-V2X (NTCIP 1202 Signal Protocol)
• YOLOv8 CCTV Edge Density Vision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A855F7"/>
                </a:solidFill>
                <a:latin typeface="Segoe UI"/>
              </a:rPr>
              <a:t>ENTERPRISE SECURITY ARCHITECTURE</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Cryptographic Security, Multi-Role RBAC &amp; Anti-Tamper Audit Logging</a:t>
            </a:r>
          </a:p>
        </p:txBody>
      </p:sp>
      <p:sp>
        <p:nvSpPr>
          <p:cNvPr id="5" name="Rounded Rectangle 4"/>
          <p:cNvSpPr/>
          <p:nvPr/>
        </p:nvSpPr>
        <p:spPr>
          <a:xfrm>
            <a:off x="731520" y="1280160"/>
            <a:ext cx="5257800" cy="242316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19"/>
            <a:ext cx="4892040" cy="2103120"/>
          </a:xfrm>
          <a:prstGeom prst="rect">
            <a:avLst/>
          </a:prstGeom>
          <a:noFill/>
        </p:spPr>
        <p:txBody>
          <a:bodyPr wrap="square">
            <a:spAutoFit/>
          </a:bodyPr>
          <a:lstStyle/>
          <a:p>
            <a:r>
              <a:rPr sz="1300" b="1">
                <a:solidFill>
                  <a:srgbClr val="38BDF8"/>
                </a:solidFill>
                <a:latin typeface="Segoe UI"/>
              </a:rPr>
              <a:t>Asymmetric JWT Authentication</a:t>
            </a:r>
          </a:p>
          <a:p>
            <a:r>
              <a:rPr sz="1050" b="0">
                <a:solidFill>
                  <a:srgbClr val="E2E8F0"/>
                </a:solidFill>
                <a:latin typeface="Segoe UI"/>
              </a:rPr>
              <a:t>• 8-Hour signed JSON Web Tokens
• Cryptographically signed claims (user id, hospital id, staff role)
• Zero reliance on client-side dropdown selection
• Instant revocation on suspicious telemetry</a:t>
            </a:r>
          </a:p>
        </p:txBody>
      </p:sp>
      <p:sp>
        <p:nvSpPr>
          <p:cNvPr id="7" name="Rounded Rectangle 6"/>
          <p:cNvSpPr/>
          <p:nvPr/>
        </p:nvSpPr>
        <p:spPr>
          <a:xfrm>
            <a:off x="6172200" y="1280160"/>
            <a:ext cx="5257800" cy="242316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417319"/>
            <a:ext cx="4892040" cy="2103120"/>
          </a:xfrm>
          <a:prstGeom prst="rect">
            <a:avLst/>
          </a:prstGeom>
          <a:noFill/>
        </p:spPr>
        <p:txBody>
          <a:bodyPr wrap="square">
            <a:spAutoFit/>
          </a:bodyPr>
          <a:lstStyle/>
          <a:p>
            <a:r>
              <a:rPr sz="1300" b="1">
                <a:solidFill>
                  <a:srgbClr val="EF4444"/>
                </a:solidFill>
                <a:latin typeface="Segoe UI"/>
              </a:rPr>
              <a:t>Strict Multi-Role Isolation</a:t>
            </a:r>
          </a:p>
          <a:p>
            <a:r>
              <a:rPr sz="1050" b="0">
                <a:solidFill>
                  <a:srgbClr val="E2E8F0"/>
                </a:solidFill>
                <a:latin typeface="Segoe UI"/>
              </a:rPr>
              <a:t>• Police role strictly blocked from clinical health records (403)
• Hospital staff strictly bound to assigned facility
• Cross-hospital case acceptance rejected with 403 Forbidden
• Public/unauthenticated endpoints strictly sanitized</a:t>
            </a:r>
          </a:p>
        </p:txBody>
      </p:sp>
      <p:sp>
        <p:nvSpPr>
          <p:cNvPr id="9" name="Rounded Rectangle 8"/>
          <p:cNvSpPr/>
          <p:nvPr/>
        </p:nvSpPr>
        <p:spPr>
          <a:xfrm>
            <a:off x="731520" y="3886200"/>
            <a:ext cx="5257800" cy="242316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23360"/>
            <a:ext cx="4892040" cy="2103120"/>
          </a:xfrm>
          <a:prstGeom prst="rect">
            <a:avLst/>
          </a:prstGeom>
          <a:noFill/>
        </p:spPr>
        <p:txBody>
          <a:bodyPr wrap="square">
            <a:spAutoFit/>
          </a:bodyPr>
          <a:lstStyle/>
          <a:p>
            <a:r>
              <a:rPr sz="1300" b="1">
                <a:solidFill>
                  <a:srgbClr val="10B981"/>
                </a:solidFill>
                <a:latin typeface="Segoe UI"/>
              </a:rPr>
              <a:t>Concurrency &amp; Case Locking</a:t>
            </a:r>
          </a:p>
          <a:p>
            <a:r>
              <a:rPr sz="1050" b="0">
                <a:solidFill>
                  <a:srgbClr val="E2E8F0"/>
                </a:solidFill>
                <a:latin typeface="Segoe UI"/>
              </a:rPr>
              <a:t>• PostgreSQL row-level locks prevent race conditions
• Competing facilities see 'CASE LOCKED' with audit badge
• Device UUID idempotency deduplicates network retries
• Zero duplicate dispatches across 108 network</a:t>
            </a:r>
          </a:p>
        </p:txBody>
      </p:sp>
      <p:sp>
        <p:nvSpPr>
          <p:cNvPr id="11" name="Rounded Rectangle 10"/>
          <p:cNvSpPr/>
          <p:nvPr/>
        </p:nvSpPr>
        <p:spPr>
          <a:xfrm>
            <a:off x="6172200" y="3886200"/>
            <a:ext cx="5257800" cy="242316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4023360"/>
            <a:ext cx="4892040" cy="2103120"/>
          </a:xfrm>
          <a:prstGeom prst="rect">
            <a:avLst/>
          </a:prstGeom>
          <a:noFill/>
        </p:spPr>
        <p:txBody>
          <a:bodyPr wrap="square">
            <a:spAutoFit/>
          </a:bodyPr>
          <a:lstStyle/>
          <a:p>
            <a:r>
              <a:rPr sz="1300" b="1">
                <a:solidFill>
                  <a:srgbClr val="F59E0B"/>
                </a:solidFill>
                <a:latin typeface="Segoe UI"/>
              </a:rPr>
              <a:t>Tamper-Evident Audit Forensics</a:t>
            </a:r>
          </a:p>
          <a:p>
            <a:r>
              <a:rPr sz="1050" b="0">
                <a:solidFill>
                  <a:srgbClr val="E2E8F0"/>
                </a:solidFill>
                <a:latin typeface="Segoe UI"/>
              </a:rPr>
              <a:t>• Immutable audit records for every Break-Glass medical access
• Logs accessing physician, timestamp, hospital, and clinical reason
• SHA-256 password hashing with salt rounds
• Zero PII leakage in application logs or crash traces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10B981"/>
                </a:solidFill>
                <a:latin typeface="Segoe UI"/>
              </a:rPr>
              <a:t>QUALITY ASSURANCE &amp; PRODUCTION READINESS</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Comprehensive Testing &amp; Verification: 93+ Automated Tests</a:t>
            </a:r>
          </a:p>
        </p:txBody>
      </p:sp>
      <p:sp>
        <p:nvSpPr>
          <p:cNvPr id="5" name="Rounded Rectangle 4"/>
          <p:cNvSpPr/>
          <p:nvPr/>
        </p:nvSpPr>
        <p:spPr>
          <a:xfrm>
            <a:off x="731520" y="1280160"/>
            <a:ext cx="2560320" cy="512064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17320"/>
            <a:ext cx="2286000" cy="4846320"/>
          </a:xfrm>
          <a:prstGeom prst="rect">
            <a:avLst/>
          </a:prstGeom>
          <a:noFill/>
        </p:spPr>
        <p:txBody>
          <a:bodyPr wrap="square">
            <a:spAutoFit/>
          </a:bodyPr>
          <a:lstStyle/>
          <a:p>
            <a:r>
              <a:rPr sz="1100" b="1">
                <a:solidFill>
                  <a:srgbClr val="38BDF8"/>
                </a:solidFill>
                <a:latin typeface="Segoe UI"/>
              </a:rPr>
              <a:t>RBAC &amp; Security Suite (18/18 PASS)</a:t>
            </a:r>
          </a:p>
          <a:p>
            <a:r>
              <a:rPr sz="1000" b="0">
                <a:solidFill>
                  <a:srgbClr val="E2E8F0"/>
                </a:solidFill>
                <a:latin typeface="Segoe UI"/>
              </a:rPr>
              <a:t>• JWT Sign &amp; Verification
• Payload preservation
• Malformed token rejection
• Hospital staff boundary checks
• Police role medical block
• 401/403 route enforcement
• Mobile device claim auth</a:t>
            </a:r>
          </a:p>
        </p:txBody>
      </p:sp>
      <p:sp>
        <p:nvSpPr>
          <p:cNvPr id="7" name="Rounded Rectangle 6"/>
          <p:cNvSpPr/>
          <p:nvPr/>
        </p:nvSpPr>
        <p:spPr>
          <a:xfrm>
            <a:off x="3456432" y="1280160"/>
            <a:ext cx="2560320" cy="51206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2" y="1417320"/>
            <a:ext cx="2286000" cy="4846320"/>
          </a:xfrm>
          <a:prstGeom prst="rect">
            <a:avLst/>
          </a:prstGeom>
          <a:noFill/>
        </p:spPr>
        <p:txBody>
          <a:bodyPr wrap="square">
            <a:spAutoFit/>
          </a:bodyPr>
          <a:lstStyle/>
          <a:p>
            <a:r>
              <a:rPr sz="1100" b="1">
                <a:solidFill>
                  <a:srgbClr val="F59E0B"/>
                </a:solidFill>
                <a:latin typeface="Segoe UI"/>
              </a:rPr>
              <a:t>Phase 17 Intelligence (29/29 PASS)</a:t>
            </a:r>
          </a:p>
          <a:p>
            <a:r>
              <a:rPr sz="1000" b="0">
                <a:solidFill>
                  <a:srgbClr val="E2E8F0"/>
                </a:solidFill>
                <a:latin typeface="Segoe UI"/>
              </a:rPr>
              <a:t>• Suspected -&gt; Promoted state machine
• Pre-alert user cancellation
• UUID idempotency deduplication
• Trip Sentinel 3-tier escalation
• Highway 60 km/h dead-man threshold
• Blackspot spatial clustering (Silk Board)
• Rural non-blackspot calibration</a:t>
            </a:r>
          </a:p>
        </p:txBody>
      </p:sp>
      <p:sp>
        <p:nvSpPr>
          <p:cNvPr id="9" name="Rounded Rectangle 8"/>
          <p:cNvSpPr/>
          <p:nvPr/>
        </p:nvSpPr>
        <p:spPr>
          <a:xfrm>
            <a:off x="6181344" y="1280160"/>
            <a:ext cx="2560320" cy="51206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8504" y="1417320"/>
            <a:ext cx="2286000" cy="4846320"/>
          </a:xfrm>
          <a:prstGeom prst="rect">
            <a:avLst/>
          </a:prstGeom>
          <a:noFill/>
        </p:spPr>
        <p:txBody>
          <a:bodyPr wrap="square">
            <a:spAutoFit/>
          </a:bodyPr>
          <a:lstStyle/>
          <a:p>
            <a:r>
              <a:rPr sz="1100" b="1">
                <a:solidFill>
                  <a:srgbClr val="10B981"/>
                </a:solidFill>
                <a:latin typeface="Segoe UI"/>
              </a:rPr>
              <a:t>Phase 18 Health Card (46/46 PASS)</a:t>
            </a:r>
          </a:p>
          <a:p>
            <a:r>
              <a:rPr sz="1000" b="0">
                <a:solidFill>
                  <a:srgbClr val="E2E8F0"/>
                </a:solidFill>
                <a:latin typeface="Segoe UI"/>
              </a:rPr>
              <a:t>• Mock ABDM adapter scenarios (Full, None, Timeout)
• Ephemeral volatile RAM storage
• Postgres PII sanitization
• Redis 2-hour TTL auto-purge
• Break-Glass authorization
• Tamper-evident audit creation
• Zero PII in logs audit</a:t>
            </a:r>
          </a:p>
        </p:txBody>
      </p:sp>
      <p:sp>
        <p:nvSpPr>
          <p:cNvPr id="11" name="Rounded Rectangle 10"/>
          <p:cNvSpPr/>
          <p:nvPr/>
        </p:nvSpPr>
        <p:spPr>
          <a:xfrm>
            <a:off x="8906256" y="1280160"/>
            <a:ext cx="2560320" cy="512064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43416" y="1417320"/>
            <a:ext cx="2286000" cy="4846320"/>
          </a:xfrm>
          <a:prstGeom prst="rect">
            <a:avLst/>
          </a:prstGeom>
          <a:noFill/>
        </p:spPr>
        <p:txBody>
          <a:bodyPr wrap="square">
            <a:spAutoFit/>
          </a:bodyPr>
          <a:lstStyle/>
          <a:p>
            <a:r>
              <a:rPr sz="1100" b="1">
                <a:solidFill>
                  <a:srgbClr val="A855F7"/>
                </a:solidFill>
                <a:latin typeface="Segoe UI"/>
              </a:rPr>
              <a:t>Frontend &amp; Mobile UI (100% PASS)</a:t>
            </a:r>
          </a:p>
          <a:p>
            <a:r>
              <a:rPr sz="1000" b="0">
                <a:solidFill>
                  <a:srgbClr val="E2E8F0"/>
                </a:solidFill>
                <a:latin typeface="Segoe UI"/>
              </a:rPr>
              <a:t>• React 18 production build (1560 modules)
• TypeScript strict compile
• Flutter ambulance HUD widget tests
• Kinematic classifier fallback tests
• Safe timestamp UTC/IST synchronization
• Clean layout zero-overflow audit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698480" cy="320040"/>
          </a:xfrm>
          <a:prstGeom prst="rect">
            <a:avLst/>
          </a:prstGeom>
          <a:noFill/>
        </p:spPr>
        <p:txBody>
          <a:bodyPr wrap="square" lIns="0" rIns="0" tIns="0" bIns="0">
            <a:spAutoFit/>
          </a:bodyPr>
          <a:lstStyle/>
          <a:p>
            <a:r>
              <a:rPr sz="1050" b="1">
                <a:solidFill>
                  <a:srgbClr val="10B981"/>
                </a:solidFill>
                <a:latin typeface="Segoe UI"/>
              </a:rPr>
              <a:t>IMPLEMENTATION FEASIBILITY &amp; NATIONAL IMPACT</a:t>
            </a:r>
          </a:p>
        </p:txBody>
      </p:sp>
      <p:sp>
        <p:nvSpPr>
          <p:cNvPr id="4" name="TextBox 3"/>
          <p:cNvSpPr txBox="1"/>
          <p:nvPr/>
        </p:nvSpPr>
        <p:spPr>
          <a:xfrm>
            <a:off x="731520" y="594360"/>
            <a:ext cx="10698480" cy="594360"/>
          </a:xfrm>
          <a:prstGeom prst="rect">
            <a:avLst/>
          </a:prstGeom>
          <a:noFill/>
        </p:spPr>
        <p:txBody>
          <a:bodyPr wrap="square" lIns="0" rIns="0" tIns="0" bIns="0">
            <a:spAutoFit/>
          </a:bodyPr>
          <a:lstStyle/>
          <a:p>
            <a:r>
              <a:rPr sz="2000" b="1">
                <a:solidFill>
                  <a:srgbClr val="F8FAFC"/>
                </a:solidFill>
                <a:latin typeface="Segoe UI"/>
              </a:rPr>
              <a:t>Scalability Roadmap, Smart City Economics &amp; Vision 2030</a:t>
            </a:r>
          </a:p>
        </p:txBody>
      </p:sp>
      <p:sp>
        <p:nvSpPr>
          <p:cNvPr id="5" name="Rounded Rectangle 4"/>
          <p:cNvSpPr/>
          <p:nvPr/>
        </p:nvSpPr>
        <p:spPr>
          <a:xfrm>
            <a:off x="731520" y="1280160"/>
            <a:ext cx="3474720" cy="292608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17320"/>
            <a:ext cx="3200400" cy="2651760"/>
          </a:xfrm>
          <a:prstGeom prst="rect">
            <a:avLst/>
          </a:prstGeom>
          <a:noFill/>
        </p:spPr>
        <p:txBody>
          <a:bodyPr wrap="square">
            <a:spAutoFit/>
          </a:bodyPr>
          <a:lstStyle/>
          <a:p>
            <a:r>
              <a:rPr sz="1150" b="1">
                <a:solidFill>
                  <a:srgbClr val="38BDF8"/>
                </a:solidFill>
                <a:latin typeface="Segoe UI"/>
              </a:rPr>
              <a:t>Phase 1: Bengaluru Pilot (M1-M6)</a:t>
            </a:r>
          </a:p>
          <a:p>
            <a:r>
              <a:rPr sz="1000" b="0">
                <a:solidFill>
                  <a:srgbClr val="E2E8F0"/>
                </a:solidFill>
                <a:latin typeface="Segoe UI"/>
              </a:rPr>
              <a:t>• 10 Certified Level-1 Trauma Hospitals
• 40 Municipal 108 Emergency Ambulances
• 120 Smart ITMS Traffic Signals (B-TRAC Corridor)
• Silk Board, Indiranagar, MG Road coverage</a:t>
            </a:r>
          </a:p>
        </p:txBody>
      </p:sp>
      <p:sp>
        <p:nvSpPr>
          <p:cNvPr id="7" name="Rounded Rectangle 6"/>
          <p:cNvSpPr/>
          <p:nvPr/>
        </p:nvSpPr>
        <p:spPr>
          <a:xfrm>
            <a:off x="4389120" y="1280160"/>
            <a:ext cx="3474720" cy="292608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417320"/>
            <a:ext cx="3200400" cy="2651760"/>
          </a:xfrm>
          <a:prstGeom prst="rect">
            <a:avLst/>
          </a:prstGeom>
          <a:noFill/>
        </p:spPr>
        <p:txBody>
          <a:bodyPr wrap="square">
            <a:spAutoFit/>
          </a:bodyPr>
          <a:lstStyle/>
          <a:p>
            <a:r>
              <a:rPr sz="1150" b="1">
                <a:solidFill>
                  <a:srgbClr val="F59E0B"/>
                </a:solidFill>
                <a:latin typeface="Segoe UI"/>
              </a:rPr>
              <a:t>Phase 2: Tier-1 Metro Expansion (M7-M18)</a:t>
            </a:r>
          </a:p>
          <a:p>
            <a:r>
              <a:rPr sz="1000" b="0">
                <a:solidFill>
                  <a:srgbClr val="E2E8F0"/>
                </a:solidFill>
                <a:latin typeface="Segoe UI"/>
              </a:rPr>
              <a:t>• Rollout to Mumbai, Delhi-NCR, Hyderabad, Chennai
• Integration with 450+ Trauma Centers &amp; 1,200 Ambulances
• C-V2X V2I protocol integration with Central ITMS
• Target 40% reduction in city-wide ambulance transit time</a:t>
            </a:r>
          </a:p>
        </p:txBody>
      </p:sp>
      <p:sp>
        <p:nvSpPr>
          <p:cNvPr id="9" name="Rounded Rectangle 8"/>
          <p:cNvSpPr/>
          <p:nvPr/>
        </p:nvSpPr>
        <p:spPr>
          <a:xfrm>
            <a:off x="8046720" y="1280160"/>
            <a:ext cx="3474720" cy="292608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417320"/>
            <a:ext cx="3200400" cy="2651760"/>
          </a:xfrm>
          <a:prstGeom prst="rect">
            <a:avLst/>
          </a:prstGeom>
          <a:noFill/>
        </p:spPr>
        <p:txBody>
          <a:bodyPr wrap="square">
            <a:spAutoFit/>
          </a:bodyPr>
          <a:lstStyle/>
          <a:p>
            <a:r>
              <a:rPr sz="1150" b="1">
                <a:solidFill>
                  <a:srgbClr val="10B981"/>
                </a:solidFill>
                <a:latin typeface="Segoe UI"/>
              </a:rPr>
              <a:t>Phase 3: National Highways (M19-M36)</a:t>
            </a:r>
          </a:p>
          <a:p>
            <a:r>
              <a:rPr sz="1000" b="0">
                <a:solidFill>
                  <a:srgbClr val="E2E8F0"/>
                </a:solidFill>
                <a:latin typeface="Segoe UI"/>
              </a:rPr>
              <a:t>• Golden Quadrilateral &amp; NH-44 Expressways
• Toll plaza radar preemption &amp; emergency lane clearance
• State-wide coordination with NHAI and Highway Patrol
• Nationwide rollout under MoRTH &amp; NHA sponsorship</a:t>
            </a:r>
          </a:p>
        </p:txBody>
      </p:sp>
      <p:sp>
        <p:nvSpPr>
          <p:cNvPr id="11" name="Rounded Rectangle 10"/>
          <p:cNvSpPr/>
          <p:nvPr/>
        </p:nvSpPr>
        <p:spPr>
          <a:xfrm>
            <a:off x="731520" y="4389120"/>
            <a:ext cx="10728655" cy="201168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526280"/>
            <a:ext cx="10149840" cy="1737360"/>
          </a:xfrm>
          <a:prstGeom prst="rect">
            <a:avLst/>
          </a:prstGeom>
          <a:noFill/>
        </p:spPr>
        <p:txBody>
          <a:bodyPr wrap="square">
            <a:spAutoFit/>
          </a:bodyPr>
          <a:lstStyle/>
          <a:p>
            <a:r>
              <a:rPr sz="1150" b="1">
                <a:solidFill>
                  <a:srgbClr val="10B981"/>
                </a:solidFill>
                <a:latin typeface="Segoe UI"/>
              </a:rPr>
              <a:t>DEPLOYMENT ECONOMICS &amp; THE 2030 NATIONAL VISION:
</a:t>
            </a:r>
          </a:p>
          <a:p>
            <a:r>
              <a:rPr sz="1050" b="0">
                <a:solidFill>
                  <a:srgbClr val="F8FAFC"/>
                </a:solidFill>
                <a:latin typeface="Segoe UI"/>
              </a:rPr>
              <a:t>By avoiding proprietary road sensors and relying on citizen smartphones, cloud WebRTC relays, and existing NTCIP 1202 municipal traffic signal controllers, Rakshak-AI costs less than ₹14,000 ($170 USD) per intersection to deploy, compared to traditional sensor grids costing ₹8,50,000+ ($10,000 USD) per junction.
Our mission is to eliminate the 40-minute delay barrier nationwide, reclaiming the Golden Hour for every citizen and saving 40,000+ lives each year on Indian roads.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